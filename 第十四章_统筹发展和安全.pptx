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CH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743200"/>
            <a:ext cx="13716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6EAF8"/>
                </a:solidFill>
                <a:latin typeface="Microsoft YaHei"/>
              </a:defRPr>
            </a:pPr>
            <a:r>
              <a:t>统筹发展和安全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DC3E6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第十四章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377440"/>
            <a:ext cx="6217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统筹发展和安全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3383280"/>
            <a:ext cx="18288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657600"/>
            <a:ext cx="6126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Microsoft YaHei"/>
              </a:defRPr>
            </a:pPr>
            <a:r>
              <a:t>- 强化底线思维、防范化解重大风险（居安思危与风险感知）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Microsoft YaHei"/>
              </a:defRPr>
            </a:pPr>
            <a:r>
              <a:t>- 坚持高质量发展和高水平安全良性互动（一体两翼与相得益彰）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Microsoft YaHei"/>
              </a:defRPr>
            </a:pPr>
            <a:r>
              <a:t>- 维护重点领域经济安全（粮食、能源、产业链、金融、数据）</a:t>
            </a:r>
          </a:p>
          <a:p>
            <a:pPr>
              <a:spcAft>
                <a:spcPts val="800"/>
              </a:spcAft>
              <a:defRPr sz="1400">
                <a:solidFill>
                  <a:srgbClr val="6B6B6B"/>
                </a:solidFill>
                <a:latin typeface="Microsoft YaHei"/>
              </a:defRPr>
            </a:pPr>
            <a:r>
              <a:t>- 筑牢国家经济安全屏障与能力建设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本章概览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知识结构与逻辑框架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6118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611880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B3A5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强化底线思维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增强忧患意识、做到居安思危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深刻把握内外部风险挑战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树立极限思维与预警机制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发扬斗争精神反制打压遏制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3A5C"/>
                </a:solidFill>
                <a:latin typeface="Microsoft YaHei"/>
              </a:defRPr>
            </a:pPr>
            <a:r>
              <a:t>「防范重大风险」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371600"/>
            <a:ext cx="36118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4" y="1371600"/>
            <a:ext cx="361188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645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E86C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发展与安全互动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017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治国理政的一个重大原则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发展是安全保障，安全是发展前提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以高质量发展促进高水平安全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以新安全格局保障新发展格局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「良性互动机制」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1371600"/>
            <a:ext cx="36118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8" y="1371600"/>
            <a:ext cx="3611880" cy="109728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645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8C5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377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重点领域安全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0175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扛稳粮食安全与“大食物观”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保障能源安全与“新型能源体系”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产业链供应链稳定与中国光谷案例</a:t>
            </a:r>
          </a:p>
          <a:p>
            <a:pPr>
              <a:spcAft>
                <a:spcPts val="400"/>
              </a:spcAft>
              <a:defRPr sz="1200">
                <a:solidFill>
                  <a:srgbClr val="6B6B6B"/>
                </a:solidFill>
                <a:latin typeface="Microsoft YaHei"/>
              </a:defRPr>
            </a:pPr>
            <a:r>
              <a:t>· 维护金融安全与保障数据安全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937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8C5D"/>
                </a:solidFill>
                <a:latin typeface="Microsoft YaHei"/>
              </a:defRPr>
            </a:pPr>
            <a:r>
              <a:t>「五大重点战线」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核心逻辑：强化忧患底线思维（为什么） → 推进发展与安全深度融合（怎么做） → 筑牢五大重点领域经济安全防线（守哪里）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国泰民安：治国理政的重大原则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普遍愿望与共同课题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最普遍愿望：国泰民安是人民群众最基本、最普遍的愿望。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共同课题：如何处理好发展和安全的关系，是古今中外世界各国面临的共同课题。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重大原则：党的十八大以来，党中央把统筹发展和安全作为治国理政的重大原则之一，纳入经济社会发展全局。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新时代论述与根本遵循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强化底线思维：防范化解重大风险，打好化险为夷主动战。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良性互动：坚持高质量发展和高水平安全良性互动。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重点保障：维护重点领域经济安全，为新时代实现更为安全的发展提供根本遵循。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8C1B"/>
                </a:solidFill>
                <a:latin typeface="Microsoft YaHei"/>
              </a:defRPr>
            </a:pPr>
            <a:r>
              <a:t>统筹发展和安全，是贯穿新时代治国理政全局的重大战略思想与行动指南。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总体国家安全观：以新安全格局保障新发展格局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总体国家安全观的提出与演化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2014年4月：中央国家安全委员会首次会议创造性提出“总体国家安全观”。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核心内涵：发展是安全的基础，安全是发展的条件。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战略部署：党的二十大明确提出“以新安全格局保障新发展格局”。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C84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经济安全的基础性地位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基础支撑：经济安全是国家安全的基础，是总体国家安全观的重要组成部分。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坚守底线：在由大向强的发展进程中，坚决维护国家经济安全，保证经济平稳健康发展。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全局意义：经济安全事关强国建设、民族复兴伟业与人民长远利益。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4B1B"/>
                </a:solidFill>
                <a:latin typeface="Microsoft YaHei"/>
              </a:defRPr>
            </a:pPr>
            <a:r>
              <a:t>经济安全是国家安全的基石；没有经济安全，整体国家安全就失去了物质基础。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6EAF8"/>
                </a:solidFill>
                <a:latin typeface="Microsoft YaHei"/>
              </a:defRPr>
            </a:pPr>
            <a:r>
              <a:t>第一节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强化底线思维、防范化解重大风险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6EAF8"/>
                </a:solidFill>
                <a:latin typeface="Microsoft YaHei"/>
              </a:defRPr>
            </a:pPr>
            <a:r>
              <a:t>居安思危 · 内外部风险挑战 · 极限思维 · 斗争精神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第一节 强化底线思维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增强忧患意识、做到居安思危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中华优秀传统文化基因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思想标识：“君子以思患而豫防之”、“生于忧患而死于安乐”。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治国古训：“凡事预则立，不预则废”、“安而不忘危，存而不忘亡，治而不忘乱”。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备豫不虞：“备豫不虞，为国常道”，越是取得成绩的时候，越要有居安思危的忧患。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党的重大原则与自我革命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历史经验：百年党史得出的重要经验，1945年七大上毛泽东列出“17条困难”。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责任担当：“我们共产党人的忧患意识，就是忧党、忧国、忧民意识，这是一份责任，更是一种担当。”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励精图治：承平时期防腐戒奢，重大变革关头顺应民心，永葆创业初期奋斗状态。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居安思危、防患未然是中华民族的思想瑰宝，也是党保持强大执政能力的内在要求。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第一节 强化底线思维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深刻把握外部环境风险与大变局挑战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C84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国际政治经济环境恶化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百年未有之大变局：加速演变，传统与非传统安全风险相互叠加。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逆全球化思潮：单边主义、保护主义抬头，单边制裁与“长臂管辖”大行其道。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地缘博弈：“小院高墙”、“平行体系”，泛化国家安全概念打压别国科技发展。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科技制高点竞争空前激烈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主战场：科技创新成为国际战略博弈的主战场。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关键不确定性：新一轮科技革命与产业变革最难掌控，抓住了是机遇，抓不住是挑战。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规则博弈：争夺全球治理与国际规则制定主导权的较量十分激烈。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4B1B"/>
                </a:solidFill>
                <a:latin typeface="Microsoft YaHei"/>
              </a:defRPr>
            </a:pPr>
            <a:r>
              <a:t>面对外部环境的复杂性、严峻性与不确定性，必须做最充分的准备，朝好的方向努力。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第一节 强化底线思维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清醒认识国内发展面临的困难与矛盾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发展不平衡不充分突出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矛盾转化：短缺经济已根本解决，发展不平衡不充分成为满足美好生活需要的主要制约。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三期交织：正处于转变发展方式、优化结构、转换动力的攻关期，结构性、体制性、周期性问题叠加。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社会矛盾凸显：社会结构、观念深刻变化，利益关系协调难度加大。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重点领域风险叠加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多点承压：粮食安全、能源安全、产业链供应链安全、金融安全、数据安全压力增加。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防范中断：重大风险若扛不住，国家安全面临重大威胁，现代化进程可能被迫中断。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辩证认知：“发展起来后出现的问题并不比发展起来前少，甚至更多更复杂了。”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8C1B"/>
                </a:solidFill>
                <a:latin typeface="Microsoft YaHei"/>
              </a:defRPr>
            </a:pPr>
            <a:r>
              <a:t>防范化解重大风险，是确保中华民族伟大复兴进程不被迟滞或中断的战略底线。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第一节 强化底线思维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提高防范风险能力（一）：大局观念与底线思维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增强大局观念与世界眼光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五个“不会改变”：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  1. 世界多极化向前推进态势不会变；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  2. 经济全球化进程不会变；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  3. 和平发展合作共赢时代潮流不会变；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  4. 国际体系变革方向不会变；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  5. 世界总体繁荣稳定态势不会变。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树立底线思维与极限思维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重点防控：重点防控可能迟滞或中断民族复兴进程的全局性风险。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备足预案：把困难估计得更充分，把风险思考得更深入，注重堵漏洞、强弱项。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争取最好结果：从最坏处着眼，做最充分准备，下好先手棋，打好主动仗。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战略定力与底线思维相辅相成：既要看清长远大势，又要严防全局性重大风险。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第一节 强化底线思维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提高防范风险能力（二）：机制建设与斗争精神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完善风险防控机制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动态监测：提高动态监测与实时预警能力，科学化、精细化推进风险防控。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源头化解：对风险原因心中有数，综合施策，出手及时有力，化解于源头。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动态平衡：平衡好稳增长与防风险的关系，把握好政策节奏与力度。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C84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发扬斗争精神反制打压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顽强意志：面对西方单方打压遏制坚决反制，统筹国内经济与国际经贸斗争。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策略灵活：立场特别坚定，方向特别清醒，及时调整策略，团结一切力量。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坦然应对：“不畏浮云遮望眼”，“乱云飞渡仍从容”。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4B1B"/>
                </a:solidFill>
                <a:latin typeface="Microsoft YaHei"/>
              </a:defRPr>
            </a:pPr>
            <a:r>
              <a:t>以科学的预警机制消未病，以坚定的斗争精神反制外部遏制，确保经济安全。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6EAF8"/>
                </a:solidFill>
                <a:latin typeface="Microsoft YaHei"/>
              </a:defRPr>
            </a:pPr>
            <a:r>
              <a:t>第二节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坚持高质量发展和高水平安全良性互动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6EAF8"/>
                </a:solidFill>
                <a:latin typeface="Microsoft YaHei"/>
              </a:defRPr>
            </a:pPr>
            <a:r>
              <a:t>治国理政重大原则 · 一体之两翼 · 相得益彰 · 深度融合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第二节 发展与安全良性互动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发展与安全的辩证关系：“一体之两翼”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发展与安全的本质功能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发展的核心：解决动力问题，是推动国家和民族持续绵延的根本支撑。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安全的核心：解决保障问题，是确保国家和民族行稳致远的坚强柱石。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古训启示：“国虽大，好战必亡；天下虽安，忘战必危。”（《司马法》）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“一体之两翼、驱动之双轮”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互为前提：“安全是发展的前提，发展是安全的保障，安全和发展要同步推进。”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存亡与共：发展和安全犹如一枚硬币的两面，紧密相关、缺一不可。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战略方向：既善于用发展成果夯实安全实力，又善于用安全环境保障经济发展。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8C1B"/>
                </a:solidFill>
                <a:latin typeface="Microsoft YaHei"/>
              </a:defRPr>
            </a:pPr>
            <a:r>
              <a:t>发展和安全任何时候都必须紧紧抓在手上，任何时候都不能偏废。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第二节 发展与安全良性互动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党对发展和安全关系规律性认识的历史演进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革命与建设时期的探索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毛泽东：开展经济战线工作，为革命战争提供物质基础。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邓小平：“解决所有问题的关键靠发展”，“国家主权和安全始终放在第一位”。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江泽民：从宏观全局战略高度分析经济可能遇到的风险。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胡锦涛：把安全发展作为重要理念纳入现代化建设总体战略。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新时代总体国家安全观的飞跃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2017十九大：将“统筹发展和安全”确立为治国理政重大原则。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2020十九届五中全会：纳入“十四五”时期经济社会发展指导思想。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2022二十大：提出“以新安全格局保障新发展格局”，推动发展和安全深度融合。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新时代总体国家安全观，实现了发展和安全理论与实践的重大飞变与升华。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第二节 发展与安全良性互动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坚持以高质量发展促进高水平安全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办好自己的事，增强综合国力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关键支撑：破解突出矛盾、防范化解各类风险归根到底靠发展。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实力基础：只有在发展中提高综合国力，才能更好维护国家安全。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把握首要任务：牢牢把握高质量发展首要任务，贯彻新发展理念，推动质的有效提升和量的合理增长。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构建新发展格局，增强稳定性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根基所在：加快构建以国内大循环为主体、国内国际双循环相互促进的新发展格局。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提升“四力”：增强我国在狂风暴雨、惊涛骇浪中的生存力、竞争力、发展力、持续力。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萌芽处置：把安全因素融入发展各领域，将风险隐患处置于萌芽状态。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8C5D"/>
                </a:solidFill>
                <a:latin typeface="Microsoft YaHei"/>
              </a:defRPr>
            </a:pPr>
            <a:r>
              <a:t>只有不断壮大国家综合实力，才能在国际风浪中做到“任凭风浪起，稳坐钓鱼台”。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第二节 发展与安全良性互动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坚持以高水平安全保障高质量发展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行稳致远的基础屏障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坚实底座：“国家安全是中国式现代化行稳致远的重要基础”，安全不牢，大厦地动山摇。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以新安全保障新发展：以新安全格局保障新发展格局，推动发展和安全深度融合。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人民至上：把改善人民生活作为处理改革发展稳定关系结合点，筑牢安全屏障。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推进安全体系与能力现代化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补短板强弱项：构建全域联动、立体高效的国家安全防护体系。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突出实战导向：加强重点领域安全能力建设，推进科技赋能，筑牢人民防线。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成果体现：发展的安全性主动权不断提升，回旋余地更大，走出安全高效发展之路。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高水平安全为高质量发展提供稳定环境与坚实保障，两者相得益彰。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6EAF8"/>
                </a:solidFill>
                <a:latin typeface="Microsoft YaHei"/>
              </a:defRPr>
            </a:pPr>
            <a:r>
              <a:t>第三节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维护重点领域经济安全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6EAF8"/>
                </a:solidFill>
                <a:latin typeface="Microsoft YaHei"/>
              </a:defRPr>
            </a:pPr>
            <a:r>
              <a:t>粮食安全 · 能源安全 · 产业链供应链 · 金融安全 · 数据安全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扛稳粮食安全重任：把饭碗牢牢端在自己手中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“食为政首”与国家战略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治国头等大事：“洪范八政，食为政首”，解决好十几亿人的吃饭问题是头等大事。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紧平衡态势：虽连年丰收，但中长期看粮食供求仍维持紧平衡，时刻不能放松。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国家粮食安全战略：实施“以我为主、立足国内、确保产能、适度进口、科技支撑”战略。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底线指标：谷物基本自给、口粮绝对安全。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抓耕地和种子两个要害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守住耕地红线：坚决守住 18 亿亩耕地红线，遏制“非农化”、防止“非粮化”。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建设高标准农田：逐步把永久基本农田全部建成高标准农田。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打赢种业翻身仗：抓好种业振兴行动，把当家品种牢牢攥在自己手里。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全链条减损：树立“节约减损就是增产”理念，制止“舌尖上的浪费”。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8C5D"/>
                </a:solidFill>
                <a:latin typeface="Microsoft YaHei"/>
              </a:defRPr>
            </a:pPr>
            <a:r>
              <a:t>耕地是粮食生产的命根子，种子是农业的“芯片”，必须狠抓两个要害。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知识链接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树立“大食物观”：构建多元化食物供给体系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“大食物观”的思想渊源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1988年提出：习近平在闽东工作时前瞻性提出大食物观，抓大农业，促进农林牧副渔全面发展。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丰富内涵：“吃饭”不仅是吃粮食，肉、旦、禽、奶、鱼、果、菌、茶都是食物。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适应结构变化：顺应人民群众食物消费结构升级趋势，保障各类食物有效供给。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拓展国土资源与生物资源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向广袤资源要食物：我国有40多亿亩林地、近40亿亩草地及丰富江河湖海。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耕海牧场：向耕地以外拓展，“耕海牧渔，建设海上牧场、蓝色粮仓”。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向生物技术要蛋白：向植物动物微生物要热量、要蛋白，多途径开发食物来源。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8C5D"/>
                </a:solidFill>
                <a:latin typeface="Microsoft YaHei"/>
              </a:defRPr>
            </a:pPr>
            <a:r>
              <a:t>大食物观打开了保障粮食安全的新思路，从单一耕地拓展至全域国土与生物资源。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保障国家能源安全：“四个革命、一个合作”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能源安全的全局战略意义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国家安全优先领域：“谁掌握了能源，谁就掌握了发展空间”。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战略抓手：能源问题是国际地缘政治核心，抓住能源就抓住了国家发展安全的牛鼻子。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新战略：习近平提出“消费革命、供给革命、技术革命、体制革命和全方位国际合作”。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“四个革命、一个合作”具体举措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消费革命：节能优先，建设能源节约型社会。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供给革命：立足化石能源清洁利用，优先发展可再生能源，安全有序发展核电。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技术革命：科技自立自强，智慧能源与数字技术融合。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体制革命：推进市场化改革，还原商品属性。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国际合作：共建“一带一路”绿色能源互联互通。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“四个革命、一个合作”新战略开辟了中国特色能源发展与安全新道路。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知识链接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建设“新型能源体系”的五大核心特征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10908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新型能源体系特征解析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090879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1. 新的能源结构：非化石能源逐步替代化石能源，成为我国能源消费的主体能源。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2. 新的系统形态：新型电力系统、氢能“制储输用”体系及低碳零碳利用加速涌现。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3. 新的产业体系：以高水平科技自立自强加快形成能源领域的新质生产力。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4. 弹性韧性的供应链：有力保障极端天气等各类极限条件下的用能安全。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5. 新的治理体系：推动各种要素资源实现灵活高效配置，形成统一开放市场。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8C5D"/>
                </a:solidFill>
                <a:latin typeface="Microsoft YaHei"/>
              </a:defRPr>
            </a:pPr>
            <a:r>
              <a:t>新型能源体系是推动绿色低碳转型与保障国家用能安全的根本载体。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确保产业链供应链稳定安全：锻长板与补短板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关键时刻不能掉链子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大国特征：“产业链、供应链在关键时刻不能掉链子，这是大国经济必须具备的重要特征。”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自主可控：提升产业链韧性与安全水平，保证产业体系自主可控、安全可靠。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锻造长板：巩固高铁、电力装备、新能源、通信设备等全产业链国际领先地位，打造“杀手锏”技术。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C84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补齐短板与产业备份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攻克卡脖子：全链条推进集成电路、工业母机、基础软件、高级材料等攻关。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备足替代源：力争重要产品和供应渠道至少有一个替代来源，确保关键矿产安全。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产业备份系统：形成必要的产业备份系统，确保极端情况下国内经济循环正常运转。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4B1B"/>
                </a:solidFill>
                <a:latin typeface="Microsoft YaHei"/>
              </a:defRPr>
            </a:pPr>
            <a:r>
              <a:t>坚持“锻长板”与“补短板”并行，确保极端条件下我国产业体系不瘫痪、不停摆。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中国光谷：大力开展“卡脖子”核心技术攻坚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发展历程与聚“光”成“链”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历史积累：1988年成立，2001年获批建设“中国光谷”，跻身世界一流高科技园区。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核心嘱托：习近平先后四次考察中国光谷，勉励掌握更多自主知识产权核心技术。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跨越突破：聚“光”成“链”、集“链”成“群”，实现光电子信息产业全面崛起。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攻坚成果与“光谷经验”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全产业链覆盖：形成覆盖光电子信息核心领域的完整产业链。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龙头集聚：聚集8家百亿级制造龙头、18家单项冠军、151家“小巨人”、5700家高企。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全国占比：光谷光电子产业规模占全国 50%，为打赢关键核心技术攻坚战提供坚实支撑。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中国光谷是科技自立自强与产业链自主可控的生动实践典范。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维护国家金融安全：守住不发生系统性风险底线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金融安全的战略性地位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国家兴衰金融有责：“金融安全是经济平稳健康发展的重要基础，是大国崛起的关键支撑。”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风险特征：链条长、信息不对称、隐蔽性、突发性、传染性极强。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防范重点：重点防范化解不良资产、流动性、股市债市、房地产及地方债务风险。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C84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预防为先与开放安全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根本任务：“防范化解金融风险，特别是防止发生系统性金融风险，是金融工作的根本任务。”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早识别早预警：坚持预防为先、早发现早处置，避免集中的“大震”。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开放条件安全：以高水平风险防控保障高水平金融开放，防范博弈对手蓄意制造风险。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4B1B"/>
                </a:solidFill>
                <a:latin typeface="Microsoft YaHei"/>
              </a:defRPr>
            </a:pPr>
            <a:r>
              <a:t>守住不发生系统性金融风险的底线，确保国家经济大局稳定与现代化进程不受重挫。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切实保障国家数据安全：新型生产要素治理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数据要素战略价值与安全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新型生产要素：数字经济是国际竞争焦点，数据是数字化、智能化基础。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根本命题：“数据安全已成为事关国家安全与经济社会发展的重大问题，没有数据安全就没有国家安全。”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贯穿全过程：把安全贯穿数据收集、存储、流通、使用、交易全过程。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构建三大数据治理制度体系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1. 数据产权制度：分类分级确权授权使用，形成中国特色产权体系；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2. 流通交易制度：场内场外结合，构建可信跨境流通体系；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3. 要素治理制度：政府、企业、社会多方协同，形成有效市场与有为政府结合。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完善数据安全治理，是在数字经济浪潮中夺取国际竞争新优势的关键防线。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第三节 重点领域经济安全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筑牢重要基础设施与全域国家经济安全屏障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重要基础设施安全保障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基础设施生命线：水利、电力、供水、油气、交通、通信、网络等基础设施安全。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生态与核安全：提高水资源集约利用水平，确保生态安全，加强核安全监管。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新兴领域安全：保障深海、极地、外空、网络等新型领域安全。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502920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海外利益与综合能力建设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海外利益保障：随着中国企业与资本“走出去”，切实保障我国海外利益安全。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一体推进：将高质量发展和高水平安全共同谋划、一体部署、一体推进。</a:t>
            </a:r>
          </a:p>
          <a:p>
            <a:pPr>
              <a:spcAft>
                <a:spcPts val="600"/>
              </a:spcAft>
              <a:defRPr sz="1300">
                <a:solidFill>
                  <a:srgbClr val="2C2C2C"/>
                </a:solidFill>
                <a:latin typeface="Microsoft YaHei"/>
              </a:defRPr>
            </a:pPr>
            <a:r>
              <a:t>· 最终归宿：不断健全国家经济安全保障体系，筑牢国家经济发展的坚实安全屏障。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8C5D"/>
                </a:solidFill>
                <a:latin typeface="Microsoft YaHei"/>
              </a:defRPr>
            </a:pPr>
            <a:r>
              <a:t>构建覆盖传统与非传统领域的全域国家安全防护体系，为民族复兴保驾护航。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第十四章核心知识点回顾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822960" cy="10789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9903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5C"/>
                </a:solidFill>
                <a:latin typeface="Microsoft YaHei"/>
              </a:defRPr>
            </a:pPr>
            <a:r>
              <a:t>强化底线思维防范风险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80744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面对百年未有之大变局与国内发展矛盾交织，增强忧患意识居安思危；树立极限思维与预警机制，发扬斗争精神反制外部打压遏制。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7"/>
            <a:ext cx="1124712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32887"/>
            <a:ext cx="822960" cy="10789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07207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06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5C"/>
                </a:solidFill>
                <a:latin typeface="Microsoft YaHei"/>
              </a:defRPr>
            </a:pPr>
            <a:r>
              <a:t>发展与安全良性互动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587751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发展是安全保障，安全是发展前提；发展与安全是“一体之两翼、驱动之双轮”；以高质量发展促进高水平安全，以新安全格局保障新发展格局。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39896"/>
            <a:ext cx="1124712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39896"/>
            <a:ext cx="822960" cy="1078992"/>
          </a:xfrm>
          <a:prstGeom prst="rect">
            <a:avLst/>
          </a:prstGeom>
          <a:solidFill>
            <a:srgbClr val="1A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14215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1304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5C"/>
                </a:solidFill>
                <a:latin typeface="Microsoft YaHei"/>
              </a:defRPr>
            </a:pPr>
            <a:r>
              <a:t>五大重点领域经济安全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94759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扛稳粮食安全重任（大食物观）；保障国家能源安全（新型能源体系）；确保产业链供应链安全（中国光谷卡脖子攻坚）；维护金融与数据安全。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46903"/>
            <a:ext cx="11247120" cy="1078992"/>
          </a:xfrm>
          <a:prstGeom prst="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46903"/>
            <a:ext cx="822960" cy="1078992"/>
          </a:xfrm>
          <a:prstGeom prst="rect">
            <a:avLst/>
          </a:prstGeom>
          <a:solidFill>
            <a:srgbClr val="C88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21223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20055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3A5C"/>
                </a:solidFill>
                <a:latin typeface="Microsoft YaHei"/>
              </a:defRPr>
            </a:pPr>
            <a:r>
              <a:t>全域安全与屏障建设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01767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统筹水利、电力、交通、网络等基础设施安全，保障生态、核及新兴领域安全，维护海外利益安全，筑牢高质量发展的安全屏障。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8C1B"/>
                </a:solidFill>
                <a:latin typeface="Microsoft YaHei"/>
              </a:defRPr>
            </a:pPr>
            <a:r>
              <a:t>总结：统筹发展和安全是治国理政的重大原则，坚决守住不发生系统性风险底线，推动中国式现代化行稳致远。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C1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Microsoft YaHei"/>
              </a:defRPr>
            </a:pPr>
            <a:r>
              <a:t>第十四章 练习题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  <a:latin typeface="Microsoft YaHei"/>
              </a:defRPr>
            </a:pPr>
            <a:r>
              <a:t>习近平经济思想学习纲要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6B6B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1. 为什么说“增强忧患意识、做到居安思危”是党治国理政必须始终坚持的重大原则？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2. 结合当前国际国内环境，分析我国经济发展面临的内外部重大风险挑战。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3. 什么是底线思维与极限思维？防范化解经济金融风险需要具备哪些能力？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4. 如何理解“安全是发展的前提，发展是安全的保障”及“一体之两翼、驱动之双轮”？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5. 试阐述党对发展和安全关系规律性认识的历史演进过程。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6. 如何坚持以高质量发展促进高水平安全？构建新发展格局有何战略意义？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7. 为什么说“国家安全是中国式现代化行稳致远的重要基础”？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8. 如何理解“以新安全格局保障新发展格局”的深刻逻辑？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258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9. 我国国家粮食安全战略的核心内容是什么？为什么要守住 18 亿亩耕地红线？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10. 什么是“大食物观”？树立大食物观对构建多元化食物供给体系有何意义？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14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11. 简述我国能源安全“四个革命、一个合作”新战略的具体内容。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089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12. 新型能源体系具备哪些突出特征？如何加快建设新型能源体系？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033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13. 什么是产业链供应链的“锻长板”与“补短板”？如何构建产业备份系统？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2976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14. 结合“中国光谷”案例，谈谈如何开展“卡脖子”核心技术攻坚。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8920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15. 为什么说防范化解系统性金融风险是金融工作的根本任务？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4864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2C2C"/>
                </a:solidFill>
                <a:latin typeface="Microsoft YaHei"/>
              </a:defRPr>
            </a:pPr>
            <a:r>
              <a:t>16. 数据作为新型生产要素，如何建立健全数据产权、流通与治理制度？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