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0362895" cy="13716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6A4F"/>
                </a:solidFill>
                <a:latin typeface="微软雅黑"/>
              </a:defRPr>
            </a:pPr>
            <a:r>
              <a:t>产业经济学 · 核心教材精讲</a:t>
            </a:r>
          </a:p>
          <a:p>
            <a:pPr>
              <a:spcBef>
                <a:spcPts val="1000"/>
              </a:spcBef>
              <a:defRPr sz="3000" b="1">
                <a:solidFill>
                  <a:srgbClr val="1B4965"/>
                </a:solidFill>
                <a:latin typeface="微软雅黑"/>
              </a:defRPr>
            </a:pPr>
            <a:r>
              <a:t>第八章  非价格行为：进入与退出</a:t>
            </a:r>
          </a:p>
          <a:p>
            <a:pPr>
              <a:spcBef>
                <a:spcPts val="1500"/>
              </a:spcBef>
              <a:defRPr sz="1800" b="1">
                <a:solidFill>
                  <a:srgbClr val="C58A21"/>
                </a:solidFill>
                <a:latin typeface="微软雅黑"/>
              </a:defRPr>
            </a:pPr>
            <a:r>
              <a:t>【核心主线】：防范潜在竞争者、策略性封锁与维持持久市场势力</a:t>
            </a:r>
          </a:p>
          <a:p>
            <a:pPr>
              <a:spcBef>
                <a:spcPts val="2500"/>
              </a:spcBef>
              <a:defRPr sz="1400">
                <a:solidFill>
                  <a:srgbClr val="64748B"/>
                </a:solidFill>
                <a:latin typeface="宋体"/>
              </a:defRPr>
            </a:pPr>
            <a:r>
              <a:t>教材依据：刘志彪《产业经济学》（第3版·高等教育/机械工业出版社）</a:t>
            </a:r>
            <a:br/>
            <a:r>
              <a:t>制作风格：自然清新 · 排版高尚大气 · 浅色系精品课件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第八章  非价格行为：进入与退出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本章目录与市场势力（Market Power）主线映射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2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4134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3413455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30476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第一节 进入与退出模式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核心内容：</a:t>
            </a:r>
            <a:r>
              <a:rPr sz="1250">
                <a:solidFill>
                  <a:srgbClr val="1E293B"/>
                </a:solidFill>
                <a:latin typeface="宋体"/>
              </a:rPr>
              <a:t>新建进入与并购进入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主线映射：</a:t>
            </a:r>
            <a:r>
              <a:rPr sz="1250">
                <a:solidFill>
                  <a:srgbClr val="1E293B"/>
                </a:solidFill>
                <a:latin typeface="宋体"/>
              </a:rPr>
              <a:t>进入壁垒是维持长久市场势力的关键。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4134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554480"/>
            <a:ext cx="3413455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737360"/>
            <a:ext cx="30476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第二节 策略性进入壁垒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核心内容：</a:t>
            </a:r>
            <a:r>
              <a:rPr sz="1250">
                <a:solidFill>
                  <a:srgbClr val="1E293B"/>
                </a:solidFill>
                <a:latin typeface="宋体"/>
              </a:rPr>
              <a:t>限制定价、产能投资与掠夺定价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主线映射：</a:t>
            </a:r>
            <a:r>
              <a:rPr sz="1250">
                <a:solidFill>
                  <a:srgbClr val="1E293B"/>
                </a:solidFill>
                <a:latin typeface="宋体"/>
              </a:rPr>
              <a:t>在先企业主动行使策略阻碍潜在竞争。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4134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554480"/>
            <a:ext cx="3413455" cy="73152"/>
          </a:xfrm>
          <a:prstGeom prst="rect">
            <a:avLst/>
          </a:prstGeom>
          <a:solidFill>
            <a:srgbClr val="C58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737360"/>
            <a:ext cx="30476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58A21"/>
                </a:solidFill>
                <a:latin typeface="微软雅黑"/>
              </a:defRPr>
            </a:pPr>
            <a:r>
              <a:t>第三节 可竞争市场与退出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核心内容：</a:t>
            </a:r>
            <a:r>
              <a:rPr sz="1250">
                <a:solidFill>
                  <a:srgbClr val="1E293B"/>
                </a:solidFill>
                <a:latin typeface="宋体"/>
              </a:rPr>
              <a:t>沉没成本与可竞争市场理论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主线映射：</a:t>
            </a:r>
            <a:r>
              <a:rPr sz="1250">
                <a:solidFill>
                  <a:srgbClr val="1E293B"/>
                </a:solidFill>
                <a:latin typeface="宋体"/>
              </a:rPr>
              <a:t>零沉没成本下潜在进入将彻底消解市场势力。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第八章  非价格行为：进入与退出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第一节 企业的进入与退出模式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3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企业进入市场的形式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新建进入 (Greenfield Entry)：</a:t>
            </a:r>
            <a:r>
              <a:rPr sz="1250">
                <a:solidFill>
                  <a:srgbClr val="1E293B"/>
                </a:solidFill>
                <a:latin typeface="宋体"/>
              </a:rPr>
              <a:t>全新建立企业或新建厂房注入新产能。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并购进入 (Acquisition Entry)：</a:t>
            </a:r>
            <a:r>
              <a:rPr sz="1250">
                <a:solidFill>
                  <a:srgbClr val="1E293B"/>
                </a:solidFill>
                <a:latin typeface="宋体"/>
              </a:rPr>
              <a:t>通过收购已有企业控制股权切入市场（不增加总产能）。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结构性壁垒 vs 策略性壁垒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结构性壁垒 (Structural Barriers)：</a:t>
            </a:r>
            <a:r>
              <a:rPr sz="1250">
                <a:solidFill>
                  <a:srgbClr val="1E293B"/>
                </a:solidFill>
                <a:latin typeface="宋体"/>
              </a:rPr>
              <a:t>由技术、规模经济、天然资源决定的客观壁垒。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策略性壁垒 (Strategic Barriers)：</a:t>
            </a:r>
            <a:r>
              <a:rPr sz="1250">
                <a:solidFill>
                  <a:srgbClr val="1E293B"/>
                </a:solidFill>
                <a:latin typeface="宋体"/>
              </a:rPr>
              <a:t>在先企业人为采取策略投资主动树立的进入阻碍。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第八章  非价格行为：进入与退出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第二节 经典 Bain 限界价格模型 (Limit Pricing)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4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限界价格模型机制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假定前提：</a:t>
            </a:r>
            <a:r>
              <a:rPr sz="1250">
                <a:solidFill>
                  <a:srgbClr val="1E293B"/>
                </a:solidFill>
                <a:latin typeface="宋体"/>
              </a:rPr>
              <a:t>在先垄断者具备成本优势，且潜在进入者相信垄断者在进入后保持产量不变（Sylos 假定）。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策略操作：</a:t>
            </a:r>
            <a:r>
              <a:rPr sz="1250">
                <a:solidFill>
                  <a:srgbClr val="1E293B"/>
                </a:solidFill>
                <a:latin typeface="宋体"/>
              </a:rPr>
              <a:t>垄断者定出一个低于短期垄断高价的价格 PL，使得进入者进入后无利可图。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C58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58A21"/>
                </a:solidFill>
                <a:latin typeface="微软雅黑"/>
              </a:defRPr>
            </a:pPr>
            <a:r>
              <a:t>2. 模型局限与动态不可可行性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不可信威胁：</a:t>
            </a:r>
            <a:r>
              <a:rPr sz="1250">
                <a:solidFill>
                  <a:srgbClr val="1E293B"/>
                </a:solidFill>
                <a:latin typeface="宋体"/>
              </a:rPr>
              <a:t>一旦进入者真的进入，垄断者的最优反应是缩减产量而非保持高产降价，因此限界价格不可信。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第八章  非价格行为：进入与退出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不完全信息下的信号传递极限定价模型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5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极限定价与信号传递 (Milgrom-Roberts)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信息不对称：</a:t>
            </a:r>
            <a:r>
              <a:rPr sz="1250">
                <a:solidFill>
                  <a:srgbClr val="1E293B"/>
                </a:solidFill>
                <a:latin typeface="宋体"/>
              </a:rPr>
              <a:t>潜在进入者不知道在先企业的真实生产成本（高成本还是低成本）。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低价作为信号：</a:t>
            </a:r>
            <a:r>
              <a:rPr sz="1250">
                <a:solidFill>
                  <a:srgbClr val="1E293B"/>
                </a:solidFill>
                <a:latin typeface="宋体"/>
              </a:rPr>
              <a:t>低成本垄断者故意定出极低价格，向市场传递“自己成本极低、进入必死”的信号。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C58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58A21"/>
                </a:solidFill>
                <a:latin typeface="微软雅黑"/>
              </a:defRPr>
            </a:pPr>
            <a:r>
              <a:t>2. 阻止进入均衡 (Separating Equilibrium)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结果：</a:t>
            </a:r>
            <a:r>
              <a:rPr sz="1250">
                <a:solidFill>
                  <a:srgbClr val="1E293B"/>
                </a:solidFill>
                <a:latin typeface="宋体"/>
              </a:rPr>
              <a:t>高成本垄断者无法模仿低成本价格，成功阻碍了潜在进入。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第八章  非价格行为：进入与退出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第二节 策略性产能投资（Dixit 产能承诺模型）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6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迪克西特 (Dixit, 1980) 产能承诺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不可撤销性：</a:t>
            </a:r>
            <a:r>
              <a:rPr sz="1250">
                <a:solidFill>
                  <a:srgbClr val="1E293B"/>
                </a:solidFill>
                <a:latin typeface="宋体"/>
              </a:rPr>
              <a:t>在先企业提前建设过剩产能，投资成本沉没。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改变博弈姿态：</a:t>
            </a:r>
            <a:r>
              <a:rPr sz="1250">
                <a:solidFill>
                  <a:srgbClr val="1E293B"/>
                </a:solidFill>
                <a:latin typeface="宋体"/>
              </a:rPr>
              <a:t>过度产能使得进入发生后，垄断者的边际成本极低，打价格战变得可信！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C58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58A21"/>
                </a:solidFill>
                <a:latin typeface="微软雅黑"/>
              </a:defRPr>
            </a:pPr>
            <a:r>
              <a:t>2. 策略性承诺 (Strategic Commitment)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核心启示：</a:t>
            </a:r>
            <a:r>
              <a:rPr sz="1250">
                <a:solidFill>
                  <a:srgbClr val="1E293B"/>
                </a:solidFill>
                <a:latin typeface="宋体"/>
              </a:rPr>
              <a:t>通过沉没资本锁定自身未来策略，成功将不可信威慑转变为可信威慑！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第八章  非价格行为：进入与退出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第二节 掠夺性定价 (Predatory Pricing)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7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掠夺性定价机制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两阶段策略：</a:t>
            </a:r>
            <a:r>
              <a:rPr sz="1250">
                <a:solidFill>
                  <a:srgbClr val="1E293B"/>
                </a:solidFill>
                <a:latin typeface="宋体"/>
              </a:rPr>
              <a:t>第一阶段定出低于边际成本的极低价，将对手挤出市场；第二阶段升价恢复垄断。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深口袋理论 (Deep Pockets)：</a:t>
            </a:r>
            <a:r>
              <a:rPr sz="1250">
                <a:solidFill>
                  <a:srgbClr val="1E293B"/>
                </a:solidFill>
                <a:latin typeface="宋体"/>
              </a:rPr>
              <a:t>老牌巨头资金雄厚，能在价格亏损战中耗死资本薄弱的新企。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芝加哥学派质疑与反驳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质疑：</a:t>
            </a:r>
            <a:r>
              <a:rPr sz="1250">
                <a:solidFill>
                  <a:srgbClr val="1E293B"/>
                </a:solidFill>
                <a:latin typeface="宋体"/>
              </a:rPr>
              <a:t>短期亏损太大且升价后可能引发新一轮进入。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现代反驳：</a:t>
            </a:r>
            <a:r>
              <a:rPr sz="1250">
                <a:solidFill>
                  <a:srgbClr val="1E293B"/>
                </a:solidFill>
                <a:latin typeface="宋体"/>
              </a:rPr>
              <a:t>建立“恶名声誉”（Reputation Effect），一次打惨，永远威慑其他对手。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第八章  非价格行为：进入与退出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第三节 沉没成本与可竞争市场理论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8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鲍莫尔（Baumol et al., 1982）可竞争市场理论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自由进出 (Free Entry &amp; Exit)：</a:t>
            </a:r>
            <a:r>
              <a:rPr sz="1250">
                <a:solidFill>
                  <a:srgbClr val="1E293B"/>
                </a:solidFill>
                <a:latin typeface="宋体"/>
              </a:rPr>
              <a:t>不存在进入与退出壁垒，特别是沉没成本为零。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打了一枪就跑 (Hit-and-Run Entry)：</a:t>
            </a:r>
            <a:r>
              <a:rPr sz="1250">
                <a:solidFill>
                  <a:srgbClr val="1E293B"/>
                </a:solidFill>
                <a:latin typeface="宋体"/>
              </a:rPr>
              <a:t>一旦垄断者定出高于 AC 的价格，外部企业秒进抢钱并迅速撤离。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C58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58A21"/>
                </a:solidFill>
                <a:latin typeface="微软雅黑"/>
              </a:defRPr>
            </a:pPr>
            <a:r>
              <a:t>2. 市场势力的消解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惊人结论：</a:t>
            </a:r>
            <a:r>
              <a:rPr sz="1250">
                <a:solidFill>
                  <a:srgbClr val="1E293B"/>
                </a:solidFill>
                <a:latin typeface="宋体"/>
              </a:rPr>
              <a:t>在完全可竞争市场中，即使只有一家企业，其市场势力也被降为零 (P = AC)！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第八章  非价格行为：进入与退出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策略性退出壁垒与反向威慑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9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退出壁垒的来源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沉没资产：</a:t>
            </a:r>
            <a:r>
              <a:rPr sz="1250">
                <a:solidFill>
                  <a:srgbClr val="1E293B"/>
                </a:solidFill>
                <a:latin typeface="宋体"/>
              </a:rPr>
              <a:t>高度专用性的厂房、遣散费、长期租赁契约。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解雇限制：</a:t>
            </a:r>
            <a:r>
              <a:rPr sz="1250">
                <a:solidFill>
                  <a:srgbClr val="1E293B"/>
                </a:solidFill>
                <a:latin typeface="宋体"/>
              </a:rPr>
              <a:t>法律与工会规定的巨额退场补偿。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退出壁垒对进入的反向影响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理性预期：</a:t>
            </a:r>
            <a:r>
              <a:rPr sz="1250">
                <a:solidFill>
                  <a:srgbClr val="1E293B"/>
                </a:solidFill>
                <a:latin typeface="宋体"/>
              </a:rPr>
              <a:t>由于退出成本高，企业知道一旦失败将无法脱身，因而不敢轻易进入。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第八章  非价格行为：进入与退出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平台经济中的网络效应锁定与生态进入壁垒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10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双边平台网络效应与转换成本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平台锁定：</a:t>
            </a:r>
            <a:r>
              <a:rPr sz="1250">
                <a:solidFill>
                  <a:srgbClr val="1E293B"/>
                </a:solidFill>
                <a:latin typeface="宋体"/>
              </a:rPr>
              <a:t>用户社交关系链（微信）或商家积累的评价数据（淘宝）难以迁移。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天然防御：</a:t>
            </a:r>
            <a:r>
              <a:rPr sz="1250">
                <a:solidFill>
                  <a:srgbClr val="1E293B"/>
                </a:solidFill>
                <a:latin typeface="宋体"/>
              </a:rPr>
              <a:t>即使新平台功能更好，由于缺乏用户规模也无法进入。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C58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58A21"/>
                </a:solidFill>
                <a:latin typeface="微软雅黑"/>
              </a:defRPr>
            </a:pPr>
            <a:r>
              <a:t>2. “二选一”协议的进入封锁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排他性封锁：</a:t>
            </a:r>
            <a:r>
              <a:rPr sz="1250">
                <a:solidFill>
                  <a:srgbClr val="1E293B"/>
                </a:solidFill>
                <a:latin typeface="宋体"/>
              </a:rPr>
              <a:t>强制商家不得在竞争平台开店，剥夺新平台的供给侧资源。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第八章  非价格行为：进入与退出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中国网约车与共享单车掠夺性补贴案例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11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滴滴与快智（滴滴快的）早期补贴大战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资本烧钱战：</a:t>
            </a:r>
            <a:r>
              <a:rPr sz="1250">
                <a:solidFill>
                  <a:srgbClr val="1E293B"/>
                </a:solidFill>
                <a:latin typeface="宋体"/>
              </a:rPr>
              <a:t>通过天价打车补贴培育用户习惯并挤垮其他小平台。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合并垄断：</a:t>
            </a:r>
            <a:r>
              <a:rPr sz="1250">
                <a:solidFill>
                  <a:srgbClr val="1E293B"/>
                </a:solidFill>
                <a:latin typeface="宋体"/>
              </a:rPr>
              <a:t>两巨头合并后取消补贴提高抽成，实现市场势力变现。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共享单车清场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铺量占用：</a:t>
            </a:r>
            <a:r>
              <a:rPr sz="1250">
                <a:solidFill>
                  <a:srgbClr val="1E293B"/>
                </a:solidFill>
                <a:latin typeface="宋体"/>
              </a:rPr>
              <a:t>通过海量投放单车占用公共空间，树立物理进入壁垒。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第八章  非价格行为：进入与退出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策略性阻止进入手段、机理与反垄断规制矩阵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12 / 16 页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5448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策略手段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作用机理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可信度前提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对市场势力的作用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反垄断判定原则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限界定价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定低价暗示无利可图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信息不对称/信号传递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维持垄断高份额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关注是否低于成本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过度产能投资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提前投入沉没资本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不可撤销的产能沉没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使降价打仗威胁可信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审查资本囤积与浪费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掠夺性定价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低成本甩卖耗死对手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深口袋与声誉效应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清除已有对手恢复垄断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Areeda-Turner 平均可变成本法则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产品激增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密集推出子品牌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多品牌运营能力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填满所有定位缝隙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审查排他性货架占用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第八章  非价格行为：进入与退出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 13 节 延伸视角｜进入与退出壁垒与市场势力深度研讨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13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市场势力（Market Power）拓展分析 13-A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理论深化：</a:t>
            </a:r>
            <a:r>
              <a:rPr sz="1250">
                <a:solidFill>
                  <a:srgbClr val="1E293B"/>
                </a:solidFill>
                <a:latin typeface="宋体"/>
              </a:rPr>
              <a:t>围绕《产业经济学》（第3版）第8章的核心机制进行博弈与福利深化。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现实映射：</a:t>
            </a:r>
            <a:r>
              <a:rPr sz="1250">
                <a:solidFill>
                  <a:srgbClr val="1E293B"/>
                </a:solidFill>
                <a:latin typeface="宋体"/>
              </a:rPr>
              <a:t>考察市场结构变迁对企业定价、规模扩张与行业效益的传导机制。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反垄断与微观规制视角 13-B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政策导向：</a:t>
            </a:r>
            <a:r>
              <a:rPr sz="1250">
                <a:solidFill>
                  <a:srgbClr val="1E293B"/>
                </a:solidFill>
                <a:latin typeface="宋体"/>
              </a:rPr>
              <a:t>评估政府行政干预与竞争政策在防范市场势力滥用中的边界。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治理创新：</a:t>
            </a:r>
            <a:r>
              <a:rPr sz="1250">
                <a:solidFill>
                  <a:srgbClr val="1E293B"/>
                </a:solidFill>
                <a:latin typeface="宋体"/>
              </a:rPr>
              <a:t>推动竞争政策基础地位与全国统一大市场建设的协同。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第八章  非价格行为：进入与退出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 14 节 延伸视角｜进入与退出壁垒与市场势力深度研讨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14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市场势力（Market Power）拓展分析 14-A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理论深化：</a:t>
            </a:r>
            <a:r>
              <a:rPr sz="1250">
                <a:solidFill>
                  <a:srgbClr val="1E293B"/>
                </a:solidFill>
                <a:latin typeface="宋体"/>
              </a:rPr>
              <a:t>围绕《产业经济学》（第3版）第8章的核心机制进行博弈与福利深化。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现实映射：</a:t>
            </a:r>
            <a:r>
              <a:rPr sz="1250">
                <a:solidFill>
                  <a:srgbClr val="1E293B"/>
                </a:solidFill>
                <a:latin typeface="宋体"/>
              </a:rPr>
              <a:t>考察市场结构变迁对企业定价、规模扩张与行业效益的传导机制。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反垄断与微观规制视角 14-B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政策导向：</a:t>
            </a:r>
            <a:r>
              <a:rPr sz="1250">
                <a:solidFill>
                  <a:srgbClr val="1E293B"/>
                </a:solidFill>
                <a:latin typeface="宋体"/>
              </a:rPr>
              <a:t>评估政府行政干预与竞争政策在防范市场势力滥用中的边界。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治理创新：</a:t>
            </a:r>
            <a:r>
              <a:rPr sz="1250">
                <a:solidFill>
                  <a:srgbClr val="1E293B"/>
                </a:solidFill>
                <a:latin typeface="宋体"/>
              </a:rPr>
              <a:t>推动竞争政策基础地位与全国统一大市场建设的协同。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第八章  非价格行为：进入与退出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 15 节 延伸视角｜进入与退出壁垒与市场势力深度研讨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15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市场势力（Market Power）拓展分析 15-A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理论深化：</a:t>
            </a:r>
            <a:r>
              <a:rPr sz="1250">
                <a:solidFill>
                  <a:srgbClr val="1E293B"/>
                </a:solidFill>
                <a:latin typeface="宋体"/>
              </a:rPr>
              <a:t>围绕《产业经济学》（第3版）第8章的核心机制进行博弈与福利深化。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现实映射：</a:t>
            </a:r>
            <a:r>
              <a:rPr sz="1250">
                <a:solidFill>
                  <a:srgbClr val="1E293B"/>
                </a:solidFill>
                <a:latin typeface="宋体"/>
              </a:rPr>
              <a:t>考察市场结构变迁对企业定价、规模扩张与行业效益的传导机制。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反垄断与微观规制视角 15-B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政策导向：</a:t>
            </a:r>
            <a:r>
              <a:rPr sz="1250">
                <a:solidFill>
                  <a:srgbClr val="1E293B"/>
                </a:solidFill>
                <a:latin typeface="宋体"/>
              </a:rPr>
              <a:t>评估政府行政干预与竞争政策在防范市场势力滥用中的边界。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治理创新：</a:t>
            </a:r>
            <a:r>
              <a:rPr sz="1250">
                <a:solidFill>
                  <a:srgbClr val="1E293B"/>
                </a:solidFill>
                <a:latin typeface="宋体"/>
              </a:rPr>
              <a:t>推动竞争政策基础地位与全国统一大市场建设的协同。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第八章  非价格行为：进入与退出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思考与研讨｜数字平台掠夺性补贴的反垄断规制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16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免费模式下的掠夺性定价识别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难度：</a:t>
            </a:r>
            <a:r>
              <a:rPr sz="1250">
                <a:solidFill>
                  <a:srgbClr val="1E293B"/>
                </a:solidFill>
                <a:latin typeface="宋体"/>
              </a:rPr>
              <a:t>平台对消费者端长期免费，传统低于成本（P &lt; AVC）标准失效。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思考：</a:t>
            </a:r>
            <a:r>
              <a:rPr sz="1250">
                <a:solidFill>
                  <a:srgbClr val="1E293B"/>
                </a:solidFill>
                <a:latin typeface="宋体"/>
              </a:rPr>
              <a:t>如何评估平台跨子市场的交叉补贴与掠夺性挤压行为？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可竞争市场理论在数字平台的适用性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争论：</a:t>
            </a:r>
            <a:r>
              <a:rPr sz="1250">
                <a:solidFill>
                  <a:srgbClr val="1E293B"/>
                </a:solidFill>
                <a:latin typeface="宋体"/>
              </a:rPr>
              <a:t>互联网轻资产运营是否意味着零沉没成本的可竞争？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思考：</a:t>
            </a:r>
            <a:r>
              <a:rPr sz="1250">
                <a:solidFill>
                  <a:srgbClr val="1E293B"/>
                </a:solidFill>
                <a:latin typeface="宋体"/>
              </a:rPr>
              <a:t>数据壁垒与网络效应是否已经构成了不可逾越的数字沉没成本？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