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第四章  产品差异化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【核心主线】：避开价格战、建立局部垄断与保护市场势力的策略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本章目录与市场势力（Market Power）主线映射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产品差异化度量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垂直与水平差异化、需求交叉弹性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降低产品替代性是获取局部垄断势力的核心策略。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空间定位模型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Hotelling 模型与 Salop 圆周模型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地理/偏好空间分割缓冲价格竞争，维持利润。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差异化垄断竞争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Chamberlin 模型与品牌护城河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品牌忠诚度构建了长期的保护性壁垒。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产品差异化概念与两大基本类型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水平差异化 (Horizontal Differentiation)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定义：</a:t>
            </a:r>
            <a:r>
              <a:rPr sz="1250">
                <a:solidFill>
                  <a:srgbClr val="1E293B"/>
                </a:solidFill>
                <a:latin typeface="宋体"/>
              </a:rPr>
              <a:t>在价格相同情况下，不同消费者根据个人偏好对产品有不同评价（如口味、颜色、款式）。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特点：</a:t>
            </a:r>
            <a:r>
              <a:rPr sz="1250">
                <a:solidFill>
                  <a:srgbClr val="1E293B"/>
                </a:solidFill>
                <a:latin typeface="宋体"/>
              </a:rPr>
              <a:t>没有绝对“更好”的产品，取决于消费者偏好分布。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垂直差异化 (Vertical Differentiation)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定义：</a:t>
            </a:r>
            <a:r>
              <a:rPr sz="1250">
                <a:solidFill>
                  <a:srgbClr val="1E293B"/>
                </a:solidFill>
                <a:latin typeface="宋体"/>
              </a:rPr>
              <a:t>所有消费者对产品质量等级有统一的高低共识（如性能、耐用度、安全性）。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特点：</a:t>
            </a:r>
            <a:r>
              <a:rPr sz="1250">
                <a:solidFill>
                  <a:srgbClr val="1E293B"/>
                </a:solidFill>
                <a:latin typeface="宋体"/>
              </a:rPr>
              <a:t>在价格相同时，所有消费者都会选择高质量产品。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垂直差异化模型 (Shaked-Sutton 质量竞争)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质量选择与价格竞争两阶段博弈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博弈顺序：</a:t>
            </a:r>
            <a:r>
              <a:rPr sz="1250">
                <a:solidFill>
                  <a:srgbClr val="1E293B"/>
                </a:solidFill>
                <a:latin typeface="宋体"/>
              </a:rPr>
              <a:t>第一阶段选择产品质量 q；第二阶段决定产品价格 P。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高质高价：</a:t>
            </a:r>
            <a:r>
              <a:rPr sz="1250">
                <a:solidFill>
                  <a:srgbClr val="1E293B"/>
                </a:solidFill>
                <a:latin typeface="宋体"/>
              </a:rPr>
              <a:t>质量领先者能定出极高的加价率，获取巨大的自然垄断份额。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收益决定论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收入分布：</a:t>
            </a:r>
            <a:r>
              <a:rPr sz="1250">
                <a:solidFill>
                  <a:srgbClr val="1E293B"/>
                </a:solidFill>
                <a:latin typeface="宋体"/>
              </a:rPr>
              <a:t>当消费者收入差距很大时，高质量企业可以完全统治高收入市场。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产品差异化的度量与市场势力关系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需求交叉价格弹性 (Cross-Price Elasticity)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公式：</a:t>
            </a:r>
            <a:r>
              <a:rPr sz="1250">
                <a:solidFill>
                  <a:srgbClr val="1E293B"/>
                </a:solidFill>
                <a:latin typeface="宋体"/>
              </a:rPr>
              <a:t>e_{xy} = (% Delta Q_x) / (% Delta P_y)。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含义：</a:t>
            </a:r>
            <a:r>
              <a:rPr sz="1250">
                <a:solidFill>
                  <a:srgbClr val="1E293B"/>
                </a:solidFill>
                <a:latin typeface="宋体"/>
              </a:rPr>
              <a:t>交叉弹性越小，说明两产品替代性越弱，企业拥有的定价自主权越强。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品牌忠诚度与价格加价空间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买方锁定：</a:t>
            </a:r>
            <a:r>
              <a:rPr sz="1250">
                <a:solidFill>
                  <a:srgbClr val="1E293B"/>
                </a:solidFill>
                <a:latin typeface="宋体"/>
              </a:rPr>
              <a:t>差异化培养了客户粘性（Switching Costs）。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市场势力表达：</a:t>
            </a:r>
            <a:r>
              <a:rPr sz="1250">
                <a:solidFill>
                  <a:srgbClr val="1E293B"/>
                </a:solidFill>
                <a:latin typeface="宋体"/>
              </a:rPr>
              <a:t>即使提价，忠诚客户也不会轻易转向竞争对手。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霍特林（Hotelling）空间定位模型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模型基本设定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物理/偏好空间：</a:t>
            </a:r>
            <a:r>
              <a:rPr sz="1250">
                <a:solidFill>
                  <a:srgbClr val="1E293B"/>
                </a:solidFill>
                <a:latin typeface="宋体"/>
              </a:rPr>
              <a:t>长度为 1 的线段，消费者均匀分布，单位运输/偏好损失成本为 t。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企业分布：</a:t>
            </a:r>
            <a:r>
              <a:rPr sz="1250">
                <a:solidFill>
                  <a:srgbClr val="1E293B"/>
                </a:solidFill>
                <a:latin typeface="宋体"/>
              </a:rPr>
              <a:t>企业 A 位于 x=0，企业 B 位于 x=1；生产成本为 c。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价格竞争纳什均衡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无差异点：</a:t>
            </a:r>
            <a:r>
              <a:rPr sz="1250">
                <a:solidFill>
                  <a:srgbClr val="1E293B"/>
                </a:solidFill>
                <a:latin typeface="宋体"/>
              </a:rPr>
              <a:t>寻找 x0 满足 pA + t*x0 = pB + t*(1-x0)。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均衡价格：</a:t>
            </a:r>
            <a:r>
              <a:rPr sz="1250">
                <a:solidFill>
                  <a:srgbClr val="1E293B"/>
                </a:solidFill>
                <a:latin typeface="宋体"/>
              </a:rPr>
              <a:t>pA* = pB* = c + t；均衡利润 piA* = piB* = t / 2。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核心启示：</a:t>
            </a:r>
            <a:r>
              <a:rPr sz="1250">
                <a:solidFill>
                  <a:srgbClr val="1E293B"/>
                </a:solidFill>
                <a:latin typeface="宋体"/>
              </a:rPr>
              <a:t>运输/偏好成本 t 代表差异化程度；t 越大，价格竞争越缓和，利润越高！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Hotelling 模型的定位原则与扩展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最小差异化原则 (Principle of Minimum Differentiation)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假定价格固定：</a:t>
            </a:r>
            <a:r>
              <a:rPr sz="1250">
                <a:solidFill>
                  <a:srgbClr val="1E293B"/>
                </a:solidFill>
                <a:latin typeface="宋体"/>
              </a:rPr>
              <a:t>若价格固定，两企业为争夺更多顾客均会向中点 x=1/2 聚集。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商业应用：</a:t>
            </a:r>
            <a:r>
              <a:rPr sz="1250">
                <a:solidFill>
                  <a:srgbClr val="1E293B"/>
                </a:solidFill>
                <a:latin typeface="宋体"/>
              </a:rPr>
              <a:t>政治竞选政策趋同、政治流派与传统广播电视台节目同质化。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最大差异化原则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价格可变：</a:t>
            </a:r>
            <a:r>
              <a:rPr sz="1250">
                <a:solidFill>
                  <a:srgbClr val="1E293B"/>
                </a:solidFill>
                <a:latin typeface="宋体"/>
              </a:rPr>
              <a:t>考虑后续价格战，企业倾向于拉开距离（xA=0, xB=1）以避免毁灭性价格战。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萨洛普（Salop）圆周城市模型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模型基本设定与圆周结构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空间形态：</a:t>
            </a:r>
            <a:r>
              <a:rPr sz="1250">
                <a:solidFill>
                  <a:srgbClr val="1E293B"/>
                </a:solidFill>
                <a:latin typeface="宋体"/>
              </a:rPr>
              <a:t>周长为 1 的圆周，N 家企业均匀分布，消除端点不对称性。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进入成本：</a:t>
            </a:r>
            <a:r>
              <a:rPr sz="1250">
                <a:solidFill>
                  <a:srgbClr val="1E293B"/>
                </a:solidFill>
                <a:latin typeface="宋体"/>
              </a:rPr>
              <a:t>新企业进入需支付固定进入成本 f。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自由进入均衡与产品多样性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均衡企业数：</a:t>
            </a:r>
            <a:r>
              <a:rPr sz="1250">
                <a:solidFill>
                  <a:srgbClr val="1E293B"/>
                </a:solidFill>
                <a:latin typeface="宋体"/>
              </a:rPr>
              <a:t>N* = sqrt(t / f)。运输成本 t 越高，市场容纳企业数越多。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福利评估：</a:t>
            </a:r>
            <a:r>
              <a:rPr sz="1250">
                <a:solidFill>
                  <a:srgbClr val="1E293B"/>
                </a:solidFill>
                <a:latin typeface="宋体"/>
              </a:rPr>
              <a:t>市场自由均衡的企业数高于社会最优企业数（存在过度多样性）。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第四节 垄断竞争中的产品差异化均衡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张伯伦（Chamberlin）双重需求曲线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d 需求曲线：</a:t>
            </a:r>
            <a:r>
              <a:rPr sz="1250">
                <a:solidFill>
                  <a:srgbClr val="1E293B"/>
                </a:solidFill>
                <a:latin typeface="宋体"/>
              </a:rPr>
              <a:t>主观需求曲线：假设竞争对手价格不变时本企业提价/降价的需求变动。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D 需求曲线：</a:t>
            </a:r>
            <a:r>
              <a:rPr sz="1250">
                <a:solidFill>
                  <a:srgbClr val="1E293B"/>
                </a:solidFill>
                <a:latin typeface="宋体"/>
              </a:rPr>
              <a:t>客观需求曲线：全行业企业同步调整价格时的实际需求变动。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长期均衡与市场势力衰退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长期状态：</a:t>
            </a:r>
            <a:r>
              <a:rPr sz="1250">
                <a:solidFill>
                  <a:srgbClr val="1E293B"/>
                </a:solidFill>
                <a:latin typeface="宋体"/>
              </a:rPr>
              <a:t>d 需求曲线与平均成本曲线 (AC) 相切，超额利润被新进入者榨干。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差异化作为策略性阻止进入工具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产品激增策略 (Product Proliferation)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操作机制：</a:t>
            </a:r>
            <a:r>
              <a:rPr sz="1250">
                <a:solidFill>
                  <a:srgbClr val="1E293B"/>
                </a:solidFill>
                <a:latin typeface="宋体"/>
              </a:rPr>
              <a:t>主导企业在市场各个细分定位密集推出不同规格/口味的子品牌。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进入阻碍：</a:t>
            </a:r>
            <a:r>
              <a:rPr sz="1250">
                <a:solidFill>
                  <a:srgbClr val="1E293B"/>
                </a:solidFill>
                <a:latin typeface="宋体"/>
              </a:rPr>
              <a:t>填满所有潜在偏好缝隙，使新进入者找不到有利可图的空隙市场。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案例：宝洁与联合利华的多品牌策略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实务应用：</a:t>
            </a:r>
            <a:r>
              <a:rPr sz="1250">
                <a:solidFill>
                  <a:srgbClr val="1E293B"/>
                </a:solidFill>
                <a:latin typeface="宋体"/>
              </a:rPr>
              <a:t>在洗发水市场推出柔顺、去屑、控油等多个子品牌锁死货架。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数字化转型中的软差异化与体验升级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增值服务与体验差异化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做法：</a:t>
            </a:r>
            <a:r>
              <a:rPr sz="1250">
                <a:solidFill>
                  <a:srgbClr val="1E293B"/>
                </a:solidFill>
                <a:latin typeface="宋体"/>
              </a:rPr>
              <a:t>在标准化产品之外，提供优质售后、无忧退换与专享会员服务。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用户参与设计与定制化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C2M 模式：</a:t>
            </a:r>
            <a:r>
              <a:rPr sz="1250">
                <a:solidFill>
                  <a:srgbClr val="1E293B"/>
                </a:solidFill>
                <a:latin typeface="宋体"/>
              </a:rPr>
              <a:t>消费者直接参与产品设计，赋予产品独一无二的情感溢价。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算法时代个体化推荐与数字差异化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千人千面的智能推荐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信息挖掘：</a:t>
            </a:r>
            <a:r>
              <a:rPr sz="1250">
                <a:solidFill>
                  <a:srgbClr val="1E293B"/>
                </a:solidFill>
                <a:latin typeface="宋体"/>
              </a:rPr>
              <a:t>大数据精准描绘用户偏好，制造高度个性化体验。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提高转换成本：</a:t>
            </a:r>
            <a:r>
              <a:rPr sz="1250">
                <a:solidFill>
                  <a:srgbClr val="1E293B"/>
                </a:solidFill>
                <a:latin typeface="宋体"/>
              </a:rPr>
              <a:t>用户历史数据积累强化了生态粘性与转移壁垒。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算法隔离与局部垄断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信息茧房：</a:t>
            </a:r>
            <a:r>
              <a:rPr sz="1250">
                <a:solidFill>
                  <a:srgbClr val="1E293B"/>
                </a:solidFill>
                <a:latin typeface="宋体"/>
              </a:rPr>
              <a:t>将用户限制在特定推荐流中，降低了跨平台比价动机。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中国汽车与手机行业差异化竞争实践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智能手机市场差异化战略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主攻定位：</a:t>
            </a:r>
            <a:r>
              <a:rPr sz="1250">
                <a:solidFill>
                  <a:srgbClr val="1E293B"/>
                </a:solidFill>
                <a:latin typeface="宋体"/>
              </a:rPr>
              <a:t>华为主打高端商务与影像，小米主打性价比与生态链，Vivo/Oppo主打外观设计。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新新能源汽车跨界差异化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理想汽车：</a:t>
            </a:r>
            <a:r>
              <a:rPr sz="1250">
                <a:solidFill>
                  <a:srgbClr val="1E293B"/>
                </a:solidFill>
                <a:latin typeface="宋体"/>
              </a:rPr>
              <a:t>定位“家庭打造”、增程式无续航焦虑。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蔚来汽车：</a:t>
            </a:r>
            <a:r>
              <a:rPr sz="1250">
                <a:solidFill>
                  <a:srgbClr val="1E293B"/>
                </a:solidFill>
                <a:latin typeface="宋体"/>
              </a:rPr>
              <a:t>定位“换电服务与高端用户社群体验”。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产品差异化理论模型对比矩阵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差异化模型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空间/偏好形态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核心决策变量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均衡价格 / 利润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市场势力来源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Hotelling 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线性段 [0,1]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空间位置与价格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p* = c + 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偏好/地理移动成本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Salop 模型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圆周形态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企业数量 N 与价格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N* = sqrt(t/f)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密集定位与固定进入成本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Chamberlin 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抽象产品空间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价格与差异化程度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长期超额利润为零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品牌忠诚与产品特性差异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垂直差异化模型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质量等级曲线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质量与价格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高质量获得高加价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技术与质量公认优势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 15 节 延伸视角｜产品差异化与市场势力深度研讨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市场势力（Market Power）拓展分析 15-A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围绕《产业经济学》（第3版）第4章的核心机制进行博弈与福利深化。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 15-B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第四章  产品差异化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思考与研讨｜过度差异化与假性创新规制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假性差异化（Pseudo-differentiation）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现象：</a:t>
            </a:r>
            <a:r>
              <a:rPr sz="1250">
                <a:solidFill>
                  <a:srgbClr val="1E293B"/>
                </a:solidFill>
                <a:latin typeface="宋体"/>
              </a:rPr>
              <a:t>仅改变包装或营销概念，产品实质性能并无提升。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这是否构成了对消费者资源的浪费与信息误导？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平台封锁与生态闭环反垄断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现象：</a:t>
            </a:r>
            <a:r>
              <a:rPr sz="1250">
                <a:solidFill>
                  <a:srgbClr val="1E293B"/>
                </a:solidFill>
                <a:latin typeface="宋体"/>
              </a:rPr>
              <a:t>生态系统间互不兼容（如微信屏蔽外部链接）。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如何区分合理的产品差异化与反竞争的生态壁垒？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