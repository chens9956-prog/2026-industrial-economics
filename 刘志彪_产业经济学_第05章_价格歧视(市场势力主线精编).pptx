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10362895" cy="137160"/>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defRPr sz="1800" b="1">
                <a:solidFill>
                  <a:srgbClr val="2D6A4F"/>
                </a:solidFill>
                <a:latin typeface="微软雅黑"/>
              </a:defRPr>
            </a:pPr>
            <a:r>
              <a:t>产业经济学 · 核心教材精讲</a:t>
            </a:r>
          </a:p>
          <a:p>
            <a:pPr>
              <a:spcBef>
                <a:spcPts val="1000"/>
              </a:spcBef>
              <a:defRPr sz="3000" b="1">
                <a:solidFill>
                  <a:srgbClr val="1B4965"/>
                </a:solidFill>
                <a:latin typeface="微软雅黑"/>
              </a:defRPr>
            </a:pPr>
            <a:r>
              <a:t>第五章  价格歧视</a:t>
            </a:r>
          </a:p>
          <a:p>
            <a:pPr>
              <a:spcBef>
                <a:spcPts val="1500"/>
              </a:spcBef>
              <a:defRPr sz="1800" b="1">
                <a:solidFill>
                  <a:srgbClr val="C58A21"/>
                </a:solidFill>
                <a:latin typeface="微软雅黑"/>
              </a:defRPr>
            </a:pPr>
            <a:r>
              <a:t>【核心主线】：榨取消费者剩余、实现市场势力收益最大化</a:t>
            </a:r>
          </a:p>
          <a:p>
            <a:pPr>
              <a:spcBef>
                <a:spcPts val="2500"/>
              </a:spcBef>
              <a:defRPr sz="1400">
                <a:solidFill>
                  <a:srgbClr val="64748B"/>
                </a:solidFill>
                <a:latin typeface="宋体"/>
              </a:defRPr>
            </a:pPr>
            <a:r>
              <a:t>教材依据：刘志彪《产业经济学》（第3版·高等教育/机械工业出版社）</a:t>
            </a:r>
            <a:br/>
            <a:r>
              <a:t>制作风格：自然清新 · 排版高尚大气 · 浅色系精品课件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本章目录与市场势力（Market Power）主线映射</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2 / 16 页</a:t>
            </a:r>
          </a:p>
        </p:txBody>
      </p:sp>
      <p:sp>
        <p:nvSpPr>
          <p:cNvPr id="6" name="Rounded Rectangle 5"/>
          <p:cNvSpPr/>
          <p:nvPr/>
        </p:nvSpPr>
        <p:spPr>
          <a:xfrm>
            <a:off x="7315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3413455"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047695" cy="4297680"/>
          </a:xfrm>
          <a:prstGeom prst="rect">
            <a:avLst/>
          </a:prstGeom>
          <a:noFill/>
        </p:spPr>
        <p:txBody>
          <a:bodyPr wrap="square">
            <a:spAutoFit/>
          </a:bodyPr>
          <a:lstStyle/>
          <a:p>
            <a:pPr>
              <a:spcAft>
                <a:spcPts val="800"/>
              </a:spcAft>
              <a:defRPr sz="1500" b="1">
                <a:solidFill>
                  <a:srgbClr val="1B4965"/>
                </a:solidFill>
                <a:latin typeface="微软雅黑"/>
              </a:defRPr>
            </a:pPr>
            <a:r>
              <a:t>第一节 价格歧视前提与类型</a:t>
            </a:r>
          </a:p>
          <a:p>
            <a:pPr>
              <a:spcAft>
                <a:spcPts val="600"/>
              </a:spcAft>
            </a:pPr>
            <a:r>
              <a:rPr b="1" sz="1250">
                <a:solidFill>
                  <a:srgbClr val="1E293B"/>
                </a:solidFill>
                <a:latin typeface="微软雅黑"/>
              </a:rPr>
              <a:t>核心内容：</a:t>
            </a:r>
            <a:r>
              <a:rPr sz="1250">
                <a:solidFill>
                  <a:srgbClr val="1E293B"/>
                </a:solidFill>
                <a:latin typeface="宋体"/>
              </a:rPr>
              <a:t>一/二/三级价格歧视条件</a:t>
            </a:r>
          </a:p>
          <a:p>
            <a:pPr>
              <a:spcAft>
                <a:spcPts val="600"/>
              </a:spcAft>
            </a:pPr>
            <a:r>
              <a:rPr b="1" sz="1250">
                <a:solidFill>
                  <a:srgbClr val="1E293B"/>
                </a:solidFill>
                <a:latin typeface="微软雅黑"/>
              </a:rPr>
              <a:t>主线映射：</a:t>
            </a:r>
            <a:r>
              <a:rPr sz="1250">
                <a:solidFill>
                  <a:srgbClr val="1E293B"/>
                </a:solidFill>
                <a:latin typeface="宋体"/>
              </a:rPr>
              <a:t>拥有市场势力是实施价格歧视的必要前提。</a:t>
            </a:r>
          </a:p>
        </p:txBody>
      </p:sp>
      <p:sp>
        <p:nvSpPr>
          <p:cNvPr id="9" name="Rounded Rectangle 8"/>
          <p:cNvSpPr/>
          <p:nvPr/>
        </p:nvSpPr>
        <p:spPr>
          <a:xfrm>
            <a:off x="43891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554480"/>
            <a:ext cx="341345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737360"/>
            <a:ext cx="3047695" cy="4297680"/>
          </a:xfrm>
          <a:prstGeom prst="rect">
            <a:avLst/>
          </a:prstGeom>
          <a:noFill/>
        </p:spPr>
        <p:txBody>
          <a:bodyPr wrap="square">
            <a:spAutoFit/>
          </a:bodyPr>
          <a:lstStyle/>
          <a:p>
            <a:pPr>
              <a:spcAft>
                <a:spcPts val="800"/>
              </a:spcAft>
              <a:defRPr sz="1500" b="1">
                <a:solidFill>
                  <a:srgbClr val="2D6A4F"/>
                </a:solidFill>
                <a:latin typeface="微软雅黑"/>
              </a:defRPr>
            </a:pPr>
            <a:r>
              <a:t>第二节 自选择与非线性定价</a:t>
            </a:r>
          </a:p>
          <a:p>
            <a:pPr>
              <a:spcAft>
                <a:spcPts val="600"/>
              </a:spcAft>
            </a:pPr>
            <a:r>
              <a:rPr b="1" sz="1250">
                <a:solidFill>
                  <a:srgbClr val="1E293B"/>
                </a:solidFill>
                <a:latin typeface="微软雅黑"/>
              </a:rPr>
              <a:t>核心内容：</a:t>
            </a:r>
            <a:r>
              <a:rPr sz="1250">
                <a:solidFill>
                  <a:srgbClr val="1E293B"/>
                </a:solidFill>
                <a:latin typeface="宋体"/>
              </a:rPr>
              <a:t>两部收费制与捆绑销售</a:t>
            </a:r>
          </a:p>
          <a:p>
            <a:pPr>
              <a:spcAft>
                <a:spcPts val="600"/>
              </a:spcAft>
            </a:pPr>
            <a:r>
              <a:rPr b="1" sz="1250">
                <a:solidFill>
                  <a:srgbClr val="1E293B"/>
                </a:solidFill>
                <a:latin typeface="微软雅黑"/>
              </a:rPr>
              <a:t>主线映射：</a:t>
            </a:r>
            <a:r>
              <a:rPr sz="1250">
                <a:solidFill>
                  <a:srgbClr val="1E293B"/>
                </a:solidFill>
                <a:latin typeface="宋体"/>
              </a:rPr>
              <a:t>设计复杂定价结构以最大化榨取消费者剩余。</a:t>
            </a:r>
          </a:p>
        </p:txBody>
      </p:sp>
      <p:sp>
        <p:nvSpPr>
          <p:cNvPr id="12" name="Rounded Rectangle 11"/>
          <p:cNvSpPr/>
          <p:nvPr/>
        </p:nvSpPr>
        <p:spPr>
          <a:xfrm>
            <a:off x="8046720" y="1554480"/>
            <a:ext cx="3413455"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554480"/>
            <a:ext cx="3413455"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37360"/>
            <a:ext cx="3047695" cy="4297680"/>
          </a:xfrm>
          <a:prstGeom prst="rect">
            <a:avLst/>
          </a:prstGeom>
          <a:noFill/>
        </p:spPr>
        <p:txBody>
          <a:bodyPr wrap="square">
            <a:spAutoFit/>
          </a:bodyPr>
          <a:lstStyle/>
          <a:p>
            <a:pPr>
              <a:spcAft>
                <a:spcPts val="800"/>
              </a:spcAft>
              <a:defRPr sz="1500" b="1">
                <a:solidFill>
                  <a:srgbClr val="C58A21"/>
                </a:solidFill>
                <a:latin typeface="微软雅黑"/>
              </a:defRPr>
            </a:pPr>
            <a:r>
              <a:t>第三节 福利效应与反垄断规制</a:t>
            </a:r>
          </a:p>
          <a:p>
            <a:pPr>
              <a:spcAft>
                <a:spcPts val="600"/>
              </a:spcAft>
            </a:pPr>
            <a:r>
              <a:rPr b="1" sz="1250">
                <a:solidFill>
                  <a:srgbClr val="1E293B"/>
                </a:solidFill>
                <a:latin typeface="微软雅黑"/>
              </a:rPr>
              <a:t>核心内容：</a:t>
            </a:r>
            <a:r>
              <a:rPr sz="1250">
                <a:solidFill>
                  <a:srgbClr val="1E293B"/>
                </a:solidFill>
                <a:latin typeface="宋体"/>
              </a:rPr>
              <a:t>福利变化与大数据杀熟</a:t>
            </a:r>
          </a:p>
          <a:p>
            <a:pPr>
              <a:spcAft>
                <a:spcPts val="600"/>
              </a:spcAft>
            </a:pPr>
            <a:r>
              <a:rPr b="1" sz="1250">
                <a:solidFill>
                  <a:srgbClr val="1E293B"/>
                </a:solidFill>
                <a:latin typeface="微软雅黑"/>
              </a:rPr>
              <a:t>主线映射：</a:t>
            </a:r>
            <a:r>
              <a:rPr sz="1250">
                <a:solidFill>
                  <a:srgbClr val="1E293B"/>
                </a:solidFill>
                <a:latin typeface="宋体"/>
              </a:rPr>
              <a:t>评估市场势力行使对消费者福利与公平竞争的影响。</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第一节 价格歧视的定义与三大实施前提</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价格歧视 (Price Discrimination) 界定</a:t>
            </a:r>
          </a:p>
          <a:p>
            <a:pPr>
              <a:spcAft>
                <a:spcPts val="600"/>
              </a:spcAft>
            </a:pPr>
            <a:r>
              <a:rPr b="1" sz="1250">
                <a:solidFill>
                  <a:srgbClr val="1E293B"/>
                </a:solidFill>
                <a:latin typeface="微软雅黑"/>
              </a:rPr>
              <a:t>经济学定义：</a:t>
            </a:r>
            <a:r>
              <a:rPr sz="1250">
                <a:solidFill>
                  <a:srgbClr val="1E293B"/>
                </a:solidFill>
                <a:latin typeface="宋体"/>
              </a:rPr>
              <a:t>对成本相同的同一商品向不同购买者收取不同的价格。</a:t>
            </a:r>
          </a:p>
          <a:p>
            <a:pPr>
              <a:spcAft>
                <a:spcPts val="600"/>
              </a:spcAft>
            </a:pPr>
            <a:r>
              <a:rPr b="1" sz="1250">
                <a:solidFill>
                  <a:srgbClr val="1E293B"/>
                </a:solidFill>
                <a:latin typeface="微软雅黑"/>
              </a:rPr>
              <a:t>核心目的：</a:t>
            </a:r>
            <a:r>
              <a:rPr sz="1250">
                <a:solidFill>
                  <a:srgbClr val="1E293B"/>
                </a:solidFill>
                <a:latin typeface="宋体"/>
              </a:rPr>
              <a:t>将消费者剩余（Consumer Surplus）尽可能转化为厂商利润。</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实施价格歧视的三大必要条件</a:t>
            </a:r>
          </a:p>
          <a:p>
            <a:pPr>
              <a:spcAft>
                <a:spcPts val="600"/>
              </a:spcAft>
            </a:pPr>
            <a:r>
              <a:rPr b="1" sz="1250">
                <a:solidFill>
                  <a:srgbClr val="1E293B"/>
                </a:solidFill>
                <a:latin typeface="微软雅黑"/>
              </a:rPr>
              <a:t>具备市场势力：</a:t>
            </a:r>
            <a:r>
              <a:rPr sz="1250">
                <a:solidFill>
                  <a:srgbClr val="1E293B"/>
                </a:solidFill>
                <a:latin typeface="宋体"/>
              </a:rPr>
              <a:t>企业必须具备一定的市场控制力（P &gt; MC），完全竞争下无法实行。</a:t>
            </a:r>
          </a:p>
          <a:p>
            <a:pPr>
              <a:spcAft>
                <a:spcPts val="600"/>
              </a:spcAft>
            </a:pPr>
            <a:r>
              <a:rPr b="1" sz="1250">
                <a:solidFill>
                  <a:srgbClr val="1E293B"/>
                </a:solidFill>
                <a:latin typeface="微软雅黑"/>
              </a:rPr>
              <a:t>市场有效分割：</a:t>
            </a:r>
            <a:r>
              <a:rPr sz="1250">
                <a:solidFill>
                  <a:srgbClr val="1E293B"/>
                </a:solidFill>
                <a:latin typeface="宋体"/>
              </a:rPr>
              <a:t>企业能够识别不同消费者的需求特征或需求弹性。</a:t>
            </a:r>
          </a:p>
          <a:p>
            <a:pPr>
              <a:spcAft>
                <a:spcPts val="600"/>
              </a:spcAft>
            </a:pPr>
            <a:r>
              <a:rPr b="1" sz="1250">
                <a:solidFill>
                  <a:srgbClr val="1E293B"/>
                </a:solidFill>
                <a:latin typeface="微软雅黑"/>
              </a:rPr>
              <a:t>禁止倒买倒卖：</a:t>
            </a:r>
            <a:r>
              <a:rPr sz="1250">
                <a:solidFill>
                  <a:srgbClr val="1E293B"/>
                </a:solidFill>
                <a:latin typeface="宋体"/>
              </a:rPr>
              <a:t>转售成本极高，防止低价区买家倒卖给高价区（No Arbitrage）。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一级价格歧视：完全榨取剩余</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4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一级（完全）价格歧视机制</a:t>
            </a:r>
          </a:p>
          <a:p>
            <a:pPr>
              <a:spcAft>
                <a:spcPts val="600"/>
              </a:spcAft>
            </a:pPr>
            <a:r>
              <a:rPr b="1" sz="1250">
                <a:solidFill>
                  <a:srgbClr val="1E293B"/>
                </a:solidFill>
                <a:latin typeface="微软雅黑"/>
              </a:rPr>
              <a:t>定价方式：</a:t>
            </a:r>
            <a:r>
              <a:rPr sz="1250">
                <a:solidFill>
                  <a:srgbClr val="1E293B"/>
                </a:solidFill>
                <a:latin typeface="宋体"/>
              </a:rPr>
              <a:t>垄断者已知每个消费者的保留价格，对每一单位产品收取不同价格。</a:t>
            </a:r>
          </a:p>
          <a:p>
            <a:pPr>
              <a:spcAft>
                <a:spcPts val="600"/>
              </a:spcAft>
            </a:pPr>
            <a:r>
              <a:rPr b="1" sz="1250">
                <a:solidFill>
                  <a:srgbClr val="1E293B"/>
                </a:solidFill>
                <a:latin typeface="微软雅黑"/>
              </a:rPr>
              <a:t>均衡产量：</a:t>
            </a:r>
            <a:r>
              <a:rPr sz="1250">
                <a:solidFill>
                  <a:srgbClr val="1E293B"/>
                </a:solidFill>
                <a:latin typeface="宋体"/>
              </a:rPr>
              <a:t>产量扩张至 P = MC 处，与完全竞争市场总产量相同！</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经济效率与福利分配</a:t>
            </a:r>
          </a:p>
          <a:p>
            <a:pPr>
              <a:spcAft>
                <a:spcPts val="600"/>
              </a:spcAft>
            </a:pPr>
            <a:r>
              <a:rPr b="1" sz="1250">
                <a:solidFill>
                  <a:srgbClr val="1E293B"/>
                </a:solidFill>
                <a:latin typeface="微软雅黑"/>
              </a:rPr>
              <a:t>社会总福利：</a:t>
            </a:r>
            <a:r>
              <a:rPr sz="1250">
                <a:solidFill>
                  <a:srgbClr val="1E293B"/>
                </a:solidFill>
                <a:latin typeface="宋体"/>
              </a:rPr>
              <a:t>达到社会最大化（无无谓损失 DWL = 0）。</a:t>
            </a:r>
          </a:p>
          <a:p>
            <a:pPr>
              <a:spcAft>
                <a:spcPts val="600"/>
              </a:spcAft>
            </a:pPr>
            <a:r>
              <a:rPr b="1" sz="1250">
                <a:solidFill>
                  <a:srgbClr val="1E293B"/>
                </a:solidFill>
                <a:latin typeface="微软雅黑"/>
              </a:rPr>
              <a:t>福利分配极端化：</a:t>
            </a:r>
            <a:r>
              <a:rPr sz="1250">
                <a:solidFill>
                  <a:srgbClr val="1E293B"/>
                </a:solidFill>
                <a:latin typeface="宋体"/>
              </a:rPr>
              <a:t>消费者剩余被 100% 抽干，全部转化为垄断利润！</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二级价格歧视：自选择约束与非线性定价</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二级价格歧视（按购买数量/套餐定价）</a:t>
            </a:r>
          </a:p>
          <a:p>
            <a:pPr>
              <a:spcAft>
                <a:spcPts val="600"/>
              </a:spcAft>
            </a:pPr>
            <a:r>
              <a:rPr b="1" sz="1250">
                <a:solidFill>
                  <a:srgbClr val="1E293B"/>
                </a:solidFill>
                <a:latin typeface="微软雅黑"/>
              </a:rPr>
              <a:t>机制：</a:t>
            </a:r>
            <a:r>
              <a:rPr sz="1250">
                <a:solidFill>
                  <a:srgbClr val="1E293B"/>
                </a:solidFill>
                <a:latin typeface="宋体"/>
              </a:rPr>
              <a:t>企业无法直接识别消费者类型，但已知消费者群体偏好分布。</a:t>
            </a:r>
          </a:p>
          <a:p>
            <a:pPr>
              <a:spcAft>
                <a:spcPts val="600"/>
              </a:spcAft>
            </a:pPr>
            <a:r>
              <a:rPr b="1" sz="1250">
                <a:solidFill>
                  <a:srgbClr val="1E293B"/>
                </a:solidFill>
                <a:latin typeface="微软雅黑"/>
              </a:rPr>
              <a:t>方法：</a:t>
            </a:r>
            <a:r>
              <a:rPr sz="1250">
                <a:solidFill>
                  <a:srgbClr val="1E293B"/>
                </a:solidFill>
                <a:latin typeface="宋体"/>
              </a:rPr>
              <a:t>设计不同数量/质量套餐，让消费者自行选择（Self-Selection）。</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激励兼容与参与约束</a:t>
            </a:r>
          </a:p>
          <a:p>
            <a:pPr>
              <a:spcAft>
                <a:spcPts val="600"/>
              </a:spcAft>
            </a:pPr>
            <a:r>
              <a:rPr b="1" sz="1250">
                <a:solidFill>
                  <a:srgbClr val="1E293B"/>
                </a:solidFill>
                <a:latin typeface="微软雅黑"/>
              </a:rPr>
              <a:t>参与约束 (IR)：</a:t>
            </a:r>
            <a:r>
              <a:rPr sz="1250">
                <a:solidFill>
                  <a:srgbClr val="1E293B"/>
                </a:solidFill>
                <a:latin typeface="宋体"/>
              </a:rPr>
              <a:t>套餐定价必须保证消费者获得的剩余非负。</a:t>
            </a:r>
          </a:p>
          <a:p>
            <a:pPr>
              <a:spcAft>
                <a:spcPts val="600"/>
              </a:spcAft>
            </a:pPr>
            <a:r>
              <a:rPr b="1" sz="1250">
                <a:solidFill>
                  <a:srgbClr val="1E293B"/>
                </a:solidFill>
                <a:latin typeface="微软雅黑"/>
              </a:rPr>
              <a:t>激励兼容约束 (IC)：</a:t>
            </a:r>
            <a:r>
              <a:rPr sz="1250">
                <a:solidFill>
                  <a:srgbClr val="1E293B"/>
                </a:solidFill>
                <a:latin typeface="宋体"/>
              </a:rPr>
              <a:t>设计高套餐必须让高偏好买家购买高套餐获得的剩余高于假装买低套餐。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第二节 三级价格歧视：子市场切割与弹性反比</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子市场分割定价模型</a:t>
            </a:r>
          </a:p>
          <a:p>
            <a:pPr>
              <a:spcAft>
                <a:spcPts val="600"/>
              </a:spcAft>
            </a:pPr>
            <a:r>
              <a:rPr b="1" sz="1250">
                <a:solidFill>
                  <a:srgbClr val="1E293B"/>
                </a:solidFill>
                <a:latin typeface="微软雅黑"/>
              </a:rPr>
              <a:t>前提：</a:t>
            </a:r>
            <a:r>
              <a:rPr sz="1250">
                <a:solidFill>
                  <a:srgbClr val="1E293B"/>
                </a:solidFill>
                <a:latin typeface="宋体"/>
              </a:rPr>
              <a:t>企业能依据可观测信号（年龄、身份、地域）将市场划分为独立子市场。</a:t>
            </a:r>
          </a:p>
          <a:p>
            <a:pPr>
              <a:spcAft>
                <a:spcPts val="600"/>
              </a:spcAft>
            </a:pPr>
            <a:r>
              <a:rPr b="1" sz="1250">
                <a:solidFill>
                  <a:srgbClr val="1E293B"/>
                </a:solidFill>
                <a:latin typeface="微软雅黑"/>
              </a:rPr>
              <a:t>数学一阶条件：</a:t>
            </a:r>
            <a:r>
              <a:rPr sz="1250">
                <a:solidFill>
                  <a:srgbClr val="1E293B"/>
                </a:solidFill>
                <a:latin typeface="宋体"/>
              </a:rPr>
              <a:t>MR1 = MR2 = MC。</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弹性反比定价法则</a:t>
            </a:r>
          </a:p>
          <a:p>
            <a:pPr>
              <a:spcAft>
                <a:spcPts val="600"/>
              </a:spcAft>
            </a:pPr>
            <a:r>
              <a:rPr b="1" sz="1250">
                <a:solidFill>
                  <a:srgbClr val="1E293B"/>
                </a:solidFill>
                <a:latin typeface="微软雅黑"/>
              </a:rPr>
              <a:t>公式推导：</a:t>
            </a:r>
            <a:r>
              <a:rPr sz="1250">
                <a:solidFill>
                  <a:srgbClr val="1E293B"/>
                </a:solidFill>
                <a:latin typeface="宋体"/>
              </a:rPr>
              <a:t>P1 * (1 - 1/|e1|) = P2 * (1 - 1/|e2|) = MC。</a:t>
            </a:r>
          </a:p>
          <a:p>
            <a:pPr>
              <a:spcAft>
                <a:spcPts val="600"/>
              </a:spcAft>
            </a:pPr>
            <a:r>
              <a:rPr b="1" sz="1250">
                <a:solidFill>
                  <a:srgbClr val="1E293B"/>
                </a:solidFill>
                <a:latin typeface="微软雅黑"/>
              </a:rPr>
              <a:t>核心结论：</a:t>
            </a:r>
            <a:r>
              <a:rPr sz="1250">
                <a:solidFill>
                  <a:srgbClr val="1E293B"/>
                </a:solidFill>
                <a:latin typeface="宋体"/>
              </a:rPr>
              <a:t>需求弹性小（|e|小）的子市场定高价；需求弹性大（|e|大）的子市场定低价！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第三节 两部收费制 (Two-Part Tariff) 核心推导</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7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结构设计</a:t>
            </a:r>
          </a:p>
          <a:p>
            <a:pPr>
              <a:spcAft>
                <a:spcPts val="600"/>
              </a:spcAft>
            </a:pPr>
            <a:r>
              <a:rPr b="1" sz="1250">
                <a:solidFill>
                  <a:srgbClr val="1E293B"/>
                </a:solidFill>
                <a:latin typeface="微软雅黑"/>
              </a:rPr>
              <a:t>组合方式：</a:t>
            </a:r>
            <a:r>
              <a:rPr sz="1250">
                <a:solidFill>
                  <a:srgbClr val="1E293B"/>
                </a:solidFill>
                <a:latin typeface="宋体"/>
              </a:rPr>
              <a:t>固定费用 T（入门费）+ 边际使用费 p（单价）。总支出 E = T + p*q。</a:t>
            </a:r>
          </a:p>
          <a:p>
            <a:pPr>
              <a:spcAft>
                <a:spcPts val="600"/>
              </a:spcAft>
            </a:pPr>
            <a:r>
              <a:rPr b="1" sz="1250">
                <a:solidFill>
                  <a:srgbClr val="1E293B"/>
                </a:solidFill>
                <a:latin typeface="微软雅黑"/>
              </a:rPr>
              <a:t>典型应用：</a:t>
            </a:r>
            <a:r>
              <a:rPr sz="1250">
                <a:solidFill>
                  <a:srgbClr val="1E293B"/>
                </a:solidFill>
                <a:latin typeface="宋体"/>
              </a:rPr>
              <a:t>游乐园门票+设施费、健身房年卡+私教费、移动套餐+超额流量费。</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均质消费者最优定价方案</a:t>
            </a:r>
          </a:p>
          <a:p>
            <a:pPr>
              <a:spcAft>
                <a:spcPts val="600"/>
              </a:spcAft>
            </a:pPr>
            <a:r>
              <a:rPr b="1" sz="1250">
                <a:solidFill>
                  <a:srgbClr val="1E293B"/>
                </a:solidFill>
                <a:latin typeface="微软雅黑"/>
              </a:rPr>
              <a:t>单价设定：</a:t>
            </a:r>
            <a:r>
              <a:rPr sz="1250">
                <a:solidFill>
                  <a:srgbClr val="1E293B"/>
                </a:solidFill>
                <a:latin typeface="宋体"/>
              </a:rPr>
              <a:t>p* = MC（按边际成本定价，最大化总剩余）。</a:t>
            </a:r>
          </a:p>
          <a:p>
            <a:pPr>
              <a:spcAft>
                <a:spcPts val="600"/>
              </a:spcAft>
            </a:pPr>
            <a:r>
              <a:rPr b="1" sz="1250">
                <a:solidFill>
                  <a:srgbClr val="1E293B"/>
                </a:solidFill>
                <a:latin typeface="微软雅黑"/>
              </a:rPr>
              <a:t>固定费抽取：</a:t>
            </a:r>
            <a:r>
              <a:rPr sz="1250">
                <a:solidFill>
                  <a:srgbClr val="1E293B"/>
                </a:solidFill>
                <a:latin typeface="宋体"/>
              </a:rPr>
              <a:t>T* = CS(p*)（固定费等于该单价下的全额消费者剩余）。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异质消费者下两部收费的权衡博弈</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8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高偏好与低偏好消费者混合</a:t>
            </a:r>
          </a:p>
          <a:p>
            <a:pPr>
              <a:spcAft>
                <a:spcPts val="600"/>
              </a:spcAft>
            </a:pPr>
            <a:r>
              <a:rPr b="1" sz="1250">
                <a:solidFill>
                  <a:srgbClr val="1E293B"/>
                </a:solidFill>
                <a:latin typeface="微软雅黑"/>
              </a:rPr>
              <a:t>决策冲突：</a:t>
            </a:r>
            <a:r>
              <a:rPr sz="1250">
                <a:solidFill>
                  <a:srgbClr val="1E293B"/>
                </a:solidFill>
                <a:latin typeface="宋体"/>
              </a:rPr>
              <a:t>提高固定费 T 会榨干高偏好者，但会将低偏好者挤出市场。</a:t>
            </a:r>
          </a:p>
          <a:p>
            <a:pPr>
              <a:spcAft>
                <a:spcPts val="600"/>
              </a:spcAft>
            </a:pPr>
            <a:r>
              <a:rPr b="1" sz="1250">
                <a:solidFill>
                  <a:srgbClr val="1E293B"/>
                </a:solidFill>
                <a:latin typeface="微软雅黑"/>
              </a:rPr>
              <a:t>折中方案：</a:t>
            </a:r>
            <a:r>
              <a:rPr sz="1250">
                <a:solidFill>
                  <a:srgbClr val="1E293B"/>
                </a:solidFill>
                <a:latin typeface="宋体"/>
              </a:rPr>
              <a:t>设定单价 p &gt; MC，同时调低固定费 T，平衡参与率与抽取量。</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多重套餐两部收费</a:t>
            </a:r>
          </a:p>
          <a:p>
            <a:pPr>
              <a:spcAft>
                <a:spcPts val="600"/>
              </a:spcAft>
            </a:pPr>
            <a:r>
              <a:rPr b="1" sz="1250">
                <a:solidFill>
                  <a:srgbClr val="1E293B"/>
                </a:solidFill>
                <a:latin typeface="微软雅黑"/>
              </a:rPr>
              <a:t>实务应用：</a:t>
            </a:r>
            <a:r>
              <a:rPr sz="1250">
                <a:solidFill>
                  <a:srgbClr val="1E293B"/>
                </a:solidFill>
                <a:latin typeface="宋体"/>
              </a:rPr>
              <a:t>电信运营商推出“低月租高流量费”与“高月租免费大流量”多档套餐。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搭售（Tying）与捆绑销售（Bundling）</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9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捆绑销售的价格歧视机制</a:t>
            </a:r>
          </a:p>
          <a:p>
            <a:pPr>
              <a:spcAft>
                <a:spcPts val="600"/>
              </a:spcAft>
            </a:pPr>
            <a:r>
              <a:rPr b="1" sz="1250">
                <a:solidFill>
                  <a:srgbClr val="1E293B"/>
                </a:solidFill>
                <a:latin typeface="微软雅黑"/>
              </a:rPr>
              <a:t>纯捆绑 vs 混合捆绑：</a:t>
            </a:r>
            <a:r>
              <a:rPr sz="1250">
                <a:solidFill>
                  <a:srgbClr val="1E293B"/>
                </a:solidFill>
                <a:latin typeface="宋体"/>
              </a:rPr>
              <a:t>将两种相关或无关产品合并成一个组合销售。</a:t>
            </a:r>
          </a:p>
          <a:p>
            <a:pPr>
              <a:spcAft>
                <a:spcPts val="600"/>
              </a:spcAft>
            </a:pPr>
            <a:r>
              <a:rPr b="1" sz="1250">
                <a:solidFill>
                  <a:srgbClr val="1E293B"/>
                </a:solidFill>
                <a:latin typeface="微软雅黑"/>
              </a:rPr>
              <a:t>负相关偏好抽取：</a:t>
            </a:r>
            <a:r>
              <a:rPr sz="1250">
                <a:solidFill>
                  <a:srgbClr val="1E293B"/>
                </a:solidFill>
                <a:latin typeface="宋体"/>
              </a:rPr>
              <a:t>当不同买家对两种商品的保留价格负相关时，捆绑销售能大幅抽取剩余。</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杠杆效应与市场势力延伸</a:t>
            </a:r>
          </a:p>
          <a:p>
            <a:pPr>
              <a:spcAft>
                <a:spcPts val="600"/>
              </a:spcAft>
            </a:pPr>
            <a:r>
              <a:rPr b="1" sz="1250">
                <a:solidFill>
                  <a:srgbClr val="1E293B"/>
                </a:solidFill>
                <a:latin typeface="微软雅黑"/>
              </a:rPr>
              <a:t>竞争封锁：</a:t>
            </a:r>
            <a:r>
              <a:rPr sz="1250">
                <a:solidFill>
                  <a:srgbClr val="1E293B"/>
                </a:solidFill>
                <a:latin typeface="宋体"/>
              </a:rPr>
              <a:t>将主导产品的垄断势力传导至竞争性互补品市场。</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跨境贸易中的价格歧视与倾销/反倾销</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10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国际三级价格歧视</a:t>
            </a:r>
          </a:p>
          <a:p>
            <a:pPr>
              <a:spcAft>
                <a:spcPts val="600"/>
              </a:spcAft>
            </a:pPr>
            <a:r>
              <a:rPr b="1" sz="1250">
                <a:solidFill>
                  <a:srgbClr val="1E293B"/>
                </a:solidFill>
                <a:latin typeface="微软雅黑"/>
              </a:rPr>
              <a:t>倾销 (Dumping)：</a:t>
            </a:r>
            <a:r>
              <a:rPr sz="1250">
                <a:solidFill>
                  <a:srgbClr val="1E293B"/>
                </a:solidFill>
                <a:latin typeface="宋体"/>
              </a:rPr>
              <a:t>出口企业在国外市场定价低于本土市场价格（因为国外市场弹性更大）。</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反倾销政策</a:t>
            </a:r>
          </a:p>
          <a:p>
            <a:pPr>
              <a:spcAft>
                <a:spcPts val="600"/>
              </a:spcAft>
            </a:pPr>
            <a:r>
              <a:rPr b="1" sz="1250">
                <a:solidFill>
                  <a:srgbClr val="1E293B"/>
                </a:solidFill>
                <a:latin typeface="微软雅黑"/>
              </a:rPr>
              <a:t>贸易保护：</a:t>
            </a:r>
            <a:r>
              <a:rPr sz="1250">
                <a:solidFill>
                  <a:srgbClr val="1E293B"/>
                </a:solidFill>
                <a:latin typeface="宋体"/>
              </a:rPr>
              <a:t>进口国征收反倾销税以保护本国产业不受价格歧视冲击。</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跨期价格歧视与耐用品垄断 (Coase 猜想)</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11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跨期价格歧视 (Intertemporal Price Discrimination)</a:t>
            </a:r>
          </a:p>
          <a:p>
            <a:pPr>
              <a:spcAft>
                <a:spcPts val="600"/>
              </a:spcAft>
            </a:pPr>
            <a:r>
              <a:rPr b="1" sz="1250">
                <a:solidFill>
                  <a:srgbClr val="1E293B"/>
                </a:solidFill>
                <a:latin typeface="微软雅黑"/>
              </a:rPr>
              <a:t>做法：</a:t>
            </a:r>
            <a:r>
              <a:rPr sz="1250">
                <a:solidFill>
                  <a:srgbClr val="1E293B"/>
                </a:solidFill>
                <a:latin typeface="宋体"/>
              </a:rPr>
              <a:t>新产品刚上市定高价（收割发烧友），随后逐步降价（收割大众）。</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C58A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C58A21"/>
                </a:solidFill>
                <a:latin typeface="微软雅黑"/>
              </a:defRPr>
            </a:pPr>
            <a:r>
              <a:t>2. 科斯猜想 (Coase Conjecture)</a:t>
            </a:r>
          </a:p>
          <a:p>
            <a:pPr>
              <a:spcAft>
                <a:spcPts val="600"/>
              </a:spcAft>
            </a:pPr>
            <a:r>
              <a:rPr b="1" sz="1250">
                <a:solidFill>
                  <a:srgbClr val="1E293B"/>
                </a:solidFill>
                <a:latin typeface="微软雅黑"/>
              </a:rPr>
              <a:t>耐用品垄断困境：</a:t>
            </a:r>
            <a:r>
              <a:rPr sz="1250">
                <a:solidFill>
                  <a:srgbClr val="1E293B"/>
                </a:solidFill>
                <a:latin typeface="宋体"/>
              </a:rPr>
              <a:t>买家预期到未来会降价而选择等待，导致垄断者瞬间失去市场势力 ($P _x000D_ightarrow MC$)。</a:t>
            </a:r>
          </a:p>
          <a:p>
            <a:pPr>
              <a:spcAft>
                <a:spcPts val="600"/>
              </a:spcAft>
            </a:pPr>
            <a:r>
              <a:rPr b="1" sz="1250">
                <a:solidFill>
                  <a:srgbClr val="1E293B"/>
                </a:solidFill>
                <a:latin typeface="微软雅黑"/>
              </a:rPr>
              <a:t>化解手段：</a:t>
            </a:r>
            <a:r>
              <a:rPr sz="1250">
                <a:solidFill>
                  <a:srgbClr val="1E293B"/>
                </a:solidFill>
                <a:latin typeface="宋体"/>
              </a:rPr>
              <a:t>只租不售、承诺保价、版本迭代。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大数据“杀熟”与算法价格歧视</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12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算法驱动的一级价格歧视拟合</a:t>
            </a:r>
          </a:p>
          <a:p>
            <a:pPr>
              <a:spcAft>
                <a:spcPts val="600"/>
              </a:spcAft>
            </a:pPr>
            <a:r>
              <a:rPr b="1" sz="1250">
                <a:solidFill>
                  <a:srgbClr val="1E293B"/>
                </a:solidFill>
                <a:latin typeface="微软雅黑"/>
              </a:rPr>
              <a:t>用户画像：</a:t>
            </a:r>
            <a:r>
              <a:rPr sz="1250">
                <a:solidFill>
                  <a:srgbClr val="1E293B"/>
                </a:solidFill>
                <a:latin typeface="宋体"/>
              </a:rPr>
              <a:t>基于浏览历史、设备型号、支付习惯实时推算最高保留价格。</a:t>
            </a:r>
          </a:p>
          <a:p>
            <a:pPr>
              <a:spcAft>
                <a:spcPts val="600"/>
              </a:spcAft>
            </a:pPr>
            <a:r>
              <a:rPr b="1" sz="1250">
                <a:solidFill>
                  <a:srgbClr val="1E293B"/>
                </a:solidFill>
                <a:latin typeface="微软雅黑"/>
              </a:rPr>
              <a:t>动态定价：</a:t>
            </a:r>
            <a:r>
              <a:rPr sz="1250">
                <a:solidFill>
                  <a:srgbClr val="1E293B"/>
                </a:solidFill>
                <a:latin typeface="宋体"/>
              </a:rPr>
              <a:t>对高粘性老用户显示更高价格，对新用户发放优惠券。</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算法隐蔽性与不公平交易</a:t>
            </a:r>
          </a:p>
          <a:p>
            <a:pPr>
              <a:spcAft>
                <a:spcPts val="600"/>
              </a:spcAft>
            </a:pPr>
            <a:r>
              <a:rPr b="1" sz="1250">
                <a:solidFill>
                  <a:srgbClr val="1E293B"/>
                </a:solidFill>
                <a:latin typeface="微软雅黑"/>
              </a:rPr>
              <a:t>侵犯知情权：</a:t>
            </a:r>
            <a:r>
              <a:rPr sz="1250">
                <a:solidFill>
                  <a:srgbClr val="1E293B"/>
                </a:solidFill>
                <a:latin typeface="宋体"/>
              </a:rPr>
              <a:t>利用信息不对称暗中差别定价，破坏消费者信任。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中国电商与机票预订价格歧视实践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13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航空机票阶梯定价</a:t>
            </a:r>
          </a:p>
          <a:p>
            <a:pPr>
              <a:spcAft>
                <a:spcPts val="600"/>
              </a:spcAft>
            </a:pPr>
            <a:r>
              <a:rPr b="1" sz="1250">
                <a:solidFill>
                  <a:srgbClr val="1E293B"/>
                </a:solidFill>
                <a:latin typeface="微软雅黑"/>
              </a:rPr>
              <a:t>三级价格歧视应用：</a:t>
            </a:r>
            <a:r>
              <a:rPr sz="1250">
                <a:solidFill>
                  <a:srgbClr val="1E293B"/>
                </a:solidFill>
                <a:latin typeface="宋体"/>
              </a:rPr>
              <a:t>提前预订打折票（价格敏感型游客）vs 临时商务全价票（价格不敏感商务客）。</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电商平台优惠券与百亿补贴</a:t>
            </a:r>
          </a:p>
          <a:p>
            <a:pPr>
              <a:spcAft>
                <a:spcPts val="600"/>
              </a:spcAft>
            </a:pPr>
            <a:r>
              <a:rPr b="1" sz="1250">
                <a:solidFill>
                  <a:srgbClr val="1E293B"/>
                </a:solidFill>
                <a:latin typeface="微软雅黑"/>
              </a:rPr>
              <a:t>二级价格歧视应用：</a:t>
            </a:r>
            <a:r>
              <a:rPr sz="1250">
                <a:solidFill>
                  <a:srgbClr val="1E293B"/>
                </a:solidFill>
                <a:latin typeface="宋体"/>
              </a:rPr>
              <a:t>通过复杂领券、凑单规则区分时间成本高的富人与时间成本低的打工人。</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价格歧视类型、定价机制与福利评价矩阵</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14 / 16 页</a:t>
            </a:r>
          </a:p>
        </p:txBody>
      </p:sp>
      <p:graphicFrame>
        <p:nvGraphicFramePr>
          <p:cNvPr id="6" name="Table 5"/>
          <p:cNvGraphicFramePr>
            <a:graphicFrameLocks noGrp="1"/>
          </p:cNvGraphicFramePr>
          <p:nvPr/>
        </p:nvGraphicFramePr>
        <p:xfrm>
          <a:off x="731520" y="1554480"/>
          <a:ext cx="10728655" cy="457200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914400">
                <a:tc>
                  <a:txBody>
                    <a:bodyPr/>
                    <a:lstStyle/>
                    <a:p>
                      <a:pPr algn="ctr">
                        <a:defRPr sz="1300" b="1">
                          <a:solidFill>
                            <a:srgbClr val="FFFFFF"/>
                          </a:solidFill>
                          <a:latin typeface="微软雅黑"/>
                        </a:defRPr>
                      </a:pPr>
                      <a:r>
                        <a:t>价格歧视类型</a:t>
                      </a:r>
                    </a:p>
                  </a:txBody>
                  <a:tcPr>
                    <a:solidFill>
                      <a:srgbClr val="1B4965"/>
                    </a:solidFill>
                  </a:tcPr>
                </a:tc>
                <a:tc>
                  <a:txBody>
                    <a:bodyPr/>
                    <a:lstStyle/>
                    <a:p>
                      <a:pPr algn="ctr">
                        <a:defRPr sz="1300" b="1">
                          <a:solidFill>
                            <a:srgbClr val="FFFFFF"/>
                          </a:solidFill>
                          <a:latin typeface="微软雅黑"/>
                        </a:defRPr>
                      </a:pPr>
                      <a:r>
                        <a:t>实施依据 / 机制</a:t>
                      </a:r>
                    </a:p>
                  </a:txBody>
                  <a:tcPr>
                    <a:solidFill>
                      <a:srgbClr val="1B4965"/>
                    </a:solidFill>
                  </a:tcPr>
                </a:tc>
                <a:tc>
                  <a:txBody>
                    <a:bodyPr/>
                    <a:lstStyle/>
                    <a:p>
                      <a:pPr algn="ctr">
                        <a:defRPr sz="1300" b="1">
                          <a:solidFill>
                            <a:srgbClr val="FFFFFF"/>
                          </a:solidFill>
                          <a:latin typeface="微软雅黑"/>
                        </a:defRPr>
                      </a:pPr>
                      <a:r>
                        <a:t>剩余抽取程度</a:t>
                      </a:r>
                    </a:p>
                  </a:txBody>
                  <a:tcPr>
                    <a:solidFill>
                      <a:srgbClr val="1B4965"/>
                    </a:solidFill>
                  </a:tcPr>
                </a:tc>
                <a:tc>
                  <a:txBody>
                    <a:bodyPr/>
                    <a:lstStyle/>
                    <a:p>
                      <a:pPr algn="ctr">
                        <a:defRPr sz="1300" b="1">
                          <a:solidFill>
                            <a:srgbClr val="FFFFFF"/>
                          </a:solidFill>
                          <a:latin typeface="微软雅黑"/>
                        </a:defRPr>
                      </a:pPr>
                      <a:r>
                        <a:t>社会总福利 (DWL)</a:t>
                      </a:r>
                    </a:p>
                  </a:txBody>
                  <a:tcPr>
                    <a:solidFill>
                      <a:srgbClr val="1B4965"/>
                    </a:solidFill>
                  </a:tcPr>
                </a:tc>
                <a:tc>
                  <a:txBody>
                    <a:bodyPr/>
                    <a:lstStyle/>
                    <a:p>
                      <a:pPr algn="ctr">
                        <a:defRPr sz="1300" b="1">
                          <a:solidFill>
                            <a:srgbClr val="FFFFFF"/>
                          </a:solidFill>
                          <a:latin typeface="微软雅黑"/>
                        </a:defRPr>
                      </a:pPr>
                      <a:r>
                        <a:t>反垄断规制态度</a:t>
                      </a:r>
                    </a:p>
                  </a:txBody>
                  <a:tcPr>
                    <a:solidFill>
                      <a:srgbClr val="1B4965"/>
                    </a:solidFill>
                  </a:tcPr>
                </a:tc>
              </a:tr>
              <a:tr h="914400">
                <a:tc>
                  <a:txBody>
                    <a:bodyPr/>
                    <a:lstStyle/>
                    <a:p>
                      <a:pPr>
                        <a:defRPr sz="1100">
                          <a:solidFill>
                            <a:srgbClr val="1E293B"/>
                          </a:solidFill>
                          <a:latin typeface="宋体"/>
                        </a:defRPr>
                      </a:pPr>
                      <a:r>
                        <a:t>一级价格歧视</a:t>
                      </a:r>
                    </a:p>
                  </a:txBody>
                  <a:tcPr>
                    <a:solidFill>
                      <a:srgbClr val="FFFFFF"/>
                    </a:solidFill>
                  </a:tcPr>
                </a:tc>
                <a:tc>
                  <a:txBody>
                    <a:bodyPr/>
                    <a:lstStyle/>
                    <a:p>
                      <a:pPr>
                        <a:defRPr sz="1100">
                          <a:solidFill>
                            <a:srgbClr val="1E293B"/>
                          </a:solidFill>
                          <a:latin typeface="宋体"/>
                        </a:defRPr>
                      </a:pPr>
                      <a:r>
                        <a:t>已知个体保留价格</a:t>
                      </a:r>
                    </a:p>
                  </a:txBody>
                  <a:tcPr>
                    <a:solidFill>
                      <a:srgbClr val="FFFFFF"/>
                    </a:solidFill>
                  </a:tcPr>
                </a:tc>
                <a:tc>
                  <a:txBody>
                    <a:bodyPr/>
                    <a:lstStyle/>
                    <a:p>
                      <a:pPr>
                        <a:defRPr sz="1100">
                          <a:solidFill>
                            <a:srgbClr val="1E293B"/>
                          </a:solidFill>
                          <a:latin typeface="宋体"/>
                        </a:defRPr>
                      </a:pPr>
                      <a:r>
                        <a:t>100% 榨干</a:t>
                      </a:r>
                    </a:p>
                  </a:txBody>
                  <a:tcPr>
                    <a:solidFill>
                      <a:srgbClr val="FFFFFF"/>
                    </a:solidFill>
                  </a:tcPr>
                </a:tc>
                <a:tc>
                  <a:txBody>
                    <a:bodyPr/>
                    <a:lstStyle/>
                    <a:p>
                      <a:pPr>
                        <a:defRPr sz="1100">
                          <a:solidFill>
                            <a:srgbClr val="1E293B"/>
                          </a:solidFill>
                          <a:latin typeface="宋体"/>
                        </a:defRPr>
                      </a:pPr>
                      <a:r>
                        <a:t>DWL = 0 (总福利最大)</a:t>
                      </a:r>
                    </a:p>
                  </a:txBody>
                  <a:tcPr>
                    <a:solidFill>
                      <a:srgbClr val="FFFFFF"/>
                    </a:solidFill>
                  </a:tcPr>
                </a:tc>
                <a:tc>
                  <a:txBody>
                    <a:bodyPr/>
                    <a:lstStyle/>
                    <a:p>
                      <a:pPr>
                        <a:defRPr sz="1100">
                          <a:solidFill>
                            <a:srgbClr val="1E293B"/>
                          </a:solidFill>
                          <a:latin typeface="宋体"/>
                        </a:defRPr>
                      </a:pPr>
                      <a:r>
                        <a:t>极为罕见，关注公平</a:t>
                      </a:r>
                    </a:p>
                  </a:txBody>
                  <a:tcPr>
                    <a:solidFill>
                      <a:srgbClr val="FFFFFF"/>
                    </a:solidFill>
                  </a:tcPr>
                </a:tc>
              </a:tr>
              <a:tr h="914400">
                <a:tc>
                  <a:txBody>
                    <a:bodyPr/>
                    <a:lstStyle/>
                    <a:p>
                      <a:pPr>
                        <a:defRPr sz="1100">
                          <a:solidFill>
                            <a:srgbClr val="1E293B"/>
                          </a:solidFill>
                          <a:latin typeface="宋体"/>
                        </a:defRPr>
                      </a:pPr>
                      <a:r>
                        <a:t>二级价格歧视</a:t>
                      </a:r>
                    </a:p>
                  </a:txBody>
                  <a:tcPr>
                    <a:solidFill>
                      <a:srgbClr val="F1F5F9"/>
                    </a:solidFill>
                  </a:tcPr>
                </a:tc>
                <a:tc>
                  <a:txBody>
                    <a:bodyPr/>
                    <a:lstStyle/>
                    <a:p>
                      <a:pPr>
                        <a:defRPr sz="1100">
                          <a:solidFill>
                            <a:srgbClr val="1E293B"/>
                          </a:solidFill>
                          <a:latin typeface="宋体"/>
                        </a:defRPr>
                      </a:pPr>
                      <a:r>
                        <a:t>自选择套餐/数量折扣</a:t>
                      </a:r>
                    </a:p>
                  </a:txBody>
                  <a:tcPr>
                    <a:solidFill>
                      <a:srgbClr val="F1F5F9"/>
                    </a:solidFill>
                  </a:tcPr>
                </a:tc>
                <a:tc>
                  <a:txBody>
                    <a:bodyPr/>
                    <a:lstStyle/>
                    <a:p>
                      <a:pPr>
                        <a:defRPr sz="1100">
                          <a:solidFill>
                            <a:srgbClr val="1E293B"/>
                          </a:solidFill>
                          <a:latin typeface="宋体"/>
                        </a:defRPr>
                      </a:pPr>
                      <a:r>
                        <a:t>部分抽取</a:t>
                      </a:r>
                    </a:p>
                  </a:txBody>
                  <a:tcPr>
                    <a:solidFill>
                      <a:srgbClr val="F1F5F9"/>
                    </a:solidFill>
                  </a:tcPr>
                </a:tc>
                <a:tc>
                  <a:txBody>
                    <a:bodyPr/>
                    <a:lstStyle/>
                    <a:p>
                      <a:pPr>
                        <a:defRPr sz="1100">
                          <a:solidFill>
                            <a:srgbClr val="1E293B"/>
                          </a:solidFill>
                          <a:latin typeface="宋体"/>
                        </a:defRPr>
                      </a:pPr>
                      <a:r>
                        <a:t>DWL 小幅存在</a:t>
                      </a:r>
                    </a:p>
                  </a:txBody>
                  <a:tcPr>
                    <a:solidFill>
                      <a:srgbClr val="F1F5F9"/>
                    </a:solidFill>
                  </a:tcPr>
                </a:tc>
                <a:tc>
                  <a:txBody>
                    <a:bodyPr/>
                    <a:lstStyle/>
                    <a:p>
                      <a:pPr>
                        <a:defRPr sz="1100">
                          <a:solidFill>
                            <a:srgbClr val="1E293B"/>
                          </a:solidFill>
                          <a:latin typeface="宋体"/>
                        </a:defRPr>
                      </a:pPr>
                      <a:r>
                        <a:t>通常认可，促进消费</a:t>
                      </a:r>
                    </a:p>
                  </a:txBody>
                  <a:tcPr>
                    <a:solidFill>
                      <a:srgbClr val="F1F5F9"/>
                    </a:solidFill>
                  </a:tcPr>
                </a:tc>
              </a:tr>
              <a:tr h="914400">
                <a:tc>
                  <a:txBody>
                    <a:bodyPr/>
                    <a:lstStyle/>
                    <a:p>
                      <a:pPr>
                        <a:defRPr sz="1100">
                          <a:solidFill>
                            <a:srgbClr val="1E293B"/>
                          </a:solidFill>
                          <a:latin typeface="宋体"/>
                        </a:defRPr>
                      </a:pPr>
                      <a:r>
                        <a:t>三级价格歧视</a:t>
                      </a:r>
                    </a:p>
                  </a:txBody>
                  <a:tcPr>
                    <a:solidFill>
                      <a:srgbClr val="FFFFFF"/>
                    </a:solidFill>
                  </a:tcPr>
                </a:tc>
                <a:tc>
                  <a:txBody>
                    <a:bodyPr/>
                    <a:lstStyle/>
                    <a:p>
                      <a:pPr>
                        <a:defRPr sz="1100">
                          <a:solidFill>
                            <a:srgbClr val="1E293B"/>
                          </a:solidFill>
                          <a:latin typeface="宋体"/>
                        </a:defRPr>
                      </a:pPr>
                      <a:r>
                        <a:t>可观测身份/地域分割</a:t>
                      </a:r>
                    </a:p>
                  </a:txBody>
                  <a:tcPr>
                    <a:solidFill>
                      <a:srgbClr val="FFFFFF"/>
                    </a:solidFill>
                  </a:tcPr>
                </a:tc>
                <a:tc>
                  <a:txBody>
                    <a:bodyPr/>
                    <a:lstStyle/>
                    <a:p>
                      <a:pPr>
                        <a:defRPr sz="1100">
                          <a:solidFill>
                            <a:srgbClr val="1E293B"/>
                          </a:solidFill>
                          <a:latin typeface="宋体"/>
                        </a:defRPr>
                      </a:pPr>
                      <a:r>
                        <a:t>按弹性反比抽取</a:t>
                      </a:r>
                    </a:p>
                  </a:txBody>
                  <a:tcPr>
                    <a:solidFill>
                      <a:srgbClr val="FFFFFF"/>
                    </a:solidFill>
                  </a:tcPr>
                </a:tc>
                <a:tc>
                  <a:txBody>
                    <a:bodyPr/>
                    <a:lstStyle/>
                    <a:p>
                      <a:pPr>
                        <a:defRPr sz="1100">
                          <a:solidFill>
                            <a:srgbClr val="1E293B"/>
                          </a:solidFill>
                          <a:latin typeface="宋体"/>
                        </a:defRPr>
                      </a:pPr>
                      <a:r>
                        <a:t>取决于总产量是否扩大</a:t>
                      </a:r>
                    </a:p>
                  </a:txBody>
                  <a:tcPr>
                    <a:solidFill>
                      <a:srgbClr val="FFFFFF"/>
                    </a:solidFill>
                  </a:tcPr>
                </a:tc>
                <a:tc>
                  <a:txBody>
                    <a:bodyPr/>
                    <a:lstStyle/>
                    <a:p>
                      <a:pPr>
                        <a:defRPr sz="1100">
                          <a:solidFill>
                            <a:srgbClr val="1E293B"/>
                          </a:solidFill>
                          <a:latin typeface="宋体"/>
                        </a:defRPr>
                      </a:pPr>
                      <a:r>
                        <a:t>关注是否存在价格歧视霸凌</a:t>
                      </a:r>
                    </a:p>
                  </a:txBody>
                  <a:tcPr>
                    <a:solidFill>
                      <a:srgbClr val="FFFFFF"/>
                    </a:solidFill>
                  </a:tcPr>
                </a:tc>
              </a:tr>
              <a:tr h="914400">
                <a:tc>
                  <a:txBody>
                    <a:bodyPr/>
                    <a:lstStyle/>
                    <a:p>
                      <a:pPr>
                        <a:defRPr sz="1100">
                          <a:solidFill>
                            <a:srgbClr val="1E293B"/>
                          </a:solidFill>
                          <a:latin typeface="宋体"/>
                        </a:defRPr>
                      </a:pPr>
                      <a:r>
                        <a:t>两部收费制</a:t>
                      </a:r>
                    </a:p>
                  </a:txBody>
                  <a:tcPr>
                    <a:solidFill>
                      <a:srgbClr val="F1F5F9"/>
                    </a:solidFill>
                  </a:tcPr>
                </a:tc>
                <a:tc>
                  <a:txBody>
                    <a:bodyPr/>
                    <a:lstStyle/>
                    <a:p>
                      <a:pPr>
                        <a:defRPr sz="1100">
                          <a:solidFill>
                            <a:srgbClr val="1E293B"/>
                          </a:solidFill>
                          <a:latin typeface="宋体"/>
                        </a:defRPr>
                      </a:pPr>
                      <a:r>
                        <a:t>固定费 T + 单价 p</a:t>
                      </a:r>
                    </a:p>
                  </a:txBody>
                  <a:tcPr>
                    <a:solidFill>
                      <a:srgbClr val="F1F5F9"/>
                    </a:solidFill>
                  </a:tcPr>
                </a:tc>
                <a:tc>
                  <a:txBody>
                    <a:bodyPr/>
                    <a:lstStyle/>
                    <a:p>
                      <a:pPr>
                        <a:defRPr sz="1100">
                          <a:solidFill>
                            <a:srgbClr val="1E293B"/>
                          </a:solidFill>
                          <a:latin typeface="宋体"/>
                        </a:defRPr>
                      </a:pPr>
                      <a:r>
                        <a:t>深度抽取</a:t>
                      </a:r>
                    </a:p>
                  </a:txBody>
                  <a:tcPr>
                    <a:solidFill>
                      <a:srgbClr val="F1F5F9"/>
                    </a:solidFill>
                  </a:tcPr>
                </a:tc>
                <a:tc>
                  <a:txBody>
                    <a:bodyPr/>
                    <a:lstStyle/>
                    <a:p>
                      <a:pPr>
                        <a:defRPr sz="1100">
                          <a:solidFill>
                            <a:srgbClr val="1E293B"/>
                          </a:solidFill>
                          <a:latin typeface="宋体"/>
                        </a:defRPr>
                      </a:pPr>
                      <a:r>
                        <a:t>p=MC 时福利最高</a:t>
                      </a:r>
                    </a:p>
                  </a:txBody>
                  <a:tcPr>
                    <a:solidFill>
                      <a:srgbClr val="F1F5F9"/>
                    </a:solidFill>
                  </a:tcPr>
                </a:tc>
                <a:tc>
                  <a:txBody>
                    <a:bodyPr/>
                    <a:lstStyle/>
                    <a:p>
                      <a:pPr>
                        <a:defRPr sz="1100">
                          <a:solidFill>
                            <a:srgbClr val="1E293B"/>
                          </a:solidFill>
                          <a:latin typeface="宋体"/>
                        </a:defRPr>
                      </a:pPr>
                      <a:r>
                        <a:t>关注是否构成隐性壁垒</a:t>
                      </a:r>
                    </a:p>
                  </a:txBody>
                  <a:tcPr>
                    <a:solidFill>
                      <a:srgbClr val="F1F5F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第 15 节 延伸视角｜价格歧视策略与市场势力深度研讨</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15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市场势力（Market Power）拓展分析 15-A</a:t>
            </a:r>
          </a:p>
          <a:p>
            <a:pPr>
              <a:spcAft>
                <a:spcPts val="600"/>
              </a:spcAft>
            </a:pPr>
            <a:r>
              <a:rPr b="1" sz="1250">
                <a:solidFill>
                  <a:srgbClr val="1E293B"/>
                </a:solidFill>
                <a:latin typeface="微软雅黑"/>
              </a:rPr>
              <a:t>理论深化：</a:t>
            </a:r>
            <a:r>
              <a:rPr sz="1250">
                <a:solidFill>
                  <a:srgbClr val="1E293B"/>
                </a:solidFill>
                <a:latin typeface="宋体"/>
              </a:rPr>
              <a:t>围绕《产业经济学》（第3版）第5章的核心机制进行博弈与福利深化。</a:t>
            </a:r>
          </a:p>
          <a:p>
            <a:pPr>
              <a:spcAft>
                <a:spcPts val="600"/>
              </a:spcAft>
            </a:pPr>
            <a:r>
              <a:rPr b="1" sz="1250">
                <a:solidFill>
                  <a:srgbClr val="1E293B"/>
                </a:solidFill>
                <a:latin typeface="微软雅黑"/>
              </a:rPr>
              <a:t>现实映射：</a:t>
            </a:r>
            <a:r>
              <a:rPr sz="1250">
                <a:solidFill>
                  <a:srgbClr val="1E293B"/>
                </a:solidFill>
                <a:latin typeface="宋体"/>
              </a:rPr>
              <a:t>考察市场结构变迁对企业定价、规模扩张与行业效益的传导机制。</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反垄断与微观规制视角 15-B</a:t>
            </a:r>
          </a:p>
          <a:p>
            <a:pPr>
              <a:spcAft>
                <a:spcPts val="600"/>
              </a:spcAft>
            </a:pPr>
            <a:r>
              <a:rPr b="1" sz="1250">
                <a:solidFill>
                  <a:srgbClr val="1E293B"/>
                </a:solidFill>
                <a:latin typeface="微软雅黑"/>
              </a:rPr>
              <a:t>政策导向：</a:t>
            </a:r>
            <a:r>
              <a:rPr sz="1250">
                <a:solidFill>
                  <a:srgbClr val="1E293B"/>
                </a:solidFill>
                <a:latin typeface="宋体"/>
              </a:rPr>
              <a:t>评估政府行政干预与竞争政策在防范市场势力滥用中的边界。</a:t>
            </a:r>
          </a:p>
          <a:p>
            <a:pPr>
              <a:spcAft>
                <a:spcPts val="600"/>
              </a:spcAft>
            </a:pPr>
            <a:r>
              <a:rPr b="1" sz="1250">
                <a:solidFill>
                  <a:srgbClr val="1E293B"/>
                </a:solidFill>
                <a:latin typeface="微软雅黑"/>
              </a:rPr>
              <a:t>治理创新：</a:t>
            </a:r>
            <a:r>
              <a:rPr sz="1250">
                <a:solidFill>
                  <a:srgbClr val="1E293B"/>
                </a:solidFill>
                <a:latin typeface="宋体"/>
              </a:rPr>
              <a:t>推动竞争政策基础地位与全国统一大市场建设的协同。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defRPr sz="1000" b="1">
                <a:solidFill>
                  <a:srgbClr val="2D6A4F"/>
                </a:solidFill>
                <a:latin typeface="微软雅黑"/>
              </a:defRPr>
            </a:pPr>
            <a:r>
              <a:t>产业经济学（第3版）· 刘志彪 | 第五章  价格歧视</a:t>
            </a:r>
          </a:p>
        </p:txBody>
      </p:sp>
      <p:sp>
        <p:nvSpPr>
          <p:cNvPr id="3" name="TextBox 2"/>
          <p:cNvSpPr txBox="1"/>
          <p:nvPr/>
        </p:nvSpPr>
        <p:spPr>
          <a:xfrm>
            <a:off x="731520" y="640080"/>
            <a:ext cx="10728655" cy="640080"/>
          </a:xfrm>
          <a:prstGeom prst="rect">
            <a:avLst/>
          </a:prstGeom>
          <a:noFill/>
        </p:spPr>
        <p:txBody>
          <a:bodyPr wrap="square">
            <a:spAutoFit/>
          </a:bodyPr>
          <a:lstStyle/>
          <a:p>
            <a:pPr>
              <a:defRPr sz="2200" b="1">
                <a:solidFill>
                  <a:srgbClr val="1B4965"/>
                </a:solidFill>
                <a:latin typeface="微软雅黑"/>
              </a:defRPr>
            </a:pPr>
            <a:r>
              <a:t>思考与研讨｜大数据“杀熟”的反垄断规制</a:t>
            </a:r>
          </a:p>
        </p:txBody>
      </p:sp>
      <p:sp>
        <p:nvSpPr>
          <p:cNvPr id="4" name="Rectangle 3"/>
          <p:cNvSpPr/>
          <p:nvPr/>
        </p:nvSpPr>
        <p:spPr>
          <a:xfrm>
            <a:off x="731520" y="128016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00800"/>
            <a:ext cx="10728655" cy="274320"/>
          </a:xfrm>
          <a:prstGeom prst="rect">
            <a:avLst/>
          </a:prstGeom>
          <a:noFill/>
        </p:spPr>
        <p:txBody>
          <a:bodyPr wrap="none">
            <a:spAutoFit/>
          </a:bodyPr>
          <a:lstStyle/>
          <a:p>
            <a:pPr algn="r">
              <a:defRPr sz="1000">
                <a:solidFill>
                  <a:srgbClr val="64748B"/>
                </a:solidFill>
                <a:latin typeface="微软雅黑"/>
              </a:defRPr>
            </a:pPr>
            <a:r>
              <a:t>主线视角：市场势力（Market Power）的演化与规制  |  第 16 / 16 页</a:t>
            </a:r>
          </a:p>
        </p:txBody>
      </p:sp>
      <p:sp>
        <p:nvSpPr>
          <p:cNvPr id="6" name="Rounded Rectangle 5"/>
          <p:cNvSpPr/>
          <p:nvPr/>
        </p:nvSpPr>
        <p:spPr>
          <a:xfrm>
            <a:off x="73152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54480"/>
            <a:ext cx="5120640" cy="73152"/>
          </a:xfrm>
          <a:prstGeom prst="rect">
            <a:avLst/>
          </a:prstGeom>
          <a:solidFill>
            <a:srgbClr val="1B49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754880" cy="4297680"/>
          </a:xfrm>
          <a:prstGeom prst="rect">
            <a:avLst/>
          </a:prstGeom>
          <a:noFill/>
        </p:spPr>
        <p:txBody>
          <a:bodyPr wrap="square">
            <a:spAutoFit/>
          </a:bodyPr>
          <a:lstStyle/>
          <a:p>
            <a:pPr>
              <a:spcAft>
                <a:spcPts val="800"/>
              </a:spcAft>
              <a:defRPr sz="1500" b="1">
                <a:solidFill>
                  <a:srgbClr val="1B4965"/>
                </a:solidFill>
                <a:latin typeface="微软雅黑"/>
              </a:defRPr>
            </a:pPr>
            <a:r>
              <a:t>1. 《反垄断法》中的差别待遇认定</a:t>
            </a:r>
          </a:p>
          <a:p>
            <a:pPr>
              <a:spcAft>
                <a:spcPts val="600"/>
              </a:spcAft>
            </a:pPr>
            <a:r>
              <a:rPr b="1" sz="1250">
                <a:solidFill>
                  <a:srgbClr val="1E293B"/>
                </a:solidFill>
                <a:latin typeface="微软雅黑"/>
              </a:rPr>
              <a:t>法律规定：</a:t>
            </a:r>
            <a:r>
              <a:rPr sz="1250">
                <a:solidFill>
                  <a:srgbClr val="1E293B"/>
                </a:solidFill>
                <a:latin typeface="宋体"/>
              </a:rPr>
              <a:t>禁止具有市场支配地位的经营者无正当理由实行差别待遇。</a:t>
            </a:r>
          </a:p>
          <a:p>
            <a:pPr>
              <a:spcAft>
                <a:spcPts val="600"/>
              </a:spcAft>
            </a:pPr>
            <a:r>
              <a:rPr b="1" sz="1250">
                <a:solidFill>
                  <a:srgbClr val="1E293B"/>
                </a:solidFill>
                <a:latin typeface="微软雅黑"/>
              </a:rPr>
              <a:t>争议：</a:t>
            </a:r>
            <a:r>
              <a:rPr sz="1250">
                <a:solidFill>
                  <a:srgbClr val="1E293B"/>
                </a:solidFill>
                <a:latin typeface="宋体"/>
              </a:rPr>
              <a:t>平台发放定向优惠券属于正常市场竞争还是违法差别待遇？</a:t>
            </a:r>
          </a:p>
        </p:txBody>
      </p:sp>
      <p:sp>
        <p:nvSpPr>
          <p:cNvPr id="9" name="Rounded Rectangle 8"/>
          <p:cNvSpPr/>
          <p:nvPr/>
        </p:nvSpPr>
        <p:spPr>
          <a:xfrm>
            <a:off x="6309360" y="155448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120640"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754880" cy="4297680"/>
          </a:xfrm>
          <a:prstGeom prst="rect">
            <a:avLst/>
          </a:prstGeom>
          <a:noFill/>
        </p:spPr>
        <p:txBody>
          <a:bodyPr wrap="square">
            <a:spAutoFit/>
          </a:bodyPr>
          <a:lstStyle/>
          <a:p>
            <a:pPr>
              <a:spcAft>
                <a:spcPts val="800"/>
              </a:spcAft>
              <a:defRPr sz="1500" b="1">
                <a:solidFill>
                  <a:srgbClr val="2D6A4F"/>
                </a:solidFill>
                <a:latin typeface="微软雅黑"/>
              </a:defRPr>
            </a:pPr>
            <a:r>
              <a:t>2. 数据透明度与消费者算法选择权</a:t>
            </a:r>
          </a:p>
          <a:p>
            <a:pPr>
              <a:spcAft>
                <a:spcPts val="600"/>
              </a:spcAft>
            </a:pPr>
            <a:r>
              <a:rPr b="1" sz="1250">
                <a:solidFill>
                  <a:srgbClr val="1E293B"/>
                </a:solidFill>
                <a:latin typeface="微软雅黑"/>
              </a:rPr>
              <a:t>规制探索：</a:t>
            </a:r>
            <a:r>
              <a:rPr sz="1250">
                <a:solidFill>
                  <a:srgbClr val="1E293B"/>
                </a:solidFill>
                <a:latin typeface="宋体"/>
              </a:rPr>
              <a:t>要求平台提供一键关闭个性化推荐与算法定价功能。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