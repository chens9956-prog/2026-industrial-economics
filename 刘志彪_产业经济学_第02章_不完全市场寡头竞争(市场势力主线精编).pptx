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10362895" cy="137160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6A4F"/>
                </a:solidFill>
                <a:latin typeface="微软雅黑"/>
              </a:defRPr>
            </a:pPr>
            <a:r>
              <a:t>产业经济学 · 核心教材精讲</a:t>
            </a:r>
          </a:p>
          <a:p>
            <a:pPr>
              <a:spcBef>
                <a:spcPts val="1000"/>
              </a:spcBef>
              <a:defRPr sz="3000" b="1">
                <a:solidFill>
                  <a:srgbClr val="1B4965"/>
                </a:solidFill>
                <a:latin typeface="微软雅黑"/>
              </a:defRPr>
            </a:pPr>
            <a:r>
              <a:t>第二章  不完全市场寡头竞争</a:t>
            </a:r>
          </a:p>
          <a:p>
            <a:pPr>
              <a:spcBef>
                <a:spcPts val="1500"/>
              </a:spcBef>
              <a:defRPr sz="1800" b="1">
                <a:solidFill>
                  <a:srgbClr val="C58A21"/>
                </a:solidFill>
                <a:latin typeface="微软雅黑"/>
              </a:defRPr>
            </a:pPr>
            <a:r>
              <a:t>【核心主线】：市场结构形态、寡头博弈与市场势力的形成机制</a:t>
            </a:r>
          </a:p>
          <a:p>
            <a:pPr>
              <a:spcBef>
                <a:spcPts val="2500"/>
              </a:spcBef>
              <a:defRPr sz="1400">
                <a:solidFill>
                  <a:srgbClr val="64748B"/>
                </a:solidFill>
                <a:latin typeface="宋体"/>
              </a:defRPr>
            </a:pPr>
            <a:r>
              <a:t>教材依据：刘志彪《产业经济学》（第3版·高等教育/机械工业出版社）</a:t>
            </a:r>
            <a:br/>
            <a:r>
              <a:t>制作风格：自然清新 · 排版高尚大气 · 浅色系精品课件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第二章  不完全市场寡头竞争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本章目录与市场势力（Market Power）主线映射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2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第一节 不完全市场形态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核心内容：</a:t>
            </a:r>
            <a:r>
              <a:rPr sz="1250">
                <a:solidFill>
                  <a:srgbClr val="1E293B"/>
                </a:solidFill>
                <a:latin typeface="宋体"/>
              </a:rPr>
              <a:t>从完全竞争到独占垄断的连续光谱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主线映射：</a:t>
            </a:r>
            <a:r>
              <a:rPr sz="1250">
                <a:solidFill>
                  <a:srgbClr val="1E293B"/>
                </a:solidFill>
                <a:latin typeface="宋体"/>
              </a:rPr>
              <a:t>市场结构直接界定企业拥有的市场势力空间。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第二节 独占垄断市场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核心内容：</a:t>
            </a:r>
            <a:r>
              <a:rPr sz="1250">
                <a:solidFill>
                  <a:srgbClr val="1E293B"/>
                </a:solidFill>
                <a:latin typeface="宋体"/>
              </a:rPr>
              <a:t>纯粹市场势力的形成与无谓损失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主线映射：</a:t>
            </a:r>
            <a:r>
              <a:rPr sz="1250">
                <a:solidFill>
                  <a:srgbClr val="1E293B"/>
                </a:solidFill>
                <a:latin typeface="宋体"/>
              </a:rPr>
              <a:t>垄断者完全控制价格与产量，榨取垄断租金。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023360"/>
            <a:ext cx="5120640" cy="73152"/>
          </a:xfrm>
          <a:prstGeom prst="rect">
            <a:avLst/>
          </a:prstGeom>
          <a:solidFill>
            <a:srgbClr val="C58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0624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C58A21"/>
                </a:solidFill>
                <a:latin typeface="微软雅黑"/>
              </a:defRPr>
            </a:pPr>
            <a:r>
              <a:t>第三节 寡头垄断市场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核心内容：</a:t>
            </a:r>
            <a:r>
              <a:rPr sz="1250">
                <a:solidFill>
                  <a:srgbClr val="1E293B"/>
                </a:solidFill>
                <a:latin typeface="宋体"/>
              </a:rPr>
              <a:t>Cournot / Bertrand / Stackelberg 博弈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主线映射：</a:t>
            </a:r>
            <a:r>
              <a:rPr sz="1250">
                <a:solidFill>
                  <a:srgbClr val="1E293B"/>
                </a:solidFill>
                <a:latin typeface="宋体"/>
              </a:rPr>
              <a:t>企业策略互动决定市场势力的分割与保持。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402336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402336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420624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第四节 垄断竞争市场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核心内容：</a:t>
            </a:r>
            <a:r>
              <a:rPr sz="1250">
                <a:solidFill>
                  <a:srgbClr val="1E293B"/>
                </a:solidFill>
                <a:latin typeface="宋体"/>
              </a:rPr>
              <a:t>差异化产品与超额产能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主线映射：</a:t>
            </a:r>
            <a:r>
              <a:rPr sz="1250">
                <a:solidFill>
                  <a:srgbClr val="1E293B"/>
                </a:solidFill>
                <a:latin typeface="宋体"/>
              </a:rPr>
              <a:t>产品差异化赋予局部微弱市场势力。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第二章  不完全市场寡头竞争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第一节 不完全市场形态与市场势力光谱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3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市场结构的四大划分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完全竞争：</a:t>
            </a:r>
            <a:r>
              <a:rPr sz="1250">
                <a:solidFill>
                  <a:srgbClr val="1E293B"/>
                </a:solidFill>
                <a:latin typeface="宋体"/>
              </a:rPr>
              <a:t>厂商为价格接受者，市场势力为零 (L=0)。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垄断竞争：</a:t>
            </a:r>
            <a:r>
              <a:rPr sz="1250">
                <a:solidFill>
                  <a:srgbClr val="1E293B"/>
                </a:solidFill>
                <a:latin typeface="宋体"/>
              </a:rPr>
              <a:t>众多厂商，产品差异化，拥有局部微弱定价权。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寡头垄断：</a:t>
            </a:r>
            <a:r>
              <a:rPr sz="1250">
                <a:solidFill>
                  <a:srgbClr val="1E293B"/>
                </a:solidFill>
                <a:latin typeface="宋体"/>
              </a:rPr>
              <a:t>少数巨头垄断，策略高度互依，市场势力强。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独占垄断：</a:t>
            </a:r>
            <a:r>
              <a:rPr sz="1250">
                <a:solidFill>
                  <a:srgbClr val="1E293B"/>
                </a:solidFill>
                <a:latin typeface="宋体"/>
              </a:rPr>
              <a:t>单一厂商无替代品，拥有绝对定价权 (L极大)。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市场势力（Market Power）决定因素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市场集中度：</a:t>
            </a:r>
            <a:r>
              <a:rPr sz="1250">
                <a:solidFill>
                  <a:srgbClr val="1E293B"/>
                </a:solidFill>
                <a:latin typeface="宋体"/>
              </a:rPr>
              <a:t>少数企业控制的份额越高，市场势力越强。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产品替代性：</a:t>
            </a:r>
            <a:r>
              <a:rPr sz="1250">
                <a:solidFill>
                  <a:srgbClr val="1E293B"/>
                </a:solidFill>
                <a:latin typeface="宋体"/>
              </a:rPr>
              <a:t>替代品越少，企业面临的弹性越小，定价权越大。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进入壁垒高低：</a:t>
            </a:r>
            <a:r>
              <a:rPr sz="1250">
                <a:solidFill>
                  <a:srgbClr val="1E293B"/>
                </a:solidFill>
                <a:latin typeface="宋体"/>
              </a:rPr>
              <a:t>壁垒越高，长期的垄断市场势力越稳固。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第二章  不完全市场寡头竞争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第二节 独占垄断市场：极端市场势力的来源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4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垄断势力的主要来源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资源控制：</a:t>
            </a:r>
            <a:r>
              <a:rPr sz="1250">
                <a:solidFill>
                  <a:srgbClr val="1E293B"/>
                </a:solidFill>
                <a:latin typeface="宋体"/>
              </a:rPr>
              <a:t>独占关键原料或关键技术专利。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自然垄断：</a:t>
            </a:r>
            <a:r>
              <a:rPr sz="1250">
                <a:solidFill>
                  <a:srgbClr val="1E293B"/>
                </a:solidFill>
                <a:latin typeface="宋体"/>
              </a:rPr>
              <a:t>强规模经济使得单一企业生产成本最低。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特许特权：</a:t>
            </a:r>
            <a:r>
              <a:rPr sz="1250">
                <a:solidFill>
                  <a:srgbClr val="1E293B"/>
                </a:solidFill>
                <a:latin typeface="宋体"/>
              </a:rPr>
              <a:t>政府颁发的行政专营许可与特许经营权。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C58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C58A21"/>
                </a:solidFill>
                <a:latin typeface="微软雅黑"/>
              </a:defRPr>
            </a:pPr>
            <a:r>
              <a:t>2. 垄断均衡与无谓损失 (Deadweight Loss)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定价原则：</a:t>
            </a:r>
            <a:r>
              <a:rPr sz="1250">
                <a:solidFill>
                  <a:srgbClr val="1E293B"/>
                </a:solidFill>
                <a:latin typeface="宋体"/>
              </a:rPr>
              <a:t>边际收益等于边际成本 (MR = MC)。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社会福利损失：</a:t>
            </a:r>
            <a:r>
              <a:rPr sz="1250">
                <a:solidFill>
                  <a:srgbClr val="1E293B"/>
                </a:solidFill>
                <a:latin typeface="宋体"/>
              </a:rPr>
              <a:t>垄断高价限制产量，造成 Deadweight Loss。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租金寻求 (Rent Seeking)：</a:t>
            </a:r>
            <a:r>
              <a:rPr sz="1250">
                <a:solidFill>
                  <a:srgbClr val="1E293B"/>
                </a:solidFill>
                <a:latin typeface="宋体"/>
              </a:rPr>
              <a:t>企业为维持垄断地位投入额外资源寻租。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第二章  不完全市场寡头竞争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第三节 古诺（Cournot）双寡头产量博弈模型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5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模型基本设定与推导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需求与成本：</a:t>
            </a:r>
            <a:r>
              <a:rPr sz="1250">
                <a:solidFill>
                  <a:srgbClr val="1E293B"/>
                </a:solidFill>
                <a:latin typeface="宋体"/>
              </a:rPr>
              <a:t>逆需求 P = a - b(q1 + q2)，边际成本均为 c。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反应函数：</a:t>
            </a:r>
            <a:r>
              <a:rPr sz="1250">
                <a:solidFill>
                  <a:srgbClr val="1E293B"/>
                </a:solidFill>
                <a:latin typeface="宋体"/>
              </a:rPr>
              <a:t>q1 = (a - c - b q2) / (2b)；q2 = (a - c - b q1) / (2b)。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纳什均衡：</a:t>
            </a:r>
            <a:r>
              <a:rPr sz="1250">
                <a:solidFill>
                  <a:srgbClr val="1E293B"/>
                </a:solidFill>
                <a:latin typeface="宋体"/>
              </a:rPr>
              <a:t>q1* = q2* = (a - c) / (3b)；P* = (a + 2c) / 3。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N 家企业扩展与市场势力衰减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扩展均衡：</a:t>
            </a:r>
            <a:r>
              <a:rPr sz="1250">
                <a:solidFill>
                  <a:srgbClr val="1E293B"/>
                </a:solidFill>
                <a:latin typeface="宋体"/>
              </a:rPr>
              <a:t>单企产量 qi* = (a - c)/((N+1)b)；总产量 Q* = N(a - c)/((N+1)b)。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价格收敛：</a:t>
            </a:r>
            <a:r>
              <a:rPr sz="1250">
                <a:solidFill>
                  <a:srgbClr val="1E293B"/>
                </a:solidFill>
                <a:latin typeface="宋体"/>
              </a:rPr>
              <a:t>P* = (a + Nc) / (N + 1)。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极限分析：</a:t>
            </a:r>
            <a:r>
              <a:rPr sz="1250">
                <a:solidFill>
                  <a:srgbClr val="1E293B"/>
                </a:solidFill>
                <a:latin typeface="宋体"/>
              </a:rPr>
              <a:t>当 N 无限增大时，P* 收敛于 MC，市场势力降为零。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第二章  不完全市场寡头竞争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第三节 伯特兰（Bertrand）价格博弈与悖论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6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价格竞争与 Bertrand 悖论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模型设定：</a:t>
            </a:r>
            <a:r>
              <a:rPr sz="1250">
                <a:solidFill>
                  <a:srgbClr val="1E293B"/>
                </a:solidFill>
                <a:latin typeface="宋体"/>
              </a:rPr>
              <a:t>生产同质产品，企业同时决定价格 p1 与 p2。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均衡结果：</a:t>
            </a:r>
            <a:r>
              <a:rPr sz="1250">
                <a:solidFill>
                  <a:srgbClr val="1E293B"/>
                </a:solidFill>
                <a:latin typeface="宋体"/>
              </a:rPr>
              <a:t>只要只有两家企业，价格战将导致 p1* = p2* = MC。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悖论含义：</a:t>
            </a:r>
            <a:r>
              <a:rPr sz="1250">
                <a:solidFill>
                  <a:srgbClr val="1E293B"/>
                </a:solidFill>
                <a:latin typeface="宋体"/>
              </a:rPr>
              <a:t>仅有两家企业就实现了完全竞争结果，失去了所有市场势力！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C58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C58A21"/>
                </a:solidFill>
                <a:latin typeface="微软雅黑"/>
              </a:defRPr>
            </a:pPr>
            <a:r>
              <a:t>2. 化解 Bertrand 悖论的三大途径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容量限制：</a:t>
            </a:r>
            <a:r>
              <a:rPr sz="1250">
                <a:solidFill>
                  <a:srgbClr val="1E293B"/>
                </a:solidFill>
                <a:latin typeface="宋体"/>
              </a:rPr>
              <a:t>Edgeworth 循环：企业产能受限，无法满足全市场。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产品差异化：</a:t>
            </a:r>
            <a:r>
              <a:rPr sz="1250">
                <a:solidFill>
                  <a:srgbClr val="1E293B"/>
                </a:solidFill>
                <a:latin typeface="宋体"/>
              </a:rPr>
              <a:t>Hotelling 空间竞争：产品差异缓解价格战。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重复博弈：</a:t>
            </a:r>
            <a:r>
              <a:rPr sz="1250">
                <a:solidFill>
                  <a:srgbClr val="1E293B"/>
                </a:solidFill>
                <a:latin typeface="宋体"/>
              </a:rPr>
              <a:t>长期无限次重复，企业能够达成默许勾结。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第二章  不完全市场寡头竞争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第三节 斯塔克尔伯格（Stackelberg）动态博弈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7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领导者与跟随者博弈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决策顺序：</a:t>
            </a:r>
            <a:r>
              <a:rPr sz="1250">
                <a:solidFill>
                  <a:srgbClr val="1E293B"/>
                </a:solidFill>
                <a:latin typeface="宋体"/>
              </a:rPr>
              <a:t>企业1为领导者先选 q1；企业2为跟随者后选 q2。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逆向归纳法：</a:t>
            </a:r>
            <a:r>
              <a:rPr sz="1250">
                <a:solidFill>
                  <a:srgbClr val="1E293B"/>
                </a:solidFill>
                <a:latin typeface="宋体"/>
              </a:rPr>
              <a:t>企业1将企业2反应函数代入自身利润求解。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均衡产量：</a:t>
            </a:r>
            <a:r>
              <a:rPr sz="1250">
                <a:solidFill>
                  <a:srgbClr val="1E293B"/>
                </a:solidFill>
                <a:latin typeface="宋体"/>
              </a:rPr>
              <a:t>q1* = (a - c) / (2b)；q2* = (a - c) / (4b)。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先发优势（First-Mover Advantage）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市场势力表达：</a:t>
            </a:r>
            <a:r>
              <a:rPr sz="1250">
                <a:solidFill>
                  <a:srgbClr val="1E293B"/>
                </a:solidFill>
                <a:latin typeface="宋体"/>
              </a:rPr>
              <a:t>领导者获得更高产量与双倍于跟随者的利润。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承诺效应：</a:t>
            </a:r>
            <a:r>
              <a:rPr sz="1250">
                <a:solidFill>
                  <a:srgbClr val="1E293B"/>
                </a:solidFill>
                <a:latin typeface="宋体"/>
              </a:rPr>
              <a:t>先发选择不可撤销的产量决策，迫使跟随者退缩。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第二章  不完全市场寡头竞争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第四节 垄断竞争市场与超额产能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8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垄断竞争市场特征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核心属性：</a:t>
            </a:r>
            <a:r>
              <a:rPr sz="1250">
                <a:solidFill>
                  <a:srgbClr val="1E293B"/>
                </a:solidFill>
                <a:latin typeface="宋体"/>
              </a:rPr>
              <a:t>存在大量买者与卖者，自由进出，产品存在差异化。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短期与长期：</a:t>
            </a:r>
            <a:r>
              <a:rPr sz="1250">
                <a:solidFill>
                  <a:srgbClr val="1E293B"/>
                </a:solidFill>
                <a:latin typeface="宋体"/>
              </a:rPr>
              <a:t>短期获得超额利润；长期由于自由进出，超额利润降为零。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C58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C58A21"/>
                </a:solidFill>
                <a:latin typeface="微软雅黑"/>
              </a:defRPr>
            </a:pPr>
            <a:r>
              <a:t>2. 经典超额产能假说 (Excess Capacity)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长期均衡点：</a:t>
            </a:r>
            <a:r>
              <a:rPr sz="1250">
                <a:solidFill>
                  <a:srgbClr val="1E293B"/>
                </a:solidFill>
                <a:latin typeface="宋体"/>
              </a:rPr>
              <a:t>位于平均成本曲线 (AC) 下降阶段，未达到最低点。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效率权衡：</a:t>
            </a:r>
            <a:r>
              <a:rPr sz="1250">
                <a:solidFill>
                  <a:srgbClr val="1E293B"/>
                </a:solidFill>
                <a:latin typeface="宋体"/>
              </a:rPr>
              <a:t>牺牲部分规模效率换取了丰富的产品多样性。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第二章  不完全市场寡头竞争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寡头博弈中的合作策略与契约约束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9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价格匹配契约 (Price-Matching Policy)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策略机制：</a:t>
            </a:r>
            <a:r>
              <a:rPr sz="1250">
                <a:solidFill>
                  <a:srgbClr val="1E293B"/>
                </a:solidFill>
                <a:latin typeface="宋体"/>
              </a:rPr>
              <a:t>企业承诺“若对手降价我必定跟进匹配低价”。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市场效应：</a:t>
            </a:r>
            <a:r>
              <a:rPr sz="1250">
                <a:solidFill>
                  <a:srgbClr val="1E293B"/>
                </a:solidFill>
                <a:latin typeface="宋体"/>
              </a:rPr>
              <a:t>看似保护消费者，实则消除对手降价抢客动机，促成隐性高价！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最惠客户条款 (Most-Favored-Customer Clause)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策略机制：</a:t>
            </a:r>
            <a:r>
              <a:rPr sz="1250">
                <a:solidFill>
                  <a:srgbClr val="1E293B"/>
                </a:solidFill>
                <a:latin typeface="宋体"/>
              </a:rPr>
              <a:t>承诺给予当前买家未来降价时的差额追溯补偿。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抗竞争效应：</a:t>
            </a:r>
            <a:r>
              <a:rPr sz="1250">
                <a:solidFill>
                  <a:srgbClr val="1E293B"/>
                </a:solidFill>
                <a:latin typeface="宋体"/>
              </a:rPr>
              <a:t>大幅提高了后续降价成本，锁定高价垄断利润。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第二章  不完全市场寡头竞争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寡头勾结与卡特尔（Cartel）不稳定性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10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卡特尔的形成与目标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勾结机制：</a:t>
            </a:r>
            <a:r>
              <a:rPr sz="1250">
                <a:solidFill>
                  <a:srgbClr val="1E293B"/>
                </a:solidFill>
                <a:latin typeface="宋体"/>
              </a:rPr>
              <a:t>寡头企业联合指定统一价格与产量分配，像垄断者一样行动。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利润最大化：</a:t>
            </a:r>
            <a:r>
              <a:rPr sz="1250">
                <a:solidFill>
                  <a:srgbClr val="1E293B"/>
                </a:solidFill>
                <a:latin typeface="宋体"/>
              </a:rPr>
              <a:t>限制行业总产量，榨取最大化的垄断市场势力租金。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C58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C58A21"/>
                </a:solidFill>
                <a:latin typeface="微软雅黑"/>
              </a:defRPr>
            </a:pPr>
            <a:r>
              <a:t>2. 卡特尔内在破坏力（背叛动机）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囚徒困境：</a:t>
            </a:r>
            <a:r>
              <a:rPr sz="1250">
                <a:solidFill>
                  <a:srgbClr val="1E293B"/>
                </a:solidFill>
                <a:latin typeface="宋体"/>
              </a:rPr>
              <a:t>在盟友遵守高价时，单方面偷偷降价偷跑可获得极高利润。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执法打击：</a:t>
            </a:r>
            <a:r>
              <a:rPr sz="1250">
                <a:solidFill>
                  <a:srgbClr val="1E293B"/>
                </a:solidFill>
                <a:latin typeface="宋体"/>
              </a:rPr>
              <a:t>反垄断宽恕政策（Leniency Program）瓦解卡特尔联盟。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第二章  不完全市场寡头竞争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默许勾结（Tacit Collusion）与触发策略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11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无限期重复博弈模型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贴现因子 delta：</a:t>
            </a:r>
            <a:r>
              <a:rPr sz="1250">
                <a:solidFill>
                  <a:srgbClr val="1E293B"/>
                </a:solidFill>
                <a:latin typeface="宋体"/>
              </a:rPr>
              <a:t>只有当企业重视未来收益 (delta 足够大) 时，勾结才可维持。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严厉触发策略 (Grim Trigger)：</a:t>
            </a:r>
            <a:r>
              <a:rPr sz="1250">
                <a:solidFill>
                  <a:srgbClr val="1E293B"/>
                </a:solidFill>
                <a:latin typeface="宋体"/>
              </a:rPr>
              <a:t>一旦有人背叛，永远恢复 Bertrand 零利润价格战。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影响勾结容易度的因素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集中度与透明度：</a:t>
            </a:r>
            <a:r>
              <a:rPr sz="1250">
                <a:solidFill>
                  <a:srgbClr val="1E293B"/>
                </a:solidFill>
                <a:latin typeface="宋体"/>
              </a:rPr>
              <a:t>企业数量少、交易透明度高更易达成勾结。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需求波动：</a:t>
            </a:r>
            <a:r>
              <a:rPr sz="1250">
                <a:solidFill>
                  <a:srgbClr val="1E293B"/>
                </a:solidFill>
                <a:latin typeface="宋体"/>
              </a:rPr>
              <a:t>需求难以预测时，难以区分背叛与外部冲击。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第二章  不完全市场寡头竞争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平台经济中的寡头竞争与算法定价博弈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12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双平台垄断 (Duopoly Platforms)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例子：</a:t>
            </a:r>
            <a:r>
              <a:rPr sz="1250">
                <a:solidFill>
                  <a:srgbClr val="1E293B"/>
                </a:solidFill>
                <a:latin typeface="宋体"/>
              </a:rPr>
              <a:t>外卖（美团 vs 饿了么）、打车（滴滴 vs 高德联盟）。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网络效应角逐：</a:t>
            </a:r>
            <a:r>
              <a:rPr sz="1250">
                <a:solidFill>
                  <a:srgbClr val="1E293B"/>
                </a:solidFill>
                <a:latin typeface="宋体"/>
              </a:rPr>
              <a:t>平台通过双边网络效应锁定买卖双方，形成极强集中度。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C58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C58A21"/>
                </a:solidFill>
                <a:latin typeface="微软雅黑"/>
              </a:defRPr>
            </a:pPr>
            <a:r>
              <a:t>2. 算法定价与动态调价博弈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实时监控：</a:t>
            </a:r>
            <a:r>
              <a:rPr sz="1250">
                <a:solidFill>
                  <a:srgbClr val="1E293B"/>
                </a:solidFill>
                <a:latin typeface="宋体"/>
              </a:rPr>
              <a:t>算法以毫秒级响应对手定价，导致价格战或高价共谋快速达成。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第二章  不完全市场寡头竞争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中国重化工业与通信业寡头竞争实践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13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中国三大电信运营商寡头竞争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结构特征：</a:t>
            </a:r>
            <a:r>
              <a:rPr sz="1250">
                <a:solidFill>
                  <a:srgbClr val="1E293B"/>
                </a:solidFill>
                <a:latin typeface="宋体"/>
              </a:rPr>
              <a:t>移动、电信、联通构成的三寡头市场。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竞争行为：</a:t>
            </a:r>
            <a:r>
              <a:rPr sz="1250">
                <a:solidFill>
                  <a:srgbClr val="1E293B"/>
                </a:solidFill>
                <a:latin typeface="宋体"/>
              </a:rPr>
              <a:t>从早期价格战转入服务差异化与 5G 建设竞合。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钢铁与新能源电池寡头格局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电池行业：</a:t>
            </a:r>
            <a:r>
              <a:rPr sz="1250">
                <a:solidFill>
                  <a:srgbClr val="1E293B"/>
                </a:solidFill>
                <a:latin typeface="宋体"/>
              </a:rPr>
              <a:t>宁德时代与比亚迪双寡头格局，具备强产业链定价权。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钢铁行业：</a:t>
            </a:r>
            <a:r>
              <a:rPr sz="1250">
                <a:solidFill>
                  <a:srgbClr val="1E293B"/>
                </a:solidFill>
                <a:latin typeface="宋体"/>
              </a:rPr>
              <a:t>宝武钢铁通过横向并购提升行业集中度与议价能力。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第二章  不完全市场寡头竞争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四种市场形态结构与市场势力对比矩阵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14 / 16 页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5448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8109"/>
                <a:gridCol w="1788109"/>
                <a:gridCol w="1788109"/>
                <a:gridCol w="1788109"/>
                <a:gridCol w="1788109"/>
                <a:gridCol w="1788110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市场形态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厂商数量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产品差异度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进入壁垒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市场势力 (Lerner)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代表模型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完全竞争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极多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完全同质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L =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供求均衡模型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垄断竞争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较多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轻微差异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极低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L 较小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Chamberlin 模型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寡头垄断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少数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同质或差异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较高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L 中等至偏大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Cournot / Stackelberg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独占垄断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单一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无替代品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极高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L 极大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垄断定价模型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第二章  不完全市场寡头竞争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第 15 节 延伸视角｜寡头竞争博弈与市场势力深度研讨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15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市场势力（Market Power）拓展分析 15-A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理论深化：</a:t>
            </a:r>
            <a:r>
              <a:rPr sz="1250">
                <a:solidFill>
                  <a:srgbClr val="1E293B"/>
                </a:solidFill>
                <a:latin typeface="宋体"/>
              </a:rPr>
              <a:t>围绕《产业经济学》（第3版）第2章的核心机制进行博弈与福利深化。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现实映射：</a:t>
            </a:r>
            <a:r>
              <a:rPr sz="1250">
                <a:solidFill>
                  <a:srgbClr val="1E293B"/>
                </a:solidFill>
                <a:latin typeface="宋体"/>
              </a:rPr>
              <a:t>考察市场结构变迁对企业定价、规模扩张与行业效益的传导机制。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反垄断与微观规制视角 15-B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政策导向：</a:t>
            </a:r>
            <a:r>
              <a:rPr sz="1250">
                <a:solidFill>
                  <a:srgbClr val="1E293B"/>
                </a:solidFill>
                <a:latin typeface="宋体"/>
              </a:rPr>
              <a:t>评估政府行政干预与竞争政策在防范市场势力滥用中的边界。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治理创新：</a:t>
            </a:r>
            <a:r>
              <a:rPr sz="1250">
                <a:solidFill>
                  <a:srgbClr val="1E293B"/>
                </a:solidFill>
                <a:latin typeface="宋体"/>
              </a:rPr>
              <a:t>推动竞争政策基础地位与全国统一大市场建设的协同。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第二章  不完全市场寡头竞争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思考与研讨｜寡头市场共谋与反垄断执法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16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算法勾结（Algorithmic Collusion）新挑战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背景：</a:t>
            </a:r>
            <a:r>
              <a:rPr sz="1250">
                <a:solidFill>
                  <a:srgbClr val="1E293B"/>
                </a:solidFill>
                <a:latin typeface="宋体"/>
              </a:rPr>
              <a:t>电商与打车平台利用定价算法自动调整价格。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思考：</a:t>
            </a:r>
            <a:r>
              <a:rPr sz="1250">
                <a:solidFill>
                  <a:srgbClr val="1E293B"/>
                </a:solidFill>
                <a:latin typeface="宋体"/>
              </a:rPr>
              <a:t>算法是否可能在未人为明示沟通下自动达成默许勾结？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横向并购与市场集中度审查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背景：</a:t>
            </a:r>
            <a:r>
              <a:rPr sz="1250">
                <a:solidFill>
                  <a:srgbClr val="1E293B"/>
                </a:solidFill>
                <a:latin typeface="宋体"/>
              </a:rPr>
              <a:t>两家寡头合并会提升市场集中度。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思考：</a:t>
            </a:r>
            <a:r>
              <a:rPr sz="1250">
                <a:solidFill>
                  <a:srgbClr val="1E293B"/>
                </a:solidFill>
                <a:latin typeface="宋体"/>
              </a:rPr>
              <a:t>如何权衡并购带来的规模效率与市场势力增强导致的福利损害？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