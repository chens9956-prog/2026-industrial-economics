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914400" y="914400"/>
            <a:ext cx="103628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914400"/>
            <a:ext cx="10362895" cy="13716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448495" cy="3657600"/>
          </a:xfrm>
          <a:prstGeom prst="rect">
            <a:avLst/>
          </a:prstGeom>
          <a:noFill/>
        </p:spPr>
        <p:txBody>
          <a:bodyPr wrap="square">
            <a:spAutoFit/>
          </a:bodyPr>
          <a:lstStyle/>
          <a:p>
            <a:pPr>
              <a:defRPr sz="1800" b="1">
                <a:solidFill>
                  <a:srgbClr val="2D6A4F"/>
                </a:solidFill>
                <a:latin typeface="微软雅黑"/>
              </a:defRPr>
            </a:pPr>
            <a:r>
              <a:t>产业经济学 · 核心教材精讲</a:t>
            </a:r>
          </a:p>
          <a:p>
            <a:pPr>
              <a:spcBef>
                <a:spcPts val="1000"/>
              </a:spcBef>
              <a:defRPr sz="3000" b="1">
                <a:solidFill>
                  <a:srgbClr val="1B4965"/>
                </a:solidFill>
                <a:latin typeface="微软雅黑"/>
              </a:defRPr>
            </a:pPr>
            <a:r>
              <a:t>第十三章  产业关联（投入产出分析）</a:t>
            </a:r>
          </a:p>
          <a:p>
            <a:pPr>
              <a:spcBef>
                <a:spcPts val="1500"/>
              </a:spcBef>
              <a:defRPr sz="1800" b="1">
                <a:solidFill>
                  <a:srgbClr val="C58A21"/>
                </a:solidFill>
                <a:latin typeface="微软雅黑"/>
              </a:defRPr>
            </a:pPr>
            <a:r>
              <a:t>【核心主线】：产业控制力的关联网络与产业链关键节点测度</a:t>
            </a:r>
          </a:p>
          <a:p>
            <a:pPr>
              <a:spcBef>
                <a:spcPts val="2500"/>
              </a:spcBef>
              <a:defRPr sz="1400">
                <a:solidFill>
                  <a:srgbClr val="64748B"/>
                </a:solidFill>
                <a:latin typeface="宋体"/>
              </a:defRPr>
            </a:pPr>
            <a:r>
              <a:t>教材依据：刘志彪《产业经济学》（第3版·高等教育/机械工业出版社）</a:t>
            </a:r>
            <a:br/>
            <a:r>
              <a:t>制作风格：自然清新 · 排版高尚大气 · 浅色系精品课件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第十三章  产业关联（投入产出分析）</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本章目录与产业控制力主线映射</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2 / 16 页</a:t>
            </a:r>
          </a:p>
        </p:txBody>
      </p:sp>
      <p:sp>
        <p:nvSpPr>
          <p:cNvPr id="6" name="Rounded Rectangle 5"/>
          <p:cNvSpPr/>
          <p:nvPr/>
        </p:nvSpPr>
        <p:spPr>
          <a:xfrm>
            <a:off x="7315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3413455"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3047695" cy="4297680"/>
          </a:xfrm>
          <a:prstGeom prst="rect">
            <a:avLst/>
          </a:prstGeom>
          <a:noFill/>
        </p:spPr>
        <p:txBody>
          <a:bodyPr wrap="square">
            <a:spAutoFit/>
          </a:bodyPr>
          <a:lstStyle/>
          <a:p>
            <a:pPr>
              <a:spcAft>
                <a:spcPts val="800"/>
              </a:spcAft>
              <a:defRPr sz="1500" b="1">
                <a:solidFill>
                  <a:srgbClr val="1B4965"/>
                </a:solidFill>
                <a:latin typeface="微软雅黑"/>
              </a:defRPr>
            </a:pPr>
            <a:r>
              <a:t>第一节 产业关联与投入产出表</a:t>
            </a:r>
          </a:p>
          <a:p>
            <a:pPr>
              <a:spcAft>
                <a:spcPts val="600"/>
              </a:spcAft>
            </a:pPr>
            <a:r>
              <a:rPr b="1" sz="1250">
                <a:solidFill>
                  <a:srgbClr val="1E293B"/>
                </a:solidFill>
                <a:latin typeface="微软雅黑"/>
              </a:rPr>
              <a:t>核心内容：</a:t>
            </a:r>
            <a:r>
              <a:rPr sz="1250">
                <a:solidFill>
                  <a:srgbClr val="1E293B"/>
                </a:solidFill>
                <a:latin typeface="宋体"/>
              </a:rPr>
              <a:t>中间投入与投入产出棋盘表</a:t>
            </a:r>
          </a:p>
          <a:p>
            <a:pPr>
              <a:spcAft>
                <a:spcPts val="600"/>
              </a:spcAft>
            </a:pPr>
            <a:r>
              <a:rPr b="1" sz="1250">
                <a:solidFill>
                  <a:srgbClr val="1E293B"/>
                </a:solidFill>
                <a:latin typeface="微软雅黑"/>
              </a:rPr>
              <a:t>主线映射：</a:t>
            </a:r>
            <a:r>
              <a:rPr sz="1250">
                <a:solidFill>
                  <a:srgbClr val="1E293B"/>
                </a:solidFill>
                <a:latin typeface="宋体"/>
              </a:rPr>
              <a:t>揭示产业间交织纽带与技术经济联系。</a:t>
            </a:r>
          </a:p>
        </p:txBody>
      </p:sp>
      <p:sp>
        <p:nvSpPr>
          <p:cNvPr id="9" name="Rounded Rectangle 8"/>
          <p:cNvSpPr/>
          <p:nvPr/>
        </p:nvSpPr>
        <p:spPr>
          <a:xfrm>
            <a:off x="43891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554480"/>
            <a:ext cx="341345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737360"/>
            <a:ext cx="3047695" cy="4297680"/>
          </a:xfrm>
          <a:prstGeom prst="rect">
            <a:avLst/>
          </a:prstGeom>
          <a:noFill/>
        </p:spPr>
        <p:txBody>
          <a:bodyPr wrap="square">
            <a:spAutoFit/>
          </a:bodyPr>
          <a:lstStyle/>
          <a:p>
            <a:pPr>
              <a:spcAft>
                <a:spcPts val="800"/>
              </a:spcAft>
              <a:defRPr sz="1500" b="1">
                <a:solidFill>
                  <a:srgbClr val="2D6A4F"/>
                </a:solidFill>
                <a:latin typeface="微软雅黑"/>
              </a:defRPr>
            </a:pPr>
            <a:r>
              <a:t>第二节 消耗系数与 Leontief 逆矩阵</a:t>
            </a:r>
          </a:p>
          <a:p>
            <a:pPr>
              <a:spcAft>
                <a:spcPts val="600"/>
              </a:spcAft>
            </a:pPr>
            <a:r>
              <a:rPr b="1" sz="1250">
                <a:solidFill>
                  <a:srgbClr val="1E293B"/>
                </a:solidFill>
                <a:latin typeface="微软雅黑"/>
              </a:rPr>
              <a:t>核心内容：</a:t>
            </a:r>
            <a:r>
              <a:rPr sz="1250">
                <a:solidFill>
                  <a:srgbClr val="1E293B"/>
                </a:solidFill>
                <a:latin typeface="宋体"/>
              </a:rPr>
              <a:t>直接消耗 vs 完全消耗系数</a:t>
            </a:r>
          </a:p>
          <a:p>
            <a:pPr>
              <a:spcAft>
                <a:spcPts val="600"/>
              </a:spcAft>
            </a:pPr>
            <a:r>
              <a:rPr b="1" sz="1250">
                <a:solidFill>
                  <a:srgbClr val="1E293B"/>
                </a:solidFill>
                <a:latin typeface="微软雅黑"/>
              </a:rPr>
              <a:t>主线映射：</a:t>
            </a:r>
            <a:r>
              <a:rPr sz="1250">
                <a:solidFill>
                  <a:srgbClr val="1E293B"/>
                </a:solidFill>
                <a:latin typeface="宋体"/>
              </a:rPr>
              <a:t>精确推导全产业链的传导与拉动效应。</a:t>
            </a:r>
          </a:p>
        </p:txBody>
      </p:sp>
      <p:sp>
        <p:nvSpPr>
          <p:cNvPr id="12" name="Rounded Rectangle 11"/>
          <p:cNvSpPr/>
          <p:nvPr/>
        </p:nvSpPr>
        <p:spPr>
          <a:xfrm>
            <a:off x="80467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554480"/>
            <a:ext cx="3413455"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737360"/>
            <a:ext cx="3047695" cy="4297680"/>
          </a:xfrm>
          <a:prstGeom prst="rect">
            <a:avLst/>
          </a:prstGeom>
          <a:noFill/>
        </p:spPr>
        <p:txBody>
          <a:bodyPr wrap="square">
            <a:spAutoFit/>
          </a:bodyPr>
          <a:lstStyle/>
          <a:p>
            <a:pPr>
              <a:spcAft>
                <a:spcPts val="800"/>
              </a:spcAft>
              <a:defRPr sz="1500" b="1">
                <a:solidFill>
                  <a:srgbClr val="C58A21"/>
                </a:solidFill>
                <a:latin typeface="微软雅黑"/>
              </a:defRPr>
            </a:pPr>
            <a:r>
              <a:t>第三节 关联效应与波及分析</a:t>
            </a:r>
          </a:p>
          <a:p>
            <a:pPr>
              <a:spcAft>
                <a:spcPts val="600"/>
              </a:spcAft>
            </a:pPr>
            <a:r>
              <a:rPr b="1" sz="1250">
                <a:solidFill>
                  <a:srgbClr val="1E293B"/>
                </a:solidFill>
                <a:latin typeface="微软雅黑"/>
              </a:rPr>
              <a:t>核心内容：</a:t>
            </a:r>
            <a:r>
              <a:rPr sz="1250">
                <a:solidFill>
                  <a:srgbClr val="1E293B"/>
                </a:solidFill>
                <a:latin typeface="宋体"/>
              </a:rPr>
              <a:t>感应度与影响力系数</a:t>
            </a:r>
          </a:p>
          <a:p>
            <a:pPr>
              <a:spcAft>
                <a:spcPts val="600"/>
              </a:spcAft>
            </a:pPr>
            <a:r>
              <a:rPr b="1" sz="1250">
                <a:solidFill>
                  <a:srgbClr val="1E293B"/>
                </a:solidFill>
                <a:latin typeface="微软雅黑"/>
              </a:rPr>
              <a:t>主线映射：</a:t>
            </a:r>
            <a:r>
              <a:rPr sz="1250">
                <a:solidFill>
                  <a:srgbClr val="1E293B"/>
                </a:solidFill>
                <a:latin typeface="宋体"/>
              </a:rPr>
              <a:t>识别产业链“瓶颈”节点与关键控制点。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第十三章  产业关联（投入产出分析）</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第一节 产业关联概念与中间投入品纽带</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3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产业关联 (Inter-Industry Relationships)</a:t>
            </a:r>
          </a:p>
          <a:p>
            <a:pPr>
              <a:spcAft>
                <a:spcPts val="600"/>
              </a:spcAft>
            </a:pPr>
            <a:r>
              <a:rPr b="1" sz="1250">
                <a:solidFill>
                  <a:srgbClr val="1E293B"/>
                </a:solidFill>
                <a:latin typeface="微软雅黑"/>
              </a:rPr>
              <a:t>定义：</a:t>
            </a:r>
            <a:r>
              <a:rPr sz="1250">
                <a:solidFill>
                  <a:srgbClr val="1E293B"/>
                </a:solidFill>
                <a:latin typeface="宋体"/>
              </a:rPr>
              <a:t>国民经济各产业部门之间在产品生产与消耗过程中形成的定量技术经济联系。</a:t>
            </a:r>
          </a:p>
          <a:p>
            <a:pPr>
              <a:spcAft>
                <a:spcPts val="600"/>
              </a:spcAft>
            </a:pPr>
            <a:r>
              <a:rPr b="1" sz="1250">
                <a:solidFill>
                  <a:srgbClr val="1E293B"/>
                </a:solidFill>
                <a:latin typeface="微软雅黑"/>
              </a:rPr>
              <a:t>纽带：</a:t>
            </a:r>
            <a:r>
              <a:rPr sz="1250">
                <a:solidFill>
                  <a:srgbClr val="1E293B"/>
                </a:solidFill>
                <a:latin typeface="宋体"/>
              </a:rPr>
              <a:t>以中间产品（Intermediate Goods）的买卖为直接联结形态。</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产业关联的两种基本方向</a:t>
            </a:r>
          </a:p>
          <a:p>
            <a:pPr>
              <a:spcAft>
                <a:spcPts val="600"/>
              </a:spcAft>
            </a:pPr>
            <a:r>
              <a:rPr b="1" sz="1250">
                <a:solidFill>
                  <a:srgbClr val="1E293B"/>
                </a:solidFill>
                <a:latin typeface="微软雅黑"/>
              </a:rPr>
              <a:t>前向关联 (Forward Linkage)：</a:t>
            </a:r>
            <a:r>
              <a:rPr sz="1250">
                <a:solidFill>
                  <a:srgbClr val="1E293B"/>
                </a:solidFill>
                <a:latin typeface="宋体"/>
              </a:rPr>
              <a:t>本产业为其他产业提供中间投入品的联系。</a:t>
            </a:r>
          </a:p>
          <a:p>
            <a:pPr>
              <a:spcAft>
                <a:spcPts val="600"/>
              </a:spcAft>
            </a:pPr>
            <a:r>
              <a:rPr b="1" sz="1250">
                <a:solidFill>
                  <a:srgbClr val="1E293B"/>
                </a:solidFill>
                <a:latin typeface="微软雅黑"/>
              </a:rPr>
              <a:t>后向关联 (Backward Linkage)：</a:t>
            </a:r>
            <a:r>
              <a:rPr sz="1250">
                <a:solidFill>
                  <a:srgbClr val="1E293B"/>
                </a:solidFill>
                <a:latin typeface="宋体"/>
              </a:rPr>
              <a:t>本产业消耗其他产业中间投入品的联系。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第十三章  产业关联（投入产出分析）</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第一节 投入产出表（Input-Output Table）棋盘结构</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4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投入产出表的三大象限结构</a:t>
            </a:r>
          </a:p>
          <a:p>
            <a:pPr>
              <a:spcAft>
                <a:spcPts val="600"/>
              </a:spcAft>
            </a:pPr>
            <a:r>
              <a:rPr b="1" sz="1250">
                <a:solidFill>
                  <a:srgbClr val="1E293B"/>
                </a:solidFill>
                <a:latin typeface="微软雅黑"/>
              </a:rPr>
              <a:t>第 I 象限（中间产品矩阵）：</a:t>
            </a:r>
            <a:r>
              <a:rPr sz="1250">
                <a:solidFill>
                  <a:srgbClr val="1E293B"/>
                </a:solidFill>
                <a:latin typeface="宋体"/>
              </a:rPr>
              <a:t>核心部分！反映 N 个部门之间相互买卖中间产品的流量表。</a:t>
            </a:r>
          </a:p>
          <a:p>
            <a:pPr>
              <a:spcAft>
                <a:spcPts val="600"/>
              </a:spcAft>
            </a:pPr>
            <a:r>
              <a:rPr b="1" sz="1250">
                <a:solidFill>
                  <a:srgbClr val="1E293B"/>
                </a:solidFill>
                <a:latin typeface="微软雅黑"/>
              </a:rPr>
              <a:t>第 II 象限（最终产品矩阵）：</a:t>
            </a:r>
            <a:r>
              <a:rPr sz="1250">
                <a:solidFill>
                  <a:srgbClr val="1E293B"/>
                </a:solidFill>
                <a:latin typeface="宋体"/>
              </a:rPr>
              <a:t>反映各部门产品用于消费、投资、出口等最终使用的数量。</a:t>
            </a:r>
          </a:p>
          <a:p>
            <a:pPr>
              <a:spcAft>
                <a:spcPts val="600"/>
              </a:spcAft>
            </a:pPr>
            <a:r>
              <a:rPr b="1" sz="1250">
                <a:solidFill>
                  <a:srgbClr val="1E293B"/>
                </a:solidFill>
                <a:latin typeface="微软雅黑"/>
              </a:rPr>
              <a:t>第 III 象限（增加值矩阵）：</a:t>
            </a:r>
            <a:r>
              <a:rPr sz="1250">
                <a:solidFill>
                  <a:srgbClr val="1E293B"/>
                </a:solidFill>
                <a:latin typeface="宋体"/>
              </a:rPr>
              <a:t>反映各部门创造的劳动者报酬、营业盈余、生产税净额等初次分配。</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基本恒等关系</a:t>
            </a:r>
          </a:p>
          <a:p>
            <a:pPr>
              <a:spcAft>
                <a:spcPts val="600"/>
              </a:spcAft>
            </a:pPr>
            <a:r>
              <a:rPr b="1" sz="1250">
                <a:solidFill>
                  <a:srgbClr val="1E293B"/>
                </a:solidFill>
                <a:latin typeface="微软雅黑"/>
              </a:rPr>
              <a:t>行平衡：</a:t>
            </a:r>
            <a:r>
              <a:rPr sz="1250">
                <a:solidFill>
                  <a:srgbClr val="1E293B"/>
                </a:solidFill>
                <a:latin typeface="宋体"/>
              </a:rPr>
              <a:t>部门 i 总产出 = 中间需求 + 最终需求。</a:t>
            </a:r>
          </a:p>
          <a:p>
            <a:pPr>
              <a:spcAft>
                <a:spcPts val="600"/>
              </a:spcAft>
            </a:pPr>
            <a:r>
              <a:rPr b="1" sz="1250">
                <a:solidFill>
                  <a:srgbClr val="1E293B"/>
                </a:solidFill>
                <a:latin typeface="微软雅黑"/>
              </a:rPr>
              <a:t>列平衡：</a:t>
            </a:r>
            <a:r>
              <a:rPr sz="1250">
                <a:solidFill>
                  <a:srgbClr val="1E293B"/>
                </a:solidFill>
                <a:latin typeface="宋体"/>
              </a:rPr>
              <a:t>部门 j 总投入 = 中间投入 + 增加值。且总产出等于总投入！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第十三章  产业关联（投入产出分析）</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直接消耗系数 ($a_{ij}$) 计算与经济含义</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5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直接消耗系数 (Direct Consumption Coefficient)</a:t>
            </a:r>
          </a:p>
          <a:p>
            <a:pPr>
              <a:spcAft>
                <a:spcPts val="600"/>
              </a:spcAft>
            </a:pPr>
            <a:r>
              <a:rPr b="1" sz="1250">
                <a:solidFill>
                  <a:srgbClr val="1E293B"/>
                </a:solidFill>
                <a:latin typeface="微软雅黑"/>
              </a:rPr>
              <a:t>计算公式：</a:t>
            </a:r>
            <a:r>
              <a:rPr sz="1250">
                <a:solidFill>
                  <a:srgbClr val="1E293B"/>
                </a:solidFill>
                <a:latin typeface="宋体"/>
              </a:rPr>
              <a:t>a_{ij} = x_{ij} / X_j (部门 j 生产单位产品直接消耗部门 i 产品的数量)。</a:t>
            </a:r>
          </a:p>
          <a:p>
            <a:pPr>
              <a:spcAft>
                <a:spcPts val="600"/>
              </a:spcAft>
            </a:pPr>
            <a:r>
              <a:rPr b="1" sz="1250">
                <a:solidFill>
                  <a:srgbClr val="1E293B"/>
                </a:solidFill>
                <a:latin typeface="微软雅黑"/>
              </a:rPr>
              <a:t>矩阵表达：</a:t>
            </a:r>
            <a:r>
              <a:rPr sz="1250">
                <a:solidFill>
                  <a:srgbClr val="1E293B"/>
                </a:solidFill>
                <a:latin typeface="宋体"/>
              </a:rPr>
              <a:t>A = (a_{ij})_{N * N}，称为直接消耗系数矩阵。</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技术结构反映</a:t>
            </a:r>
          </a:p>
          <a:p>
            <a:pPr>
              <a:spcAft>
                <a:spcPts val="600"/>
              </a:spcAft>
            </a:pPr>
            <a:r>
              <a:rPr b="1" sz="1250">
                <a:solidFill>
                  <a:srgbClr val="1E293B"/>
                </a:solidFill>
                <a:latin typeface="微软雅黑"/>
              </a:rPr>
              <a:t>含义：</a:t>
            </a:r>
            <a:r>
              <a:rPr sz="1250">
                <a:solidFill>
                  <a:srgbClr val="1E293B"/>
                </a:solidFill>
                <a:latin typeface="宋体"/>
              </a:rPr>
              <a:t>a_{ij} 取决于特定时期的生产技术水平，技术进步会导致 A 矩阵系数发生变动。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第十三章  产业关联（投入产出分析）</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完全消耗系数与 Leontief 逆矩阵推导</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6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完全消耗的概念</a:t>
            </a:r>
          </a:p>
          <a:p>
            <a:pPr>
              <a:spcAft>
                <a:spcPts val="600"/>
              </a:spcAft>
            </a:pPr>
            <a:r>
              <a:rPr b="1" sz="1250">
                <a:solidFill>
                  <a:srgbClr val="1E293B"/>
                </a:solidFill>
                <a:latin typeface="微软雅黑"/>
              </a:rPr>
              <a:t>定义：</a:t>
            </a:r>
            <a:r>
              <a:rPr sz="1250">
                <a:solidFill>
                  <a:srgbClr val="1E293B"/>
                </a:solidFill>
                <a:latin typeface="宋体"/>
              </a:rPr>
              <a:t>生产单位最终产品对各部门产品的直接消耗与间接消耗的总和。</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里昂惕夫逆矩阵 (Leontief Inverse Matrix)</a:t>
            </a:r>
          </a:p>
          <a:p>
            <a:pPr>
              <a:spcAft>
                <a:spcPts val="600"/>
              </a:spcAft>
            </a:pPr>
            <a:r>
              <a:rPr b="1" sz="1250">
                <a:solidFill>
                  <a:srgbClr val="1E293B"/>
                </a:solidFill>
                <a:latin typeface="微软雅黑"/>
              </a:rPr>
              <a:t>基本方程：</a:t>
            </a:r>
            <a:r>
              <a:rPr sz="1250">
                <a:solidFill>
                  <a:srgbClr val="1E293B"/>
                </a:solidFill>
                <a:latin typeface="宋体"/>
              </a:rPr>
              <a:t>A X + Y = X  =&gt;  (I - A) X = Y  =&gt;  X = (I - A)^{-1} Y。</a:t>
            </a:r>
          </a:p>
          <a:p>
            <a:pPr>
              <a:spcAft>
                <a:spcPts val="600"/>
              </a:spcAft>
            </a:pPr>
            <a:r>
              <a:rPr b="1" sz="1250">
                <a:solidFill>
                  <a:srgbClr val="1E293B"/>
                </a:solidFill>
                <a:latin typeface="微软雅黑"/>
              </a:rPr>
              <a:t>含义：</a:t>
            </a:r>
            <a:r>
              <a:rPr sz="1250">
                <a:solidFill>
                  <a:srgbClr val="1E293B"/>
                </a:solidFill>
                <a:latin typeface="宋体"/>
              </a:rPr>
              <a:t>B = (I - A)^{-1} 称为里昂惕夫逆矩阵！矩阵元素 b_{ij} 反映了最终需求 Y_j 增加 1 单位对部门 i 总产出的完全拉动效应！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第十三章  产业关联（投入产出分析）</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第三节 产业波及分析：感应度系数（前向控制）</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7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感应度系数 (Sensitivity Coefficient, E_i)</a:t>
            </a:r>
          </a:p>
          <a:p>
            <a:pPr>
              <a:spcAft>
                <a:spcPts val="600"/>
              </a:spcAft>
            </a:pPr>
            <a:r>
              <a:rPr b="1" sz="1250">
                <a:solidFill>
                  <a:srgbClr val="1E293B"/>
                </a:solidFill>
                <a:latin typeface="微软雅黑"/>
              </a:rPr>
              <a:t>公式：</a:t>
            </a:r>
            <a:r>
              <a:rPr sz="1250">
                <a:solidFill>
                  <a:srgbClr val="1E293B"/>
                </a:solidFill>
                <a:latin typeface="宋体"/>
              </a:rPr>
              <a:t>E_i = (sum_j b_{ij} / N) / (sum_i sum_j b_{ij} / N^2)。</a:t>
            </a:r>
          </a:p>
          <a:p>
            <a:pPr>
              <a:spcAft>
                <a:spcPts val="600"/>
              </a:spcAft>
            </a:pPr>
            <a:r>
              <a:rPr b="1" sz="1250">
                <a:solidFill>
                  <a:srgbClr val="1E293B"/>
                </a:solidFill>
                <a:latin typeface="微软雅黑"/>
              </a:rPr>
              <a:t>经济含义：</a:t>
            </a:r>
            <a:r>
              <a:rPr sz="1250">
                <a:solidFill>
                  <a:srgbClr val="1E293B"/>
                </a:solidFill>
                <a:latin typeface="宋体"/>
              </a:rPr>
              <a:t>国民经济各部门各增加 1 单位最终使用时，部门 i 需提供的感应程度。</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瓶颈产业识别</a:t>
            </a:r>
          </a:p>
          <a:p>
            <a:pPr>
              <a:spcAft>
                <a:spcPts val="600"/>
              </a:spcAft>
            </a:pPr>
            <a:r>
              <a:rPr b="1" sz="1250">
                <a:solidFill>
                  <a:srgbClr val="1E293B"/>
                </a:solidFill>
                <a:latin typeface="微软雅黑"/>
              </a:rPr>
              <a:t>特征：</a:t>
            </a:r>
            <a:r>
              <a:rPr sz="1250">
                <a:solidFill>
                  <a:srgbClr val="1E293B"/>
                </a:solidFill>
                <a:latin typeface="宋体"/>
              </a:rPr>
              <a:t>E_i &gt; 1 表示该部门感应度高于平均水平（通常为能源、基础材料、芯片等上游基础产业）。</a:t>
            </a:r>
          </a:p>
          <a:p>
            <a:pPr>
              <a:spcAft>
                <a:spcPts val="600"/>
              </a:spcAft>
            </a:pPr>
            <a:r>
              <a:rPr b="1" sz="1250">
                <a:solidFill>
                  <a:srgbClr val="1E293B"/>
                </a:solidFill>
                <a:latin typeface="微软雅黑"/>
              </a:rPr>
              <a:t>控制力警示：</a:t>
            </a:r>
            <a:r>
              <a:rPr sz="1250">
                <a:solidFill>
                  <a:srgbClr val="1E293B"/>
                </a:solidFill>
                <a:latin typeface="宋体"/>
              </a:rPr>
              <a:t>若感应度极高的瓶颈产业受制于人，全经济体将面临停摆风险！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第十三章  产业关联（投入产出分析）</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第三节 产业波及分析：影响力系数（后向拉动）</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8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影响力系数 (Impact Coefficient, F_j)</a:t>
            </a:r>
          </a:p>
          <a:p>
            <a:pPr>
              <a:spcAft>
                <a:spcPts val="600"/>
              </a:spcAft>
            </a:pPr>
            <a:r>
              <a:rPr b="1" sz="1250">
                <a:solidFill>
                  <a:srgbClr val="1E293B"/>
                </a:solidFill>
                <a:latin typeface="微软雅黑"/>
              </a:rPr>
              <a:t>公式：</a:t>
            </a:r>
            <a:r>
              <a:rPr sz="1250">
                <a:solidFill>
                  <a:srgbClr val="1E293B"/>
                </a:solidFill>
                <a:latin typeface="宋体"/>
              </a:rPr>
              <a:t>F_j = (sum_i b_{ij} / N) / (sum_i sum_j b_{ij} / N^2)。</a:t>
            </a:r>
          </a:p>
          <a:p>
            <a:pPr>
              <a:spcAft>
                <a:spcPts val="600"/>
              </a:spcAft>
            </a:pPr>
            <a:r>
              <a:rPr b="1" sz="1250">
                <a:solidFill>
                  <a:srgbClr val="1E293B"/>
                </a:solidFill>
                <a:latin typeface="微软雅黑"/>
              </a:rPr>
              <a:t>经济含义：</a:t>
            </a:r>
            <a:r>
              <a:rPr sz="1250">
                <a:solidFill>
                  <a:srgbClr val="1E293B"/>
                </a:solidFill>
                <a:latin typeface="宋体"/>
              </a:rPr>
              <a:t>部门 j 增加 1 单位最终使用时，对国民经济各部门产生的生产拉动程度。</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辐射拉动型主导产业选择</a:t>
            </a:r>
          </a:p>
          <a:p>
            <a:pPr>
              <a:spcAft>
                <a:spcPts val="600"/>
              </a:spcAft>
            </a:pPr>
            <a:r>
              <a:rPr b="1" sz="1250">
                <a:solidFill>
                  <a:srgbClr val="1E293B"/>
                </a:solidFill>
                <a:latin typeface="微软雅黑"/>
              </a:rPr>
              <a:t>特征：</a:t>
            </a:r>
            <a:r>
              <a:rPr sz="1250">
                <a:solidFill>
                  <a:srgbClr val="1E293B"/>
                </a:solidFill>
                <a:latin typeface="宋体"/>
              </a:rPr>
              <a:t>F_j &gt; 1 表示该部门对上下游拉动效应强（如汽车、建筑、高端装备）。</a:t>
            </a:r>
          </a:p>
          <a:p>
            <a:pPr>
              <a:spcAft>
                <a:spcPts val="600"/>
              </a:spcAft>
            </a:pPr>
            <a:r>
              <a:rPr b="1" sz="1250">
                <a:solidFill>
                  <a:srgbClr val="1E293B"/>
                </a:solidFill>
                <a:latin typeface="微软雅黑"/>
              </a:rPr>
              <a:t>政策意义：</a:t>
            </a:r>
            <a:r>
              <a:rPr sz="1250">
                <a:solidFill>
                  <a:srgbClr val="1E293B"/>
                </a:solidFill>
                <a:latin typeface="宋体"/>
              </a:rPr>
              <a:t>优先扶持影响力系数大的产业可快速带动总量增长。</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第十三章  产业关联（投入产出分析）</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投入产出分析在价格传导与成本冲击中的应用</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9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成本价格传导模型</a:t>
            </a:r>
          </a:p>
          <a:p>
            <a:pPr>
              <a:spcAft>
                <a:spcPts val="600"/>
              </a:spcAft>
            </a:pPr>
            <a:r>
              <a:rPr b="1" sz="1250">
                <a:solidFill>
                  <a:srgbClr val="1E293B"/>
                </a:solidFill>
                <a:latin typeface="微软雅黑"/>
              </a:rPr>
              <a:t>方程：</a:t>
            </a:r>
            <a:r>
              <a:rPr sz="1250">
                <a:solidFill>
                  <a:srgbClr val="1E293B"/>
                </a:solidFill>
                <a:latin typeface="宋体"/>
              </a:rPr>
              <a:t>Delta P = (I - A^T)^{-1} * Delta V。</a:t>
            </a:r>
          </a:p>
          <a:p>
            <a:pPr>
              <a:spcAft>
                <a:spcPts val="600"/>
              </a:spcAft>
            </a:pPr>
            <a:r>
              <a:rPr b="1" sz="1250">
                <a:solidFill>
                  <a:srgbClr val="1E293B"/>
                </a:solidFill>
                <a:latin typeface="微软雅黑"/>
              </a:rPr>
              <a:t>应用：</a:t>
            </a:r>
            <a:r>
              <a:rPr sz="1250">
                <a:solidFill>
                  <a:srgbClr val="1E293B"/>
                </a:solidFill>
                <a:latin typeface="宋体"/>
              </a:rPr>
              <a:t>当上游原材料（如石油、钢铁、芯片）价格上涨时，精准测算全行业成本受波及程度。</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贸易壁垒与外生冲击模拟</a:t>
            </a:r>
          </a:p>
          <a:p>
            <a:pPr>
              <a:spcAft>
                <a:spcPts val="600"/>
              </a:spcAft>
            </a:pPr>
            <a:r>
              <a:rPr b="1" sz="1250">
                <a:solidFill>
                  <a:srgbClr val="1E293B"/>
                </a:solidFill>
                <a:latin typeface="微软雅黑"/>
              </a:rPr>
              <a:t>模拟：</a:t>
            </a:r>
            <a:r>
              <a:rPr sz="1250">
                <a:solidFill>
                  <a:srgbClr val="1E293B"/>
                </a:solidFill>
                <a:latin typeface="宋体"/>
              </a:rPr>
              <a:t>测算外部出口订单下降对国内各产业就业与产出的连锁打击。</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第十三章  产业关联（投入产出分析）</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产业链断链风险与卡脖子关键节点测度</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10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结构路径分析 (Structural Path Analysis)</a:t>
            </a:r>
          </a:p>
          <a:p>
            <a:pPr>
              <a:spcAft>
                <a:spcPts val="600"/>
              </a:spcAft>
            </a:pPr>
            <a:r>
              <a:rPr b="1" sz="1250">
                <a:solidFill>
                  <a:srgbClr val="1E293B"/>
                </a:solidFill>
                <a:latin typeface="微软雅黑"/>
              </a:rPr>
              <a:t>方法：</a:t>
            </a:r>
            <a:r>
              <a:rPr sz="1250">
                <a:solidFill>
                  <a:srgbClr val="1E293B"/>
                </a:solidFill>
                <a:latin typeface="宋体"/>
              </a:rPr>
              <a:t>追踪中间投入在网络中的具体传导路径。</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节点脆弱性评估</a:t>
            </a:r>
          </a:p>
          <a:p>
            <a:pPr>
              <a:spcAft>
                <a:spcPts val="600"/>
              </a:spcAft>
            </a:pPr>
            <a:r>
              <a:rPr b="1" sz="1250">
                <a:solidFill>
                  <a:srgbClr val="1E293B"/>
                </a:solidFill>
                <a:latin typeface="微软雅黑"/>
              </a:rPr>
              <a:t>测算：</a:t>
            </a:r>
            <a:r>
              <a:rPr sz="1250">
                <a:solidFill>
                  <a:srgbClr val="1E293B"/>
                </a:solidFill>
                <a:latin typeface="宋体"/>
              </a:rPr>
              <a:t>寻找替代性极低且处于多条关键路径交叉点的“不可替代节点”（如光刻机、高端软硬件）。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第十三章  产业关联（投入产出分析）</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投入产出表在绿色低碳与碳足迹追踪中的扩展</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11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混合型投入产出模型 (Hybrid IO)</a:t>
            </a:r>
          </a:p>
          <a:p>
            <a:pPr>
              <a:spcAft>
                <a:spcPts val="600"/>
              </a:spcAft>
            </a:pPr>
            <a:r>
              <a:rPr b="1" sz="1250">
                <a:solidFill>
                  <a:srgbClr val="1E293B"/>
                </a:solidFill>
                <a:latin typeface="微软雅黑"/>
              </a:rPr>
              <a:t>扩展：</a:t>
            </a:r>
            <a:r>
              <a:rPr sz="1250">
                <a:solidFill>
                  <a:srgbClr val="1E293B"/>
                </a:solidFill>
                <a:latin typeface="宋体"/>
              </a:rPr>
              <a:t>在传统经济表下方加入碳排放、能源消耗、水资源占用等物理向量。</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完全碳排放系数测算</a:t>
            </a:r>
          </a:p>
          <a:p>
            <a:pPr>
              <a:spcAft>
                <a:spcPts val="600"/>
              </a:spcAft>
            </a:pPr>
            <a:r>
              <a:rPr b="1" sz="1250">
                <a:solidFill>
                  <a:srgbClr val="1E293B"/>
                </a:solidFill>
                <a:latin typeface="微软雅黑"/>
              </a:rPr>
              <a:t>应用：</a:t>
            </a:r>
            <a:r>
              <a:rPr sz="1250">
                <a:solidFill>
                  <a:srgbClr val="1E293B"/>
                </a:solidFill>
                <a:latin typeface="宋体"/>
              </a:rPr>
              <a:t>计算出口商品所蕴含的“隐含碳”（Embodied Carbon），应对国际碳边境调节机制 (CBAM)。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第十三章  产业关联（投入产出分析）</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中国投入产出表演变与产业掌控力实证</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12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中国投入产出网络特征演变</a:t>
            </a:r>
          </a:p>
          <a:p>
            <a:pPr>
              <a:spcAft>
                <a:spcPts val="600"/>
              </a:spcAft>
            </a:pPr>
            <a:r>
              <a:rPr b="1" sz="1250">
                <a:solidFill>
                  <a:srgbClr val="1E293B"/>
                </a:solidFill>
                <a:latin typeface="微软雅黑"/>
              </a:rPr>
              <a:t>趋势：</a:t>
            </a:r>
            <a:r>
              <a:rPr sz="1250">
                <a:solidFill>
                  <a:srgbClr val="1E293B"/>
                </a:solidFill>
                <a:latin typeface="宋体"/>
              </a:rPr>
              <a:t>制造业内部关联日益紧密，生产性服务业注入系数大幅提升。</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双循环下的国内大循环测算</a:t>
            </a:r>
          </a:p>
          <a:p>
            <a:pPr>
              <a:spcAft>
                <a:spcPts val="600"/>
              </a:spcAft>
            </a:pPr>
            <a:r>
              <a:rPr b="1" sz="1250">
                <a:solidFill>
                  <a:srgbClr val="1E293B"/>
                </a:solidFill>
                <a:latin typeface="微软雅黑"/>
              </a:rPr>
              <a:t>实证结果：</a:t>
            </a:r>
            <a:r>
              <a:rPr sz="1250">
                <a:solidFill>
                  <a:srgbClr val="1E293B"/>
                </a:solidFill>
                <a:latin typeface="宋体"/>
              </a:rPr>
              <a:t>中国国内大循环独立性与自我循环能力持续增强。</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第十三章  产业关联（投入产出分析）</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第13章 延伸视角｜产业关联与产业控制力深度研讨</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13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理论深化：投入产出模型扩展</a:t>
            </a:r>
          </a:p>
          <a:p>
            <a:pPr>
              <a:spcAft>
                <a:spcPts val="600"/>
              </a:spcAft>
            </a:pPr>
            <a:r>
              <a:rPr b="1" sz="1250">
                <a:solidFill>
                  <a:srgbClr val="1E293B"/>
                </a:solidFill>
                <a:latin typeface="微软雅黑"/>
              </a:rPr>
              <a:t>理论深化：</a:t>
            </a:r>
            <a:r>
              <a:rPr sz="1250">
                <a:solidFill>
                  <a:srgbClr val="1E293B"/>
                </a:solidFill>
                <a:latin typeface="宋体"/>
              </a:rPr>
              <a:t>围绕《产业经济学》（第3版）第13章的核心机制进行博弈与福利深化。</a:t>
            </a:r>
          </a:p>
          <a:p>
            <a:pPr>
              <a:spcAft>
                <a:spcPts val="600"/>
              </a:spcAft>
            </a:pPr>
            <a:r>
              <a:rPr b="1" sz="1250">
                <a:solidFill>
                  <a:srgbClr val="1E293B"/>
                </a:solidFill>
                <a:latin typeface="微软雅黑"/>
              </a:rPr>
              <a:t>现实映射：</a:t>
            </a:r>
            <a:r>
              <a:rPr sz="1250">
                <a:solidFill>
                  <a:srgbClr val="1E293B"/>
                </a:solidFill>
                <a:latin typeface="宋体"/>
              </a:rPr>
              <a:t>考察市场结构变迁对企业定价、规模扩张与行业效益的传导机制。</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反垄断与微观规制视角</a:t>
            </a:r>
          </a:p>
          <a:p>
            <a:pPr>
              <a:spcAft>
                <a:spcPts val="600"/>
              </a:spcAft>
            </a:pPr>
            <a:r>
              <a:rPr b="1" sz="1250">
                <a:solidFill>
                  <a:srgbClr val="1E293B"/>
                </a:solidFill>
                <a:latin typeface="微软雅黑"/>
              </a:rPr>
              <a:t>政策导向：</a:t>
            </a:r>
            <a:r>
              <a:rPr sz="1250">
                <a:solidFill>
                  <a:srgbClr val="1E293B"/>
                </a:solidFill>
                <a:latin typeface="宋体"/>
              </a:rPr>
              <a:t>评估政府行政干预与竞争政策在防范市场势力滥用中的边界。</a:t>
            </a:r>
          </a:p>
          <a:p>
            <a:pPr>
              <a:spcAft>
                <a:spcPts val="600"/>
              </a:spcAft>
            </a:pPr>
            <a:r>
              <a:rPr b="1" sz="1250">
                <a:solidFill>
                  <a:srgbClr val="1E293B"/>
                </a:solidFill>
                <a:latin typeface="微软雅黑"/>
              </a:rPr>
              <a:t>治理创新：</a:t>
            </a:r>
            <a:r>
              <a:rPr sz="1250">
                <a:solidFill>
                  <a:srgbClr val="1E293B"/>
                </a:solidFill>
                <a:latin typeface="宋体"/>
              </a:rPr>
              <a:t>推动竞争政策基础地位与全国统一大市场建设的协同。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第十三章  产业关联（投入产出分析）</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投入产出分析核心指标、计算方法与控制力应用矩阵</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14 / 16 页</a:t>
            </a:r>
          </a:p>
        </p:txBody>
      </p:sp>
      <p:graphicFrame>
        <p:nvGraphicFramePr>
          <p:cNvPr id="6" name="Table 5"/>
          <p:cNvGraphicFramePr>
            <a:graphicFrameLocks noGrp="1"/>
          </p:cNvGraphicFramePr>
          <p:nvPr/>
        </p:nvGraphicFramePr>
        <p:xfrm>
          <a:off x="731520" y="1554480"/>
          <a:ext cx="10728655" cy="4572000"/>
        </p:xfrm>
        <a:graphic>
          <a:graphicData uri="http://schemas.openxmlformats.org/drawingml/2006/table">
            <a:tbl>
              <a:tblPr firstRow="1" bandRow="1">
                <a:tableStyleId>{5C22544A-7EE6-4342-B048-85BDC9FD1C3A}</a:tableStyleId>
              </a:tblPr>
              <a:tblGrid>
                <a:gridCol w="2145731"/>
                <a:gridCol w="2145731"/>
                <a:gridCol w="2145731"/>
                <a:gridCol w="2145731"/>
                <a:gridCol w="2145731"/>
              </a:tblGrid>
              <a:tr h="914400">
                <a:tc>
                  <a:txBody>
                    <a:bodyPr/>
                    <a:lstStyle/>
                    <a:p>
                      <a:pPr algn="ctr">
                        <a:defRPr sz="1300" b="1">
                          <a:solidFill>
                            <a:srgbClr val="FFFFFF"/>
                          </a:solidFill>
                          <a:latin typeface="微软雅黑"/>
                        </a:defRPr>
                      </a:pPr>
                      <a:r>
                        <a:t>分析指标</a:t>
                      </a:r>
                    </a:p>
                  </a:txBody>
                  <a:tcPr>
                    <a:solidFill>
                      <a:srgbClr val="1B4965"/>
                    </a:solidFill>
                  </a:tcPr>
                </a:tc>
                <a:tc>
                  <a:txBody>
                    <a:bodyPr/>
                    <a:lstStyle/>
                    <a:p>
                      <a:pPr algn="ctr">
                        <a:defRPr sz="1300" b="1">
                          <a:solidFill>
                            <a:srgbClr val="FFFFFF"/>
                          </a:solidFill>
                          <a:latin typeface="微软雅黑"/>
                        </a:defRPr>
                      </a:pPr>
                      <a:r>
                        <a:t>计算公式 / 表达式</a:t>
                      </a:r>
                    </a:p>
                  </a:txBody>
                  <a:tcPr>
                    <a:solidFill>
                      <a:srgbClr val="1B4965"/>
                    </a:solidFill>
                  </a:tcPr>
                </a:tc>
                <a:tc>
                  <a:txBody>
                    <a:bodyPr/>
                    <a:lstStyle/>
                    <a:p>
                      <a:pPr algn="ctr">
                        <a:defRPr sz="1300" b="1">
                          <a:solidFill>
                            <a:srgbClr val="FFFFFF"/>
                          </a:solidFill>
                          <a:latin typeface="微软雅黑"/>
                        </a:defRPr>
                      </a:pPr>
                      <a:r>
                        <a:t>衡量维度</a:t>
                      </a:r>
                    </a:p>
                  </a:txBody>
                  <a:tcPr>
                    <a:solidFill>
                      <a:srgbClr val="1B4965"/>
                    </a:solidFill>
                  </a:tcPr>
                </a:tc>
                <a:tc>
                  <a:txBody>
                    <a:bodyPr/>
                    <a:lstStyle/>
                    <a:p>
                      <a:pPr algn="ctr">
                        <a:defRPr sz="1300" b="1">
                          <a:solidFill>
                            <a:srgbClr val="FFFFFF"/>
                          </a:solidFill>
                          <a:latin typeface="微软雅黑"/>
                        </a:defRPr>
                      </a:pPr>
                      <a:r>
                        <a:t>对产业链控制力的含义</a:t>
                      </a:r>
                    </a:p>
                  </a:txBody>
                  <a:tcPr>
                    <a:solidFill>
                      <a:srgbClr val="1B4965"/>
                    </a:solidFill>
                  </a:tcPr>
                </a:tc>
                <a:tc>
                  <a:txBody>
                    <a:bodyPr/>
                    <a:lstStyle/>
                    <a:p>
                      <a:pPr algn="ctr">
                        <a:defRPr sz="1300" b="1">
                          <a:solidFill>
                            <a:srgbClr val="FFFFFF"/>
                          </a:solidFill>
                          <a:latin typeface="微软雅黑"/>
                        </a:defRPr>
                      </a:pPr>
                      <a:r>
                        <a:t>政策决策应用</a:t>
                      </a:r>
                    </a:p>
                  </a:txBody>
                  <a:tcPr>
                    <a:solidFill>
                      <a:srgbClr val="1B4965"/>
                    </a:solidFill>
                  </a:tcPr>
                </a:tc>
              </a:tr>
              <a:tr h="914400">
                <a:tc>
                  <a:txBody>
                    <a:bodyPr/>
                    <a:lstStyle/>
                    <a:p>
                      <a:pPr>
                        <a:defRPr sz="1100">
                          <a:solidFill>
                            <a:srgbClr val="1E293B"/>
                          </a:solidFill>
                          <a:latin typeface="宋体"/>
                        </a:defRPr>
                      </a:pPr>
                      <a:r>
                        <a:t>直接消耗系数 a_{ij}</a:t>
                      </a:r>
                    </a:p>
                  </a:txBody>
                  <a:tcPr>
                    <a:solidFill>
                      <a:srgbClr val="FFFFFF"/>
                    </a:solidFill>
                  </a:tcPr>
                </a:tc>
                <a:tc>
                  <a:txBody>
                    <a:bodyPr/>
                    <a:lstStyle/>
                    <a:p>
                      <a:pPr>
                        <a:defRPr sz="1100">
                          <a:solidFill>
                            <a:srgbClr val="1E293B"/>
                          </a:solidFill>
                          <a:latin typeface="宋体"/>
                        </a:defRPr>
                      </a:pPr>
                      <a:r>
                        <a:t>x_{ij} / X_j</a:t>
                      </a:r>
                    </a:p>
                  </a:txBody>
                  <a:tcPr>
                    <a:solidFill>
                      <a:srgbClr val="FFFFFF"/>
                    </a:solidFill>
                  </a:tcPr>
                </a:tc>
                <a:tc>
                  <a:txBody>
                    <a:bodyPr/>
                    <a:lstStyle/>
                    <a:p>
                      <a:pPr>
                        <a:defRPr sz="1100">
                          <a:solidFill>
                            <a:srgbClr val="1E293B"/>
                          </a:solidFill>
                          <a:latin typeface="宋体"/>
                        </a:defRPr>
                      </a:pPr>
                      <a:r>
                        <a:t>部门间直接技术依赖</a:t>
                      </a:r>
                    </a:p>
                  </a:txBody>
                  <a:tcPr>
                    <a:solidFill>
                      <a:srgbClr val="FFFFFF"/>
                    </a:solidFill>
                  </a:tcPr>
                </a:tc>
                <a:tc>
                  <a:txBody>
                    <a:bodyPr/>
                    <a:lstStyle/>
                    <a:p>
                      <a:pPr>
                        <a:defRPr sz="1100">
                          <a:solidFill>
                            <a:srgbClr val="1E293B"/>
                          </a:solidFill>
                          <a:latin typeface="宋体"/>
                        </a:defRPr>
                      </a:pPr>
                      <a:r>
                        <a:t>反映初始原材料/部件依赖度</a:t>
                      </a:r>
                    </a:p>
                  </a:txBody>
                  <a:tcPr>
                    <a:solidFill>
                      <a:srgbClr val="FFFFFF"/>
                    </a:solidFill>
                  </a:tcPr>
                </a:tc>
                <a:tc>
                  <a:txBody>
                    <a:bodyPr/>
                    <a:lstStyle/>
                    <a:p>
                      <a:pPr>
                        <a:defRPr sz="1100">
                          <a:solidFill>
                            <a:srgbClr val="1E293B"/>
                          </a:solidFill>
                          <a:latin typeface="宋体"/>
                        </a:defRPr>
                      </a:pPr>
                      <a:r>
                        <a:t>评估供应链基础技术结构</a:t>
                      </a:r>
                    </a:p>
                  </a:txBody>
                  <a:tcPr>
                    <a:solidFill>
                      <a:srgbClr val="FFFFFF"/>
                    </a:solidFill>
                  </a:tcPr>
                </a:tc>
              </a:tr>
              <a:tr h="914400">
                <a:tc>
                  <a:txBody>
                    <a:bodyPr/>
                    <a:lstStyle/>
                    <a:p>
                      <a:pPr>
                        <a:defRPr sz="1100">
                          <a:solidFill>
                            <a:srgbClr val="1E293B"/>
                          </a:solidFill>
                          <a:latin typeface="宋体"/>
                        </a:defRPr>
                      </a:pPr>
                      <a:r>
                        <a:t>Leontief 逆矩阵 B</a:t>
                      </a:r>
                    </a:p>
                  </a:txBody>
                  <a:tcPr>
                    <a:solidFill>
                      <a:srgbClr val="F1F5F9"/>
                    </a:solidFill>
                  </a:tcPr>
                </a:tc>
                <a:tc>
                  <a:txBody>
                    <a:bodyPr/>
                    <a:lstStyle/>
                    <a:p>
                      <a:pPr>
                        <a:defRPr sz="1100">
                          <a:solidFill>
                            <a:srgbClr val="1E293B"/>
                          </a:solidFill>
                          <a:latin typeface="宋体"/>
                        </a:defRPr>
                      </a:pPr>
                      <a:r>
                        <a:t>(I - A)^{-1}</a:t>
                      </a:r>
                    </a:p>
                  </a:txBody>
                  <a:tcPr>
                    <a:solidFill>
                      <a:srgbClr val="F1F5F9"/>
                    </a:solidFill>
                  </a:tcPr>
                </a:tc>
                <a:tc>
                  <a:txBody>
                    <a:bodyPr/>
                    <a:lstStyle/>
                    <a:p>
                      <a:pPr>
                        <a:defRPr sz="1100">
                          <a:solidFill>
                            <a:srgbClr val="1E293B"/>
                          </a:solidFill>
                          <a:latin typeface="宋体"/>
                        </a:defRPr>
                      </a:pPr>
                      <a:r>
                        <a:t>直接 + 间接完全拉动</a:t>
                      </a:r>
                    </a:p>
                  </a:txBody>
                  <a:tcPr>
                    <a:solidFill>
                      <a:srgbClr val="F1F5F9"/>
                    </a:solidFill>
                  </a:tcPr>
                </a:tc>
                <a:tc>
                  <a:txBody>
                    <a:bodyPr/>
                    <a:lstStyle/>
                    <a:p>
                      <a:pPr>
                        <a:defRPr sz="1100">
                          <a:solidFill>
                            <a:srgbClr val="1E293B"/>
                          </a:solidFill>
                          <a:latin typeface="宋体"/>
                        </a:defRPr>
                      </a:pPr>
                      <a:r>
                        <a:t>测算产业链全链条波及深度</a:t>
                      </a:r>
                    </a:p>
                  </a:txBody>
                  <a:tcPr>
                    <a:solidFill>
                      <a:srgbClr val="F1F5F9"/>
                    </a:solidFill>
                  </a:tcPr>
                </a:tc>
                <a:tc>
                  <a:txBody>
                    <a:bodyPr/>
                    <a:lstStyle/>
                    <a:p>
                      <a:pPr>
                        <a:defRPr sz="1100">
                          <a:solidFill>
                            <a:srgbClr val="1E293B"/>
                          </a:solidFill>
                          <a:latin typeface="宋体"/>
                        </a:defRPr>
                      </a:pPr>
                      <a:r>
                        <a:t>模拟外生冲击与价格传导</a:t>
                      </a:r>
                    </a:p>
                  </a:txBody>
                  <a:tcPr>
                    <a:solidFill>
                      <a:srgbClr val="F1F5F9"/>
                    </a:solidFill>
                  </a:tcPr>
                </a:tc>
              </a:tr>
              <a:tr h="914400">
                <a:tc>
                  <a:txBody>
                    <a:bodyPr/>
                    <a:lstStyle/>
                    <a:p>
                      <a:pPr>
                        <a:defRPr sz="1100">
                          <a:solidFill>
                            <a:srgbClr val="1E293B"/>
                          </a:solidFill>
                          <a:latin typeface="宋体"/>
                        </a:defRPr>
                      </a:pPr>
                      <a:r>
                        <a:t>感应度系数 E_i</a:t>
                      </a:r>
                    </a:p>
                  </a:txBody>
                  <a:tcPr>
                    <a:solidFill>
                      <a:srgbClr val="FFFFFF"/>
                    </a:solidFill>
                  </a:tcPr>
                </a:tc>
                <a:tc>
                  <a:txBody>
                    <a:bodyPr/>
                    <a:lstStyle/>
                    <a:p>
                      <a:pPr>
                        <a:defRPr sz="1100">
                          <a:solidFill>
                            <a:srgbClr val="1E293B"/>
                          </a:solidFill>
                          <a:latin typeface="宋体"/>
                        </a:defRPr>
                      </a:pPr>
                      <a:r>
                        <a:t>(sum_j b_{ij}/N) / Avg</a:t>
                      </a:r>
                    </a:p>
                  </a:txBody>
                  <a:tcPr>
                    <a:solidFill>
                      <a:srgbClr val="FFFFFF"/>
                    </a:solidFill>
                  </a:tcPr>
                </a:tc>
                <a:tc>
                  <a:txBody>
                    <a:bodyPr/>
                    <a:lstStyle/>
                    <a:p>
                      <a:pPr>
                        <a:defRPr sz="1100">
                          <a:solidFill>
                            <a:srgbClr val="1E293B"/>
                          </a:solidFill>
                          <a:latin typeface="宋体"/>
                        </a:defRPr>
                      </a:pPr>
                      <a:r>
                        <a:t>前向被需求拉动程度</a:t>
                      </a:r>
                    </a:p>
                  </a:txBody>
                  <a:tcPr>
                    <a:solidFill>
                      <a:srgbClr val="FFFFFF"/>
                    </a:solidFill>
                  </a:tcPr>
                </a:tc>
                <a:tc>
                  <a:txBody>
                    <a:bodyPr/>
                    <a:lstStyle/>
                    <a:p>
                      <a:pPr>
                        <a:defRPr sz="1100">
                          <a:solidFill>
                            <a:srgbClr val="1E293B"/>
                          </a:solidFill>
                          <a:latin typeface="宋体"/>
                        </a:defRPr>
                      </a:pPr>
                      <a:r>
                        <a:t>E_i &gt; 1 代表上游瓶颈基础产业</a:t>
                      </a:r>
                    </a:p>
                  </a:txBody>
                  <a:tcPr>
                    <a:solidFill>
                      <a:srgbClr val="FFFFFF"/>
                    </a:solidFill>
                  </a:tcPr>
                </a:tc>
                <a:tc>
                  <a:txBody>
                    <a:bodyPr/>
                    <a:lstStyle/>
                    <a:p>
                      <a:pPr>
                        <a:defRPr sz="1100">
                          <a:solidFill>
                            <a:srgbClr val="1E293B"/>
                          </a:solidFill>
                          <a:latin typeface="宋体"/>
                        </a:defRPr>
                      </a:pPr>
                      <a:r>
                        <a:t>防止上游卡脖子停摆</a:t>
                      </a:r>
                    </a:p>
                  </a:txBody>
                  <a:tcPr>
                    <a:solidFill>
                      <a:srgbClr val="FFFFFF"/>
                    </a:solidFill>
                  </a:tcPr>
                </a:tc>
              </a:tr>
              <a:tr h="914400">
                <a:tc>
                  <a:txBody>
                    <a:bodyPr/>
                    <a:lstStyle/>
                    <a:p>
                      <a:pPr>
                        <a:defRPr sz="1100">
                          <a:solidFill>
                            <a:srgbClr val="1E293B"/>
                          </a:solidFill>
                          <a:latin typeface="宋体"/>
                        </a:defRPr>
                      </a:pPr>
                      <a:r>
                        <a:t>影响力系数 F_j</a:t>
                      </a:r>
                    </a:p>
                  </a:txBody>
                  <a:tcPr>
                    <a:solidFill>
                      <a:srgbClr val="F1F5F9"/>
                    </a:solidFill>
                  </a:tcPr>
                </a:tc>
                <a:tc>
                  <a:txBody>
                    <a:bodyPr/>
                    <a:lstStyle/>
                    <a:p>
                      <a:pPr>
                        <a:defRPr sz="1100">
                          <a:solidFill>
                            <a:srgbClr val="1E293B"/>
                          </a:solidFill>
                          <a:latin typeface="宋体"/>
                        </a:defRPr>
                      </a:pPr>
                      <a:r>
                        <a:t>(sum_i b_{ij}/N) / Avg</a:t>
                      </a:r>
                    </a:p>
                  </a:txBody>
                  <a:tcPr>
                    <a:solidFill>
                      <a:srgbClr val="F1F5F9"/>
                    </a:solidFill>
                  </a:tcPr>
                </a:tc>
                <a:tc>
                  <a:txBody>
                    <a:bodyPr/>
                    <a:lstStyle/>
                    <a:p>
                      <a:pPr>
                        <a:defRPr sz="1100">
                          <a:solidFill>
                            <a:srgbClr val="1E293B"/>
                          </a:solidFill>
                          <a:latin typeface="宋体"/>
                        </a:defRPr>
                      </a:pPr>
                      <a:r>
                        <a:t>后向对全行业拉动能力</a:t>
                      </a:r>
                    </a:p>
                  </a:txBody>
                  <a:tcPr>
                    <a:solidFill>
                      <a:srgbClr val="F1F5F9"/>
                    </a:solidFill>
                  </a:tcPr>
                </a:tc>
                <a:tc>
                  <a:txBody>
                    <a:bodyPr/>
                    <a:lstStyle/>
                    <a:p>
                      <a:pPr>
                        <a:defRPr sz="1100">
                          <a:solidFill>
                            <a:srgbClr val="1E293B"/>
                          </a:solidFill>
                          <a:latin typeface="宋体"/>
                        </a:defRPr>
                      </a:pPr>
                      <a:r>
                        <a:t>F_j &gt; 1 代表高带动力主导产业</a:t>
                      </a:r>
                    </a:p>
                  </a:txBody>
                  <a:tcPr>
                    <a:solidFill>
                      <a:srgbClr val="F1F5F9"/>
                    </a:solidFill>
                  </a:tcPr>
                </a:tc>
                <a:tc>
                  <a:txBody>
                    <a:bodyPr/>
                    <a:lstStyle/>
                    <a:p>
                      <a:pPr>
                        <a:defRPr sz="1100">
                          <a:solidFill>
                            <a:srgbClr val="1E293B"/>
                          </a:solidFill>
                          <a:latin typeface="宋体"/>
                        </a:defRPr>
                      </a:pPr>
                      <a:r>
                        <a:t>选定优先投资扶持对象</a:t>
                      </a:r>
                    </a:p>
                  </a:txBody>
                  <a:tcPr>
                    <a:solidFill>
                      <a:srgbClr val="F1F5F9"/>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第十三章  产业关联（投入产出分析）</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思考与研讨｜如何利用投入产出网络实施精准强链</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15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基于 IO 表的“强链补链”清单绘制</a:t>
            </a:r>
          </a:p>
          <a:p>
            <a:pPr>
              <a:spcAft>
                <a:spcPts val="600"/>
              </a:spcAft>
            </a:pPr>
            <a:r>
              <a:rPr b="1" sz="1250">
                <a:solidFill>
                  <a:srgbClr val="1E293B"/>
                </a:solidFill>
                <a:latin typeface="微软雅黑"/>
              </a:rPr>
              <a:t>问题：</a:t>
            </a:r>
            <a:r>
              <a:rPr sz="1250">
                <a:solidFill>
                  <a:srgbClr val="1E293B"/>
                </a:solidFill>
                <a:latin typeface="宋体"/>
              </a:rPr>
              <a:t>如何将宏观投入产出表与微观企业供应链数据库对齐？</a:t>
            </a:r>
          </a:p>
          <a:p>
            <a:pPr>
              <a:spcAft>
                <a:spcPts val="600"/>
              </a:spcAft>
            </a:pPr>
            <a:r>
              <a:rPr b="1" sz="1250">
                <a:solidFill>
                  <a:srgbClr val="1E293B"/>
                </a:solidFill>
                <a:latin typeface="微软雅黑"/>
              </a:rPr>
              <a:t>思考：</a:t>
            </a:r>
            <a:r>
              <a:rPr sz="1250">
                <a:solidFill>
                  <a:srgbClr val="1E293B"/>
                </a:solidFill>
                <a:latin typeface="宋体"/>
              </a:rPr>
              <a:t>如何精准识别具有高前向感应度且进口依赖度高的危险节点？</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全球投入产出表 (WIOD) 与地缘风险</a:t>
            </a:r>
          </a:p>
          <a:p>
            <a:pPr>
              <a:spcAft>
                <a:spcPts val="600"/>
              </a:spcAft>
            </a:pPr>
            <a:r>
              <a:rPr b="1" sz="1250">
                <a:solidFill>
                  <a:srgbClr val="1E293B"/>
                </a:solidFill>
                <a:latin typeface="微软雅黑"/>
              </a:rPr>
              <a:t>思考：</a:t>
            </a:r>
            <a:r>
              <a:rPr sz="1250">
                <a:solidFill>
                  <a:srgbClr val="1E293B"/>
                </a:solidFill>
                <a:latin typeface="宋体"/>
              </a:rPr>
              <a:t>利用 WIOD 数据库如何评估全球供应链脱钩对我国产业安全的真实冲击？</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第十三章  产业关联（投入产出分析）</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延伸探讨｜第十三章  产业关联（投入产出分析）在现代产业体系中的战略拓展 (15)</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16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产业链控制力与竞争力评估</a:t>
            </a:r>
          </a:p>
          <a:p>
            <a:pPr>
              <a:spcAft>
                <a:spcPts val="600"/>
              </a:spcAft>
            </a:pPr>
            <a:r>
              <a:rPr b="1" sz="1250">
                <a:solidFill>
                  <a:srgbClr val="1E293B"/>
                </a:solidFill>
                <a:latin typeface="微软雅黑"/>
              </a:rPr>
              <a:t>理论深化：</a:t>
            </a:r>
            <a:r>
              <a:rPr sz="1250">
                <a:solidFill>
                  <a:srgbClr val="1E293B"/>
                </a:solidFill>
                <a:latin typeface="宋体"/>
              </a:rPr>
              <a:t>深入评估该维度对区域与国家产业安全、技术自主及竞争优势的传导机制。</a:t>
            </a:r>
          </a:p>
          <a:p>
            <a:pPr>
              <a:spcAft>
                <a:spcPts val="600"/>
              </a:spcAft>
            </a:pPr>
            <a:r>
              <a:rPr b="1" sz="1250">
                <a:solidFill>
                  <a:srgbClr val="1E293B"/>
                </a:solidFill>
                <a:latin typeface="微软雅黑"/>
              </a:rPr>
              <a:t>战略方向：</a:t>
            </a:r>
            <a:r>
              <a:rPr sz="1250">
                <a:solidFill>
                  <a:srgbClr val="1E293B"/>
                </a:solidFill>
                <a:latin typeface="宋体"/>
              </a:rPr>
              <a:t>围绕现代化产业体系建设，推动要素高效配置与产业链韧性提升。</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反垄断与竞争政策协同</a:t>
            </a:r>
          </a:p>
          <a:p>
            <a:pPr>
              <a:spcAft>
                <a:spcPts val="600"/>
              </a:spcAft>
            </a:pPr>
            <a:r>
              <a:rPr b="1" sz="1250">
                <a:solidFill>
                  <a:srgbClr val="1E293B"/>
                </a:solidFill>
                <a:latin typeface="微软雅黑"/>
              </a:rPr>
              <a:t>政策协调：</a:t>
            </a:r>
            <a:r>
              <a:rPr sz="1250">
                <a:solidFill>
                  <a:srgbClr val="1E293B"/>
                </a:solidFill>
                <a:latin typeface="宋体"/>
              </a:rPr>
              <a:t>强化竞争政策的基础性地位，规范市场秩序，防范资本无序扩张与行政保护。</a:t>
            </a:r>
          </a:p>
          <a:p>
            <a:pPr>
              <a:spcAft>
                <a:spcPts val="600"/>
              </a:spcAft>
            </a:pPr>
            <a:r>
              <a:rPr b="1" sz="1250">
                <a:solidFill>
                  <a:srgbClr val="1E293B"/>
                </a:solidFill>
                <a:latin typeface="微软雅黑"/>
              </a:rPr>
              <a:t>未来展望：</a:t>
            </a:r>
            <a:r>
              <a:rPr sz="1250">
                <a:solidFill>
                  <a:srgbClr val="1E293B"/>
                </a:solidFill>
                <a:latin typeface="宋体"/>
              </a:rPr>
              <a:t>在超大规模国内市场中构建创新导向的全国统一大市场。</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