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第十六章  全球产业组织与全球价值链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【核心主线】：产业控制力的全球争夺与从 GVC 迈向 NVC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本章目录与产业控制力主线映射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产品内分工与 GVC 概念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产品内分工与微笑曲线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全球化下产业控制力的核心是掌控价值链高附加值环节。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GVC 治理与链主权力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Gereffi 治理模式与捕鼠器效应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剖析跨国公司如何利用链主地位掌控发展中国家。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攀升战略与 NVC 构建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GVC 升级路径与国家价值链 NVC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依托超大规模市场打造自主可控的现代化产业体系。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产业全球化与产品内分工 (Intra-product)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国际分工形态的重大演进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产业间分工：</a:t>
            </a:r>
            <a:r>
              <a:rPr sz="1250">
                <a:solidFill>
                  <a:srgbClr val="1E293B"/>
                </a:solidFill>
                <a:latin typeface="宋体"/>
              </a:rPr>
              <a:t>传统李嘉图分工（英国织布、葡萄牙酿酒）。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产业内分工：</a:t>
            </a:r>
            <a:r>
              <a:rPr sz="1250">
                <a:solidFill>
                  <a:srgbClr val="1E293B"/>
                </a:solidFill>
                <a:latin typeface="宋体"/>
              </a:rPr>
              <a:t>二战后二战后产业内双向贸易（德国与法国互相出口汽车）。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产品内分工 (Intra-product)：</a:t>
            </a:r>
            <a:r>
              <a:rPr sz="1250">
                <a:solidFill>
                  <a:srgbClr val="1E293B"/>
                </a:solidFill>
                <a:latin typeface="宋体"/>
              </a:rPr>
              <a:t>现代 GVC 核心！同一产品的不同工序/环节分布在不同国家。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垂直专业化 (Vertical Specialization)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特征：</a:t>
            </a:r>
            <a:r>
              <a:rPr sz="1250">
                <a:solidFill>
                  <a:srgbClr val="1E293B"/>
                </a:solidFill>
                <a:latin typeface="宋体"/>
              </a:rPr>
              <a:t>中间品跨国多次进出口与加工装配。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全球价值链 (GVC) 概念与“微笑曲线”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全球价值链 (Global Value Chain, GVC) 定义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定义：</a:t>
            </a:r>
            <a:r>
              <a:rPr sz="1250">
                <a:solidFill>
                  <a:srgbClr val="1E293B"/>
                </a:solidFill>
                <a:latin typeface="宋体"/>
              </a:rPr>
              <a:t>为实现商品或服务价值，连接生产、回收等过程的技术交织的跨国全球网络。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经典“微笑曲线”（Smile Curve）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左端高附加值：</a:t>
            </a:r>
            <a:r>
              <a:rPr sz="1250">
                <a:solidFill>
                  <a:srgbClr val="1E293B"/>
                </a:solidFill>
                <a:latin typeface="宋体"/>
              </a:rPr>
              <a:t>研发、芯片设计、关键专利、基础软件。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中间低附加值：</a:t>
            </a:r>
            <a:r>
              <a:rPr sz="1250">
                <a:solidFill>
                  <a:srgbClr val="1E293B"/>
                </a:solidFill>
                <a:latin typeface="宋体"/>
              </a:rPr>
              <a:t>代工、加工组装（劳动密集型，利润极其微薄）。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右端高附加值：</a:t>
            </a:r>
            <a:r>
              <a:rPr sz="1250">
                <a:solidFill>
                  <a:srgbClr val="1E293B"/>
                </a:solidFill>
                <a:latin typeface="宋体"/>
              </a:rPr>
              <a:t>品牌、全球营销网络、供应链金融、售后服务。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GVC 治理模式（Gereffi 五分法框架）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市场型 (Market GVC)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特点：</a:t>
            </a:r>
            <a:r>
              <a:rPr sz="1250">
                <a:solidFill>
                  <a:srgbClr val="1E293B"/>
                </a:solidFill>
                <a:latin typeface="宋体"/>
              </a:rPr>
              <a:t>交易简单，依靠价格机制分配，转换成本低。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模块型 (Modular GVC)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特点：</a:t>
            </a:r>
            <a:r>
              <a:rPr sz="1250">
                <a:solidFill>
                  <a:srgbClr val="1E293B"/>
                </a:solidFill>
                <a:latin typeface="宋体"/>
              </a:rPr>
              <a:t>按标准模块规格生产（如电子代工），OEM 模式。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3. 关系型 (Relational GVC)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特点：</a:t>
            </a:r>
            <a:r>
              <a:rPr sz="1250">
                <a:solidFill>
                  <a:srgbClr val="1E293B"/>
                </a:solidFill>
                <a:latin typeface="宋体"/>
              </a:rPr>
              <a:t>依赖长期信任与互补资产，社会关系紧密。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4. 被俘获型与层级型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被俘获型 (Captive)：</a:t>
            </a:r>
            <a:r>
              <a:rPr sz="1250">
                <a:solidFill>
                  <a:srgbClr val="1E293B"/>
                </a:solidFill>
                <a:latin typeface="宋体"/>
              </a:rPr>
              <a:t>代工企业严重依赖链主，被锁死在低端；层级型为垂直一体化。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链主企业（Chain Captains）的掌控力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购买者驱动 vs 生产者驱动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购买者驱动 (Buyer-driven)：</a:t>
            </a:r>
            <a:r>
              <a:rPr sz="1250">
                <a:solidFill>
                  <a:srgbClr val="1E293B"/>
                </a:solidFill>
                <a:latin typeface="宋体"/>
              </a:rPr>
              <a:t>沃尔玛、耐克利用品牌与零售渠道掌控轻工业链条。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生产者驱动 (Producer-driven)：</a:t>
            </a:r>
            <a:r>
              <a:rPr sz="1250">
                <a:solidFill>
                  <a:srgbClr val="1E293B"/>
                </a:solidFill>
                <a:latin typeface="宋体"/>
              </a:rPr>
              <a:t>苹果、波音利用核心技术与资本掌控重工业/高科技链条。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链主企业的权力表达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标准与准入：</a:t>
            </a:r>
            <a:r>
              <a:rPr sz="1250">
                <a:solidFill>
                  <a:srgbClr val="1E293B"/>
                </a:solidFill>
                <a:latin typeface="宋体"/>
              </a:rPr>
              <a:t>制定质量、环保（ESG）、IT 接口标准，拥有决定谁能进入供应链的裁决权。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发展中国家在 GVC 中的“捕鼠器效应”与陷阱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“捕鼠器效应”（Lock-in Trap）机制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升级压制：</a:t>
            </a:r>
            <a:r>
              <a:rPr sz="1250">
                <a:solidFill>
                  <a:srgbClr val="1E293B"/>
                </a:solidFill>
                <a:latin typeface="宋体"/>
              </a:rPr>
              <a:t>跨国公司乐于向代工企业转让低端加工技术，但一旦代工企业尝试向 R&amp;D 或品牌延伸，立即遭遇订单撤走惩罚或技术封锁！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悲惨增长 (Immiserizing Growth)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现象：</a:t>
            </a:r>
            <a:r>
              <a:rPr sz="1250">
                <a:solidFill>
                  <a:srgbClr val="1E293B"/>
                </a:solidFill>
                <a:latin typeface="宋体"/>
              </a:rPr>
              <a:t>出口数量急剧增加，但贸易条件（Terms of Trade）恶化，只赚取微薄加工费。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发展中国家 GVC 升级四大路径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工艺升级 (Process Upgrading)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路径：</a:t>
            </a:r>
            <a:r>
              <a:rPr sz="1250">
                <a:solidFill>
                  <a:srgbClr val="1E293B"/>
                </a:solidFill>
                <a:latin typeface="宋体"/>
              </a:rPr>
              <a:t>引入先进设备提升生产效率。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产品升级 (Product Upgrading)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路径：</a:t>
            </a:r>
            <a:r>
              <a:rPr sz="1250">
                <a:solidFill>
                  <a:srgbClr val="1E293B"/>
                </a:solidFill>
                <a:latin typeface="宋体"/>
              </a:rPr>
              <a:t>从生产低端产品转向生产复杂高质产品。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3. 功能升级 (Functional Upgrading)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路径：</a:t>
            </a:r>
            <a:r>
              <a:rPr sz="1250">
                <a:solidFill>
                  <a:srgbClr val="1E293B"/>
                </a:solidFill>
                <a:latin typeface="宋体"/>
              </a:rPr>
              <a:t>从 OEM（代工）向 ODM（设计）及 OBM（自主品牌）跨越！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4. 链条升级 (Chain Upgrading)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路径：</a:t>
            </a:r>
            <a:r>
              <a:rPr sz="1250">
                <a:solidFill>
                  <a:srgbClr val="1E293B"/>
                </a:solidFill>
                <a:latin typeface="宋体"/>
              </a:rPr>
              <a:t>跨越至全新的高附加值产业链条。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全球价值链重构：区域化、近岸化与友岸外包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GVC 重构新趋势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安全优先：</a:t>
            </a:r>
            <a:r>
              <a:rPr sz="1250">
                <a:solidFill>
                  <a:srgbClr val="1E293B"/>
                </a:solidFill>
                <a:latin typeface="宋体"/>
              </a:rPr>
              <a:t>从追求“纯粹成本效率”（Just-in-Time）转向兼顾“供应链安全韧性”（Just-in-Case）。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三大重构形态：</a:t>
            </a:r>
            <a:r>
              <a:rPr sz="1250">
                <a:solidFill>
                  <a:srgbClr val="1E293B"/>
                </a:solidFill>
                <a:latin typeface="宋体"/>
              </a:rPr>
              <a:t>区域化（Regionalization）、近岸化（Nearshoring）、友岸外包（Friendshoring）。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全球链条阵营化风险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挑战：</a:t>
            </a:r>
            <a:r>
              <a:rPr sz="1250">
                <a:solidFill>
                  <a:srgbClr val="1E293B"/>
                </a:solidFill>
                <a:latin typeface="宋体"/>
              </a:rPr>
              <a:t>大国博弈加速了半导体、AI 等高科技产业链的脱钩断链。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构建国家价值链 (National Value Chain, NVC) 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刘志彪教授 NVC 理论核心思想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核心主张：</a:t>
            </a:r>
            <a:r>
              <a:rPr sz="1250">
                <a:solidFill>
                  <a:srgbClr val="1E293B"/>
                </a:solidFill>
                <a:latin typeface="宋体"/>
              </a:rPr>
              <a:t>发展中大国不能永远被动嵌入 GVC，必须依托国内超大规模市场构建自主可控的国家价值链 (NVC)！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NVC 的运行逻辑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双循环协同：</a:t>
            </a:r>
            <a:r>
              <a:rPr sz="1250">
                <a:solidFill>
                  <a:srgbClr val="1E293B"/>
                </a:solidFill>
                <a:latin typeface="宋体"/>
              </a:rPr>
              <a:t>以国内大循环作为核心依托，由本土品牌作为“链主”整合国内供应商，进而向全球辐射。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依托超大规模国内市场实现双循环互动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超大规模市场的虹吸与拉动效应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市场即资源：</a:t>
            </a:r>
            <a:r>
              <a:rPr sz="1250">
                <a:solidFill>
                  <a:srgbClr val="1E293B"/>
                </a:solidFill>
                <a:latin typeface="宋体"/>
              </a:rPr>
              <a:t>庞大市场为自主技术创新提供了极具容错力的首发应用场景。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统一大市场破除内卷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政策结合：</a:t>
            </a:r>
            <a:r>
              <a:rPr sz="1250">
                <a:solidFill>
                  <a:srgbClr val="1E293B"/>
                </a:solidFill>
                <a:latin typeface="宋体"/>
              </a:rPr>
              <a:t>打破地方保护主义与行政壁垒，让国内 NVC 的要素高效自由流动。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中国企业从 OEM/ODM 向 OBM 全球化跨越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联想、海尔、吉利的全球化兼并与品牌跨越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并购反哺：</a:t>
            </a:r>
            <a:r>
              <a:rPr sz="1250">
                <a:solidFill>
                  <a:srgbClr val="1E293B"/>
                </a:solidFill>
                <a:latin typeface="宋体"/>
              </a:rPr>
              <a:t>通过并购 IBM ThinkPad、沃尔沃汽车等国际品牌快速完成功能升级。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跨境电商与新三样（新能源车、电池、光伏）出海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自主掌控：</a:t>
            </a:r>
            <a:r>
              <a:rPr sz="1250">
                <a:solidFill>
                  <a:srgbClr val="1E293B"/>
                </a:solidFill>
                <a:latin typeface="宋体"/>
              </a:rPr>
              <a:t>以自主技术与品牌直接建立全球分销与售后体系，掌握 GVC 主导权！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构建自主可控现代化产业体系的终极选择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效率与安全的动态平衡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战略底线：</a:t>
            </a:r>
            <a:r>
              <a:rPr sz="1250">
                <a:solidFill>
                  <a:srgbClr val="1E293B"/>
                </a:solidFill>
                <a:latin typeface="宋体"/>
              </a:rPr>
              <a:t>在关键零部件和基础软硬件领域实现“备胎计划”与自主替代。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高水平对外开放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开放融合：</a:t>
            </a:r>
            <a:r>
              <a:rPr sz="1250">
                <a:solidFill>
                  <a:srgbClr val="1E293B"/>
                </a:solidFill>
                <a:latin typeface="宋体"/>
              </a:rPr>
              <a:t>NVC 绝非封闭自守，而是以更强自主控制力参与高水平国际竞争。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第16章 延伸视角｜GVC重构与产业控制力深度研讨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理论深化：GVC 治理框架扩展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围绕《产业经济学》（第3版）第16章的核心机制进行博弈与福利深化。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GVC 治理模式、升级路径与 NVC 战略对比矩阵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GVC 维度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核心特征 / 模式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权力分配机制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面临的陷阱 / 风险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产业控制力提升战略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模块型 GVC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标准接口代工 (OEM)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链主掌握标准与品牌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锁定在低附加值组装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推进工艺与产品升级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被俘获型 GVC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代工企业高度依附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链主施加绝对控制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面临“捕鼠器”封杀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向功能升级 (ODM-&gt;OBM)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GVC 重构趋势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近岸化、友岸外包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阵营化与安全导向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全球供应链断裂脱钩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兼顾成本效率与安全弹性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国家价值链 (NVC)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依托超大规模内需市场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本土品牌作为“链主”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需打破地方行政保护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构建自主可控现代化体系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第十六章  全球产业组织与全球价值链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思考与研讨｜逆全球化背景下中国企业 GVC 突围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小院高墙（Small Yard, High Fence）下的科技突围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背景：</a:t>
            </a:r>
            <a:r>
              <a:rPr sz="1250">
                <a:solidFill>
                  <a:srgbClr val="1E293B"/>
                </a:solidFill>
                <a:latin typeface="宋体"/>
              </a:rPr>
              <a:t>西方在半导体、AI 领域施加出口管制与技术封锁。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中国企业如何在依靠 NVC 内部迭代的同时维持与全球创新的连接？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从“中国制造”向“中国链主”转型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中国在新能源、高铁、5G 等优势领域如何制定全球标准与治理规则？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