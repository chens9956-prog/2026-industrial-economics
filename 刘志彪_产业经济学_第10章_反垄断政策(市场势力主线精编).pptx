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第十章  反垄断政策</a:t>
            </a:r>
          </a:p>
          <a:p>
            <a:pPr>
              <a:spcBef>
                <a:spcPts val="1500"/>
              </a:spcBef>
              <a:defRPr sz="1800" b="1">
                <a:solidFill>
                  <a:srgbClr val="C58A21"/>
                </a:solidFill>
                <a:latin typeface="微软雅黑"/>
              </a:defRPr>
            </a:pPr>
            <a:r>
              <a:t>【核心主线】：遏制市场势力非法获取、维持与滥用的法律与经济学工具</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本章目录与市场势力（Market Power）主线映射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欧美反垄断体系</a:t>
            </a:r>
          </a:p>
          <a:p>
            <a:pPr>
              <a:spcAft>
                <a:spcPts val="600"/>
              </a:spcAft>
            </a:pPr>
            <a:r>
              <a:rPr b="1" sz="1250">
                <a:solidFill>
                  <a:srgbClr val="1E293B"/>
                </a:solidFill>
                <a:latin typeface="微软雅黑"/>
              </a:rPr>
              <a:t>核心内容：</a:t>
            </a:r>
            <a:r>
              <a:rPr sz="1250">
                <a:solidFill>
                  <a:srgbClr val="1E293B"/>
                </a:solidFill>
                <a:latin typeface="宋体"/>
              </a:rPr>
              <a:t>谢尔曼法与 TFEU 101/102 条</a:t>
            </a:r>
          </a:p>
          <a:p>
            <a:pPr>
              <a:spcAft>
                <a:spcPts val="600"/>
              </a:spcAft>
            </a:pPr>
            <a:r>
              <a:rPr b="1" sz="1250">
                <a:solidFill>
                  <a:srgbClr val="1E293B"/>
                </a:solidFill>
                <a:latin typeface="微软雅黑"/>
              </a:rPr>
              <a:t>主线映射：</a:t>
            </a:r>
            <a:r>
              <a:rPr sz="1250">
                <a:solidFill>
                  <a:srgbClr val="1E293B"/>
                </a:solidFill>
                <a:latin typeface="宋体"/>
              </a:rPr>
              <a:t>奠定全局遏制非法市场势力的法律与经济学基石。</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中国反垄断法与三大支柱</a:t>
            </a:r>
          </a:p>
          <a:p>
            <a:pPr>
              <a:spcAft>
                <a:spcPts val="600"/>
              </a:spcAft>
            </a:pPr>
            <a:r>
              <a:rPr b="1" sz="1250">
                <a:solidFill>
                  <a:srgbClr val="1E293B"/>
                </a:solidFill>
                <a:latin typeface="微软雅黑"/>
              </a:rPr>
              <a:t>核心内容：</a:t>
            </a:r>
            <a:r>
              <a:rPr sz="1250">
                <a:solidFill>
                  <a:srgbClr val="1E293B"/>
                </a:solidFill>
                <a:latin typeface="宋体"/>
              </a:rPr>
              <a:t>垄断协议、滥用支配地位与经营者集中</a:t>
            </a:r>
          </a:p>
          <a:p>
            <a:pPr>
              <a:spcAft>
                <a:spcPts val="600"/>
              </a:spcAft>
            </a:pPr>
            <a:r>
              <a:rPr b="1" sz="1250">
                <a:solidFill>
                  <a:srgbClr val="1E293B"/>
                </a:solidFill>
                <a:latin typeface="微软雅黑"/>
              </a:rPr>
              <a:t>主线映射：</a:t>
            </a:r>
            <a:r>
              <a:rPr sz="1250">
                <a:solidFill>
                  <a:srgbClr val="1E293B"/>
                </a:solidFill>
                <a:latin typeface="宋体"/>
              </a:rPr>
              <a:t>构建中国规制市场势力滥用的完整制度防线。</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平台反垄断与行政垄断</a:t>
            </a:r>
          </a:p>
          <a:p>
            <a:pPr>
              <a:spcAft>
                <a:spcPts val="600"/>
              </a:spcAft>
            </a:pPr>
            <a:r>
              <a:rPr b="1" sz="1250">
                <a:solidFill>
                  <a:srgbClr val="1E293B"/>
                </a:solidFill>
                <a:latin typeface="微软雅黑"/>
              </a:rPr>
              <a:t>核心内容：</a:t>
            </a:r>
            <a:r>
              <a:rPr sz="1250">
                <a:solidFill>
                  <a:srgbClr val="1E293B"/>
                </a:solidFill>
                <a:latin typeface="宋体"/>
              </a:rPr>
              <a:t>数字反垄断与公平竞争审查</a:t>
            </a:r>
          </a:p>
          <a:p>
            <a:pPr>
              <a:spcAft>
                <a:spcPts val="600"/>
              </a:spcAft>
            </a:pPr>
            <a:r>
              <a:rPr b="1" sz="1250">
                <a:solidFill>
                  <a:srgbClr val="1E293B"/>
                </a:solidFill>
                <a:latin typeface="微软雅黑"/>
              </a:rPr>
              <a:t>主线映射：</a:t>
            </a:r>
            <a:r>
              <a:rPr sz="1250">
                <a:solidFill>
                  <a:srgbClr val="1E293B"/>
                </a:solidFill>
                <a:latin typeface="宋体"/>
              </a:rPr>
              <a:t>规范新型数字霸权与打破地方保护行政壁垒。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反垄断政策的经济学目标与基本原则</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反垄断法的基本目标</a:t>
            </a:r>
          </a:p>
          <a:p>
            <a:pPr>
              <a:spcAft>
                <a:spcPts val="600"/>
              </a:spcAft>
            </a:pPr>
            <a:r>
              <a:rPr b="1" sz="1250">
                <a:solidFill>
                  <a:srgbClr val="1E293B"/>
                </a:solidFill>
                <a:latin typeface="微软雅黑"/>
              </a:rPr>
              <a:t>保护竞争而非保护竞争者：</a:t>
            </a:r>
            <a:r>
              <a:rPr sz="1250">
                <a:solidFill>
                  <a:srgbClr val="1E293B"/>
                </a:solidFill>
                <a:latin typeface="宋体"/>
              </a:rPr>
              <a:t>反垄断反对的是滥用市场势力阻碍竞争，而非反对企业依靠效率胜出。</a:t>
            </a:r>
          </a:p>
          <a:p>
            <a:pPr>
              <a:spcAft>
                <a:spcPts val="600"/>
              </a:spcAft>
            </a:pPr>
            <a:r>
              <a:rPr b="1" sz="1250">
                <a:solidFill>
                  <a:srgbClr val="1E293B"/>
                </a:solidFill>
                <a:latin typeface="微软雅黑"/>
              </a:rPr>
              <a:t>社会福利最大化：</a:t>
            </a:r>
            <a:r>
              <a:rPr sz="1250">
                <a:solidFill>
                  <a:srgbClr val="1E293B"/>
                </a:solidFill>
                <a:latin typeface="宋体"/>
              </a:rPr>
              <a:t>增进消费者福利与经济效率，消除垄断无谓损失。</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本身违法原则 vs 合理原则</a:t>
            </a:r>
          </a:p>
          <a:p>
            <a:pPr>
              <a:spcAft>
                <a:spcPts val="600"/>
              </a:spcAft>
            </a:pPr>
            <a:r>
              <a:rPr b="1" sz="1250">
                <a:solidFill>
                  <a:srgbClr val="1E293B"/>
                </a:solidFill>
                <a:latin typeface="微软雅黑"/>
              </a:rPr>
              <a:t>本身违法原则 (Per Se Rule)：</a:t>
            </a:r>
            <a:r>
              <a:rPr sz="1250">
                <a:solidFill>
                  <a:srgbClr val="1E293B"/>
                </a:solidFill>
                <a:latin typeface="宋体"/>
              </a:rPr>
              <a:t>只要行为发生即判定违法（如固定价格卡特尔），无需证明伤害。</a:t>
            </a:r>
          </a:p>
          <a:p>
            <a:pPr>
              <a:spcAft>
                <a:spcPts val="600"/>
              </a:spcAft>
            </a:pPr>
            <a:r>
              <a:rPr b="1" sz="1250">
                <a:solidFill>
                  <a:srgbClr val="1E293B"/>
                </a:solidFill>
                <a:latin typeface="微软雅黑"/>
              </a:rPr>
              <a:t>合理原则 (Rule of Reason)：</a:t>
            </a:r>
            <a:r>
              <a:rPr sz="1250">
                <a:solidFill>
                  <a:srgbClr val="1E293B"/>
                </a:solidFill>
                <a:latin typeface="宋体"/>
              </a:rPr>
              <a:t>需要综合权衡该行为的反竞争效应与促进效率效应。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美国与欧盟反垄断法律体系对比</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美国反垄断法律体系 (Antitrust)</a:t>
            </a:r>
          </a:p>
          <a:p>
            <a:pPr>
              <a:spcAft>
                <a:spcPts val="600"/>
              </a:spcAft>
            </a:pPr>
            <a:r>
              <a:rPr b="1" sz="1250">
                <a:solidFill>
                  <a:srgbClr val="1E293B"/>
                </a:solidFill>
                <a:latin typeface="微软雅黑"/>
              </a:rPr>
              <a:t>三大核心法案：</a:t>
            </a:r>
            <a:r>
              <a:rPr sz="1250">
                <a:solidFill>
                  <a:srgbClr val="1E293B"/>
                </a:solidFill>
                <a:latin typeface="宋体"/>
              </a:rPr>
              <a:t>1890 谢尔曼法 (Sherman Act)、1914 克莱顿法 (Clayton Act)、1914 FTC 法案。</a:t>
            </a:r>
          </a:p>
          <a:p>
            <a:pPr>
              <a:spcAft>
                <a:spcPts val="600"/>
              </a:spcAft>
            </a:pPr>
            <a:r>
              <a:rPr b="1" sz="1250">
                <a:solidFill>
                  <a:srgbClr val="1E293B"/>
                </a:solidFill>
                <a:latin typeface="微软雅黑"/>
              </a:rPr>
              <a:t>执法特点：</a:t>
            </a:r>
            <a:r>
              <a:rPr sz="1250">
                <a:solidFill>
                  <a:srgbClr val="1E293B"/>
                </a:solidFill>
                <a:latin typeface="宋体"/>
              </a:rPr>
              <a:t>侧重防范经营者集中与横向共谋，强调市场效率。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欧盟竞争法体系 (Competition Law)</a:t>
            </a:r>
          </a:p>
          <a:p>
            <a:pPr>
              <a:spcAft>
                <a:spcPts val="600"/>
              </a:spcAft>
            </a:pPr>
            <a:r>
              <a:rPr b="1" sz="1250">
                <a:solidFill>
                  <a:srgbClr val="1E293B"/>
                </a:solidFill>
                <a:latin typeface="微软雅黑"/>
              </a:rPr>
              <a:t>两条基本支柱：</a:t>
            </a:r>
            <a:r>
              <a:rPr sz="1250">
                <a:solidFill>
                  <a:srgbClr val="1E293B"/>
                </a:solidFill>
                <a:latin typeface="宋体"/>
              </a:rPr>
              <a:t>TFEU 第 101 条（禁止限制竞争协议）与 第 102 条（禁止滥用市场支配地位）。</a:t>
            </a:r>
          </a:p>
          <a:p>
            <a:pPr>
              <a:spcAft>
                <a:spcPts val="600"/>
              </a:spcAft>
            </a:pPr>
            <a:r>
              <a:rPr b="1" sz="1250">
                <a:solidFill>
                  <a:srgbClr val="1E293B"/>
                </a:solidFill>
                <a:latin typeface="微软雅黑"/>
              </a:rPr>
              <a:t>执法特点：</a:t>
            </a:r>
            <a:r>
              <a:rPr sz="1250">
                <a:solidFill>
                  <a:srgbClr val="1E293B"/>
                </a:solidFill>
                <a:latin typeface="宋体"/>
              </a:rPr>
              <a:t>更加关注保护中小竞争对手与防止市场分割。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中国《反垄断法》(2022修订) 三大支柱体系</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1. 垄断协议 (Monopolistic Agreements)</a:t>
            </a:r>
          </a:p>
          <a:p>
            <a:pPr>
              <a:spcAft>
                <a:spcPts val="600"/>
              </a:spcAft>
            </a:pPr>
            <a:r>
              <a:rPr b="1" sz="1250">
                <a:solidFill>
                  <a:srgbClr val="1E293B"/>
                </a:solidFill>
                <a:latin typeface="微软雅黑"/>
              </a:rPr>
              <a:t>横向协议：</a:t>
            </a:r>
            <a:r>
              <a:rPr sz="1250">
                <a:solidFill>
                  <a:srgbClr val="1E293B"/>
                </a:solidFill>
                <a:latin typeface="宋体"/>
              </a:rPr>
              <a:t>竞争对手间固定价格、分割市场、限制产量（卡特尔）。</a:t>
            </a:r>
          </a:p>
          <a:p>
            <a:pPr>
              <a:spcAft>
                <a:spcPts val="600"/>
              </a:spcAft>
            </a:pPr>
            <a:r>
              <a:rPr b="1" sz="1250">
                <a:solidFill>
                  <a:srgbClr val="1E293B"/>
                </a:solidFill>
                <a:latin typeface="微软雅黑"/>
              </a:rPr>
              <a:t>纵向协议：</a:t>
            </a:r>
            <a:r>
              <a:rPr sz="1250">
                <a:solidFill>
                  <a:srgbClr val="1E293B"/>
                </a:solidFill>
                <a:latin typeface="宋体"/>
              </a:rPr>
              <a:t>维持转售价格 (RPM) 与排他性限定交易。</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2. 滥用市场支配地位 (Abuse of Market Dominance)</a:t>
            </a:r>
          </a:p>
          <a:p>
            <a:pPr>
              <a:spcAft>
                <a:spcPts val="600"/>
              </a:spcAft>
            </a:pPr>
            <a:r>
              <a:rPr b="1" sz="1250">
                <a:solidFill>
                  <a:srgbClr val="1E293B"/>
                </a:solidFill>
                <a:latin typeface="微软雅黑"/>
              </a:rPr>
              <a:t>行为认定：</a:t>
            </a:r>
            <a:r>
              <a:rPr sz="1250">
                <a:solidFill>
                  <a:srgbClr val="1E293B"/>
                </a:solidFill>
                <a:latin typeface="宋体"/>
              </a:rPr>
              <a:t>不公平高价、掠夺性定价、拒绝交易、限定交易（二选一）、搭售。</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3. 经营者集中审查 (Merger Control)</a:t>
            </a:r>
          </a:p>
          <a:p>
            <a:pPr>
              <a:spcAft>
                <a:spcPts val="600"/>
              </a:spcAft>
            </a:pPr>
            <a:r>
              <a:rPr b="1" sz="1250">
                <a:solidFill>
                  <a:srgbClr val="1E293B"/>
                </a:solidFill>
                <a:latin typeface="微软雅黑"/>
              </a:rPr>
              <a:t>事前申报：</a:t>
            </a:r>
            <a:r>
              <a:rPr sz="1250">
                <a:solidFill>
                  <a:srgbClr val="1E293B"/>
                </a:solidFill>
                <a:latin typeface="宋体"/>
              </a:rPr>
              <a:t>达到营业额标准的并购必须向反垄断执法机构申报审查。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垄断协议认定与宽恕制度 (Leniency Program)</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轴心与轮毂垄断协议 (Hub-and-Spoke)</a:t>
            </a:r>
          </a:p>
          <a:p>
            <a:pPr>
              <a:spcAft>
                <a:spcPts val="600"/>
              </a:spcAft>
            </a:pPr>
            <a:r>
              <a:rPr b="1" sz="1250">
                <a:solidFill>
                  <a:srgbClr val="1E293B"/>
                </a:solidFill>
                <a:latin typeface="微软雅黑"/>
              </a:rPr>
              <a:t>新型共谋：</a:t>
            </a:r>
            <a:r>
              <a:rPr sz="1250">
                <a:solidFill>
                  <a:srgbClr val="1E293B"/>
                </a:solidFill>
                <a:latin typeface="宋体"/>
              </a:rPr>
              <a:t>上游平台或供应商作为“轴心”，联结下游多个竞争对手“轮毂”达成间接价格共谋。</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宽恕制度 (Leniency Program)</a:t>
            </a:r>
          </a:p>
          <a:p>
            <a:pPr>
              <a:spcAft>
                <a:spcPts val="600"/>
              </a:spcAft>
            </a:pPr>
            <a:r>
              <a:rPr b="1" sz="1250">
                <a:solidFill>
                  <a:srgbClr val="1E293B"/>
                </a:solidFill>
                <a:latin typeface="微软雅黑"/>
              </a:rPr>
              <a:t>瓦解卡特尔利器：</a:t>
            </a:r>
            <a:r>
              <a:rPr sz="1250">
                <a:solidFill>
                  <a:srgbClr val="1E293B"/>
                </a:solidFill>
                <a:latin typeface="宋体"/>
              </a:rPr>
              <a:t>第一个主动向执法机关检举揭发并提供关键证据的卡特尔成员免予处罚。</a:t>
            </a:r>
          </a:p>
          <a:p>
            <a:pPr>
              <a:spcAft>
                <a:spcPts val="600"/>
              </a:spcAft>
            </a:pPr>
            <a:r>
              <a:rPr b="1" sz="1250">
                <a:solidFill>
                  <a:srgbClr val="1E293B"/>
                </a:solidFill>
                <a:latin typeface="微软雅黑"/>
              </a:rPr>
              <a:t>博弈效果：</a:t>
            </a:r>
            <a:r>
              <a:rPr sz="1250">
                <a:solidFill>
                  <a:srgbClr val="1E293B"/>
                </a:solidFill>
                <a:latin typeface="宋体"/>
              </a:rPr>
              <a:t>打破了卡特尔内部的信任基础，制造内部攻守同盟瓦解。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滥用市场支配地位的认定三步法</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第一步：界定相关市场</a:t>
            </a:r>
          </a:p>
          <a:p>
            <a:pPr>
              <a:spcAft>
                <a:spcPts val="600"/>
              </a:spcAft>
            </a:pPr>
            <a:r>
              <a:rPr b="1" sz="1250">
                <a:solidFill>
                  <a:srgbClr val="1E293B"/>
                </a:solidFill>
                <a:latin typeface="微软雅黑"/>
              </a:rPr>
              <a:t>方法：</a:t>
            </a:r>
            <a:r>
              <a:rPr sz="1250">
                <a:solidFill>
                  <a:srgbClr val="1E293B"/>
                </a:solidFill>
                <a:latin typeface="宋体"/>
              </a:rPr>
              <a:t>采用 SSNIP 测试界定相关商品与地域市场。</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第二步：认定市场支配地位</a:t>
            </a:r>
          </a:p>
          <a:p>
            <a:pPr>
              <a:spcAft>
                <a:spcPts val="600"/>
              </a:spcAft>
            </a:pPr>
            <a:r>
              <a:rPr b="1" sz="1250">
                <a:solidFill>
                  <a:srgbClr val="1E293B"/>
                </a:solidFill>
                <a:latin typeface="微软雅黑"/>
              </a:rPr>
              <a:t>依据：</a:t>
            </a:r>
            <a:r>
              <a:rPr sz="1250">
                <a:solidFill>
                  <a:srgbClr val="1E293B"/>
                </a:solidFill>
                <a:latin typeface="宋体"/>
              </a:rPr>
              <a:t>市场份额（单个企业 &gt; 50% 推定支配）、控制原料/销售渠道能力、财力及其他进入壁垒。</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第三步：判定是否存在滥用行为与正当理由</a:t>
            </a:r>
          </a:p>
          <a:p>
            <a:pPr>
              <a:spcAft>
                <a:spcPts val="600"/>
              </a:spcAft>
            </a:pPr>
            <a:r>
              <a:rPr b="1" sz="1250">
                <a:solidFill>
                  <a:srgbClr val="1E293B"/>
                </a:solidFill>
                <a:latin typeface="微软雅黑"/>
              </a:rPr>
              <a:t>判定：</a:t>
            </a:r>
            <a:r>
              <a:rPr sz="1250">
                <a:solidFill>
                  <a:srgbClr val="1E293B"/>
                </a:solidFill>
                <a:latin typeface="宋体"/>
              </a:rPr>
              <a:t>是否存在无正当理由的限定交易、拒绝交易、差别待遇等排他行为。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经营者集中审查与救济措施</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经营者集中审查评估维度</a:t>
            </a:r>
          </a:p>
          <a:p>
            <a:pPr>
              <a:spcAft>
                <a:spcPts val="600"/>
              </a:spcAft>
            </a:pPr>
            <a:r>
              <a:rPr b="1" sz="1250">
                <a:solidFill>
                  <a:srgbClr val="1E293B"/>
                </a:solidFill>
                <a:latin typeface="微软雅黑"/>
              </a:rPr>
              <a:t>单采效应 (Unilateral Effects)：</a:t>
            </a:r>
            <a:r>
              <a:rPr sz="1250">
                <a:solidFill>
                  <a:srgbClr val="1E293B"/>
                </a:solidFill>
                <a:latin typeface="宋体"/>
              </a:rPr>
              <a:t>合并直接消除了两家企业间的直接竞争，提高加价能力。</a:t>
            </a:r>
          </a:p>
          <a:p>
            <a:pPr>
              <a:spcAft>
                <a:spcPts val="600"/>
              </a:spcAft>
            </a:pPr>
            <a:r>
              <a:rPr b="1" sz="1250">
                <a:solidFill>
                  <a:srgbClr val="1E293B"/>
                </a:solidFill>
                <a:latin typeface="微软雅黑"/>
              </a:rPr>
              <a:t>协调效应 (Coordinated Effects)：</a:t>
            </a:r>
            <a:r>
              <a:rPr sz="1250">
                <a:solidFill>
                  <a:srgbClr val="1E293B"/>
                </a:solidFill>
                <a:latin typeface="宋体"/>
              </a:rPr>
              <a:t>合并减少了市场玩家数量，增加了剩余企业间共谋的容易度。</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并购救济措施分类</a:t>
            </a:r>
          </a:p>
          <a:p>
            <a:pPr>
              <a:spcAft>
                <a:spcPts val="600"/>
              </a:spcAft>
            </a:pPr>
            <a:r>
              <a:rPr b="1" sz="1250">
                <a:solidFill>
                  <a:srgbClr val="1E293B"/>
                </a:solidFill>
                <a:latin typeface="微软雅黑"/>
              </a:rPr>
              <a:t>结构性救济 (Structural Remedies)：</a:t>
            </a:r>
            <a:r>
              <a:rPr sz="1250">
                <a:solidFill>
                  <a:srgbClr val="1E293B"/>
                </a:solidFill>
                <a:latin typeface="宋体"/>
              </a:rPr>
              <a:t>强制剥离部分业务、工厂或品牌，彻底消除竞争伤害。</a:t>
            </a:r>
          </a:p>
          <a:p>
            <a:pPr>
              <a:spcAft>
                <a:spcPts val="600"/>
              </a:spcAft>
            </a:pPr>
            <a:r>
              <a:rPr b="1" sz="1250">
                <a:solidFill>
                  <a:srgbClr val="1E293B"/>
                </a:solidFill>
                <a:latin typeface="微软雅黑"/>
              </a:rPr>
              <a:t>行为性救济 (Behavioral Remedies)：</a:t>
            </a:r>
            <a:r>
              <a:rPr sz="1250">
                <a:solidFill>
                  <a:srgbClr val="1E293B"/>
                </a:solidFill>
                <a:latin typeface="宋体"/>
              </a:rPr>
              <a:t>承诺不提高价格、保持互操作性或许可关键专利。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数字平台反垄断：新型支配地位与行为规制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平台生态“二选一”反垄断执法</a:t>
            </a:r>
          </a:p>
          <a:p>
            <a:pPr>
              <a:spcAft>
                <a:spcPts val="600"/>
              </a:spcAft>
            </a:pPr>
            <a:r>
              <a:rPr b="1" sz="1250">
                <a:solidFill>
                  <a:srgbClr val="1E293B"/>
                </a:solidFill>
                <a:latin typeface="微软雅黑"/>
              </a:rPr>
              <a:t>违法判定：</a:t>
            </a:r>
            <a:r>
              <a:rPr sz="1250">
                <a:solidFill>
                  <a:srgbClr val="1E293B"/>
                </a:solidFill>
                <a:latin typeface="宋体"/>
              </a:rPr>
              <a:t>平台利用强网络效应与支配地位强制商家独家合作，构成滥用市场支配地位限定交易。</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自我优待 (Self-Preferencing)</a:t>
            </a:r>
          </a:p>
          <a:p>
            <a:pPr>
              <a:spcAft>
                <a:spcPts val="600"/>
              </a:spcAft>
            </a:pPr>
            <a:r>
              <a:rPr b="1" sz="1250">
                <a:solidFill>
                  <a:srgbClr val="1E293B"/>
                </a:solidFill>
                <a:latin typeface="微软雅黑"/>
              </a:rPr>
              <a:t>行为特征：</a:t>
            </a:r>
            <a:r>
              <a:rPr sz="1250">
                <a:solidFill>
                  <a:srgbClr val="1E293B"/>
                </a:solidFill>
                <a:latin typeface="宋体"/>
              </a:rPr>
              <a:t>兼具平台与经营者双重身份的巨头在搜索排序中优先展示自营产品。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破除行政性垄断与公平竞争审查制度</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行政性垄断 (Administrative Monopoly)</a:t>
            </a:r>
          </a:p>
          <a:p>
            <a:pPr>
              <a:spcAft>
                <a:spcPts val="600"/>
              </a:spcAft>
            </a:pPr>
            <a:r>
              <a:rPr b="1" sz="1250">
                <a:solidFill>
                  <a:srgbClr val="1E293B"/>
                </a:solidFill>
                <a:latin typeface="微软雅黑"/>
              </a:rPr>
              <a:t>表现：</a:t>
            </a:r>
            <a:r>
              <a:rPr sz="1250">
                <a:solidFill>
                  <a:srgbClr val="1E293B"/>
                </a:solidFill>
                <a:latin typeface="宋体"/>
              </a:rPr>
              <a:t>滥用行政权力限定购买指定产品、设置地方保护壁垒、妨碍商品自由流通。</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公平竞争审查制度 (Fair Competition Review)</a:t>
            </a:r>
          </a:p>
          <a:p>
            <a:pPr>
              <a:spcAft>
                <a:spcPts val="600"/>
              </a:spcAft>
            </a:pPr>
            <a:r>
              <a:rPr b="1" sz="1250">
                <a:solidFill>
                  <a:srgbClr val="1E293B"/>
                </a:solidFill>
                <a:latin typeface="微软雅黑"/>
              </a:rPr>
              <a:t>事前审查：</a:t>
            </a:r>
            <a:r>
              <a:rPr sz="1250">
                <a:solidFill>
                  <a:srgbClr val="1E293B"/>
                </a:solidFill>
                <a:latin typeface="宋体"/>
              </a:rPr>
              <a:t>政府部门出台产业政策、招商引资政策前，必须自查是否排除限制竞争。</a:t>
            </a:r>
          </a:p>
          <a:p>
            <a:pPr>
              <a:spcAft>
                <a:spcPts val="600"/>
              </a:spcAft>
            </a:pPr>
            <a:r>
              <a:rPr b="1" sz="1250">
                <a:solidFill>
                  <a:srgbClr val="1E293B"/>
                </a:solidFill>
                <a:latin typeface="微软雅黑"/>
              </a:rPr>
              <a:t>战略意义：</a:t>
            </a:r>
            <a:r>
              <a:rPr sz="1250">
                <a:solidFill>
                  <a:srgbClr val="1E293B"/>
                </a:solidFill>
                <a:latin typeface="宋体"/>
              </a:rPr>
              <a:t>确保竞争政策的基础地位，构建全国统一大市场。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中国平台反垄断经典执法案例解析</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阿里巴巴集团“二选一”行政处罚案 (2021)</a:t>
            </a:r>
          </a:p>
          <a:p>
            <a:pPr>
              <a:spcAft>
                <a:spcPts val="600"/>
              </a:spcAft>
            </a:pPr>
            <a:r>
              <a:rPr b="1" sz="1250">
                <a:solidFill>
                  <a:srgbClr val="1E293B"/>
                </a:solidFill>
                <a:latin typeface="微软雅黑"/>
              </a:rPr>
              <a:t>处罚结论：</a:t>
            </a:r>
            <a:r>
              <a:rPr sz="1250">
                <a:solidFill>
                  <a:srgbClr val="1E293B"/>
                </a:solidFill>
                <a:latin typeface="宋体"/>
              </a:rPr>
              <a:t>认定其在中国境内网络零售平台服务市场具支配地位，处以 182.28 亿元天价罚款。</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美团滥用市场支配地位案 (2021)</a:t>
            </a:r>
          </a:p>
          <a:p>
            <a:pPr>
              <a:spcAft>
                <a:spcPts val="600"/>
              </a:spcAft>
            </a:pPr>
            <a:r>
              <a:rPr b="1" sz="1250">
                <a:solidFill>
                  <a:srgbClr val="1E293B"/>
                </a:solidFill>
                <a:latin typeface="微软雅黑"/>
              </a:rPr>
              <a:t>处罚结论：</a:t>
            </a:r>
            <a:r>
              <a:rPr sz="1250">
                <a:solidFill>
                  <a:srgbClr val="1E293B"/>
                </a:solidFill>
                <a:latin typeface="宋体"/>
              </a:rPr>
              <a:t>规制差异化费率与独家签署行为，处以 34.42 亿元罚款，要求全面整改。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反垄断三大支柱、行为特征、经济学分析与救济手段矩阵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反垄断支柱</a:t>
                      </a:r>
                    </a:p>
                  </a:txBody>
                  <a:tcPr>
                    <a:solidFill>
                      <a:srgbClr val="1B4965"/>
                    </a:solidFill>
                  </a:tcPr>
                </a:tc>
                <a:tc>
                  <a:txBody>
                    <a:bodyPr/>
                    <a:lstStyle/>
                    <a:p>
                      <a:pPr algn="ctr">
                        <a:defRPr sz="1300" b="1">
                          <a:solidFill>
                            <a:srgbClr val="FFFFFF"/>
                          </a:solidFill>
                          <a:latin typeface="微软雅黑"/>
                        </a:defRPr>
                      </a:pPr>
                      <a:r>
                        <a:t>主要违法行为形态</a:t>
                      </a:r>
                    </a:p>
                  </a:txBody>
                  <a:tcPr>
                    <a:solidFill>
                      <a:srgbClr val="1B4965"/>
                    </a:solidFill>
                  </a:tcPr>
                </a:tc>
                <a:tc>
                  <a:txBody>
                    <a:bodyPr/>
                    <a:lstStyle/>
                    <a:p>
                      <a:pPr algn="ctr">
                        <a:defRPr sz="1300" b="1">
                          <a:solidFill>
                            <a:srgbClr val="FFFFFF"/>
                          </a:solidFill>
                          <a:latin typeface="微软雅黑"/>
                        </a:defRPr>
                      </a:pPr>
                      <a:r>
                        <a:t>分析原则 / 原理</a:t>
                      </a:r>
                    </a:p>
                  </a:txBody>
                  <a:tcPr>
                    <a:solidFill>
                      <a:srgbClr val="1B4965"/>
                    </a:solidFill>
                  </a:tcPr>
                </a:tc>
                <a:tc>
                  <a:txBody>
                    <a:bodyPr/>
                    <a:lstStyle/>
                    <a:p>
                      <a:pPr algn="ctr">
                        <a:defRPr sz="1300" b="1">
                          <a:solidFill>
                            <a:srgbClr val="FFFFFF"/>
                          </a:solidFill>
                          <a:latin typeface="微软雅黑"/>
                        </a:defRPr>
                      </a:pPr>
                      <a:r>
                        <a:t>核心审查依据</a:t>
                      </a:r>
                    </a:p>
                  </a:txBody>
                  <a:tcPr>
                    <a:solidFill>
                      <a:srgbClr val="1B4965"/>
                    </a:solidFill>
                  </a:tcPr>
                </a:tc>
                <a:tc>
                  <a:txBody>
                    <a:bodyPr/>
                    <a:lstStyle/>
                    <a:p>
                      <a:pPr algn="ctr">
                        <a:defRPr sz="1300" b="1">
                          <a:solidFill>
                            <a:srgbClr val="FFFFFF"/>
                          </a:solidFill>
                          <a:latin typeface="微软雅黑"/>
                        </a:defRPr>
                      </a:pPr>
                      <a:r>
                        <a:t>救济与处罚手段</a:t>
                      </a:r>
                    </a:p>
                  </a:txBody>
                  <a:tcPr>
                    <a:solidFill>
                      <a:srgbClr val="1B4965"/>
                    </a:solidFill>
                  </a:tcPr>
                </a:tc>
              </a:tr>
              <a:tr h="914400">
                <a:tc>
                  <a:txBody>
                    <a:bodyPr/>
                    <a:lstStyle/>
                    <a:p>
                      <a:pPr>
                        <a:defRPr sz="1100">
                          <a:solidFill>
                            <a:srgbClr val="1E293B"/>
                          </a:solidFill>
                          <a:latin typeface="宋体"/>
                        </a:defRPr>
                      </a:pPr>
                      <a:r>
                        <a:t>垄断协议</a:t>
                      </a:r>
                    </a:p>
                  </a:txBody>
                  <a:tcPr>
                    <a:solidFill>
                      <a:srgbClr val="FFFFFF"/>
                    </a:solidFill>
                  </a:tcPr>
                </a:tc>
                <a:tc>
                  <a:txBody>
                    <a:bodyPr/>
                    <a:lstStyle/>
                    <a:p>
                      <a:pPr>
                        <a:defRPr sz="1100">
                          <a:solidFill>
                            <a:srgbClr val="1E293B"/>
                          </a:solidFill>
                          <a:latin typeface="宋体"/>
                        </a:defRPr>
                      </a:pPr>
                      <a:r>
                        <a:t>固定价格、划分市场、RPM</a:t>
                      </a:r>
                    </a:p>
                  </a:txBody>
                  <a:tcPr>
                    <a:solidFill>
                      <a:srgbClr val="FFFFFF"/>
                    </a:solidFill>
                  </a:tcPr>
                </a:tc>
                <a:tc>
                  <a:txBody>
                    <a:bodyPr/>
                    <a:lstStyle/>
                    <a:p>
                      <a:pPr>
                        <a:defRPr sz="1100">
                          <a:solidFill>
                            <a:srgbClr val="1E293B"/>
                          </a:solidFill>
                          <a:latin typeface="宋体"/>
                        </a:defRPr>
                      </a:pPr>
                      <a:r>
                        <a:t>本身违法 / 合理原则</a:t>
                      </a:r>
                    </a:p>
                  </a:txBody>
                  <a:tcPr>
                    <a:solidFill>
                      <a:srgbClr val="FFFFFF"/>
                    </a:solidFill>
                  </a:tcPr>
                </a:tc>
                <a:tc>
                  <a:txBody>
                    <a:bodyPr/>
                    <a:lstStyle/>
                    <a:p>
                      <a:pPr>
                        <a:defRPr sz="1100">
                          <a:solidFill>
                            <a:srgbClr val="1E293B"/>
                          </a:solidFill>
                          <a:latin typeface="宋体"/>
                        </a:defRPr>
                      </a:pPr>
                      <a:r>
                        <a:t>是否存在限制竞争协议</a:t>
                      </a:r>
                    </a:p>
                  </a:txBody>
                  <a:tcPr>
                    <a:solidFill>
                      <a:srgbClr val="FFFFFF"/>
                    </a:solidFill>
                  </a:tcPr>
                </a:tc>
                <a:tc>
                  <a:txBody>
                    <a:bodyPr/>
                    <a:lstStyle/>
                    <a:p>
                      <a:pPr>
                        <a:defRPr sz="1100">
                          <a:solidFill>
                            <a:srgbClr val="1E293B"/>
                          </a:solidFill>
                          <a:latin typeface="宋体"/>
                        </a:defRPr>
                      </a:pPr>
                      <a:r>
                        <a:t>没收违法所得、高额罚款、宽恕免责</a:t>
                      </a:r>
                    </a:p>
                  </a:txBody>
                  <a:tcPr>
                    <a:solidFill>
                      <a:srgbClr val="FFFFFF"/>
                    </a:solidFill>
                  </a:tcPr>
                </a:tc>
              </a:tr>
              <a:tr h="914400">
                <a:tc>
                  <a:txBody>
                    <a:bodyPr/>
                    <a:lstStyle/>
                    <a:p>
                      <a:pPr>
                        <a:defRPr sz="1100">
                          <a:solidFill>
                            <a:srgbClr val="1E293B"/>
                          </a:solidFill>
                          <a:latin typeface="宋体"/>
                        </a:defRPr>
                      </a:pPr>
                      <a:r>
                        <a:t>滥用支配地位</a:t>
                      </a:r>
                    </a:p>
                  </a:txBody>
                  <a:tcPr>
                    <a:solidFill>
                      <a:srgbClr val="F1F5F9"/>
                    </a:solidFill>
                  </a:tcPr>
                </a:tc>
                <a:tc>
                  <a:txBody>
                    <a:bodyPr/>
                    <a:lstStyle/>
                    <a:p>
                      <a:pPr>
                        <a:defRPr sz="1100">
                          <a:solidFill>
                            <a:srgbClr val="1E293B"/>
                          </a:solidFill>
                          <a:latin typeface="宋体"/>
                        </a:defRPr>
                      </a:pPr>
                      <a:r>
                        <a:t>二选一、掠夺定价、自我优待</a:t>
                      </a:r>
                    </a:p>
                  </a:txBody>
                  <a:tcPr>
                    <a:solidFill>
                      <a:srgbClr val="F1F5F9"/>
                    </a:solidFill>
                  </a:tcPr>
                </a:tc>
                <a:tc>
                  <a:txBody>
                    <a:bodyPr/>
                    <a:lstStyle/>
                    <a:p>
                      <a:pPr>
                        <a:defRPr sz="1100">
                          <a:solidFill>
                            <a:srgbClr val="1E293B"/>
                          </a:solidFill>
                          <a:latin typeface="宋体"/>
                        </a:defRPr>
                      </a:pPr>
                      <a:r>
                        <a:t>合理原则 (三步法)</a:t>
                      </a:r>
                    </a:p>
                  </a:txBody>
                  <a:tcPr>
                    <a:solidFill>
                      <a:srgbClr val="F1F5F9"/>
                    </a:solidFill>
                  </a:tcPr>
                </a:tc>
                <a:tc>
                  <a:txBody>
                    <a:bodyPr/>
                    <a:lstStyle/>
                    <a:p>
                      <a:pPr>
                        <a:defRPr sz="1100">
                          <a:solidFill>
                            <a:srgbClr val="1E293B"/>
                          </a:solidFill>
                          <a:latin typeface="宋体"/>
                        </a:defRPr>
                      </a:pPr>
                      <a:r>
                        <a:t>支配地位认定 + 无正当理由</a:t>
                      </a:r>
                    </a:p>
                  </a:txBody>
                  <a:tcPr>
                    <a:solidFill>
                      <a:srgbClr val="F1F5F9"/>
                    </a:solidFill>
                  </a:tcPr>
                </a:tc>
                <a:tc>
                  <a:txBody>
                    <a:bodyPr/>
                    <a:lstStyle/>
                    <a:p>
                      <a:pPr>
                        <a:defRPr sz="1100">
                          <a:solidFill>
                            <a:srgbClr val="1E293B"/>
                          </a:solidFill>
                          <a:latin typeface="宋体"/>
                        </a:defRPr>
                      </a:pPr>
                      <a:r>
                        <a:t>停止违法行为、退还保证金、巨额罚款</a:t>
                      </a:r>
                    </a:p>
                  </a:txBody>
                  <a:tcPr>
                    <a:solidFill>
                      <a:srgbClr val="F1F5F9"/>
                    </a:solidFill>
                  </a:tcPr>
                </a:tc>
              </a:tr>
              <a:tr h="914400">
                <a:tc>
                  <a:txBody>
                    <a:bodyPr/>
                    <a:lstStyle/>
                    <a:p>
                      <a:pPr>
                        <a:defRPr sz="1100">
                          <a:solidFill>
                            <a:srgbClr val="1E293B"/>
                          </a:solidFill>
                          <a:latin typeface="宋体"/>
                        </a:defRPr>
                      </a:pPr>
                      <a:r>
                        <a:t>经营者集中</a:t>
                      </a:r>
                    </a:p>
                  </a:txBody>
                  <a:tcPr>
                    <a:solidFill>
                      <a:srgbClr val="FFFFFF"/>
                    </a:solidFill>
                  </a:tcPr>
                </a:tc>
                <a:tc>
                  <a:txBody>
                    <a:bodyPr/>
                    <a:lstStyle/>
                    <a:p>
                      <a:pPr>
                        <a:defRPr sz="1100">
                          <a:solidFill>
                            <a:srgbClr val="1E293B"/>
                          </a:solidFill>
                          <a:latin typeface="宋体"/>
                        </a:defRPr>
                      </a:pPr>
                      <a:r>
                        <a:t>横向/纵向巨头兼并收购</a:t>
                      </a:r>
                    </a:p>
                  </a:txBody>
                  <a:tcPr>
                    <a:solidFill>
                      <a:srgbClr val="FFFFFF"/>
                    </a:solidFill>
                  </a:tcPr>
                </a:tc>
                <a:tc>
                  <a:txBody>
                    <a:bodyPr/>
                    <a:lstStyle/>
                    <a:p>
                      <a:pPr>
                        <a:defRPr sz="1100">
                          <a:solidFill>
                            <a:srgbClr val="1E293B"/>
                          </a:solidFill>
                          <a:latin typeface="宋体"/>
                        </a:defRPr>
                      </a:pPr>
                      <a:r>
                        <a:t>事前强制申报审查</a:t>
                      </a:r>
                    </a:p>
                  </a:txBody>
                  <a:tcPr>
                    <a:solidFill>
                      <a:srgbClr val="FFFFFF"/>
                    </a:solidFill>
                  </a:tcPr>
                </a:tc>
                <a:tc>
                  <a:txBody>
                    <a:bodyPr/>
                    <a:lstStyle/>
                    <a:p>
                      <a:pPr>
                        <a:defRPr sz="1100">
                          <a:solidFill>
                            <a:srgbClr val="1E293B"/>
                          </a:solidFill>
                          <a:latin typeface="宋体"/>
                        </a:defRPr>
                      </a:pPr>
                      <a:r>
                        <a:t>HHI 增加量与单采/协调效应</a:t>
                      </a:r>
                    </a:p>
                  </a:txBody>
                  <a:tcPr>
                    <a:solidFill>
                      <a:srgbClr val="FFFFFF"/>
                    </a:solidFill>
                  </a:tcPr>
                </a:tc>
                <a:tc>
                  <a:txBody>
                    <a:bodyPr/>
                    <a:lstStyle/>
                    <a:p>
                      <a:pPr>
                        <a:defRPr sz="1100">
                          <a:solidFill>
                            <a:srgbClr val="1E293B"/>
                          </a:solidFill>
                          <a:latin typeface="宋体"/>
                        </a:defRPr>
                      </a:pPr>
                      <a:r>
                        <a:t>禁止集中、剥离资产(结构)、行为承诺</a:t>
                      </a:r>
                    </a:p>
                  </a:txBody>
                  <a:tcPr>
                    <a:solidFill>
                      <a:srgbClr val="FFFFFF"/>
                    </a:solidFill>
                  </a:tcPr>
                </a:tc>
              </a:tr>
              <a:tr h="914400">
                <a:tc>
                  <a:txBody>
                    <a:bodyPr/>
                    <a:lstStyle/>
                    <a:p>
                      <a:pPr>
                        <a:defRPr sz="1100">
                          <a:solidFill>
                            <a:srgbClr val="1E293B"/>
                          </a:solidFill>
                          <a:latin typeface="宋体"/>
                        </a:defRPr>
                      </a:pPr>
                      <a:r>
                        <a:t>行政性垄断</a:t>
                      </a:r>
                    </a:p>
                  </a:txBody>
                  <a:tcPr>
                    <a:solidFill>
                      <a:srgbClr val="F1F5F9"/>
                    </a:solidFill>
                  </a:tcPr>
                </a:tc>
                <a:tc>
                  <a:txBody>
                    <a:bodyPr/>
                    <a:lstStyle/>
                    <a:p>
                      <a:pPr>
                        <a:defRPr sz="1100">
                          <a:solidFill>
                            <a:srgbClr val="1E293B"/>
                          </a:solidFill>
                          <a:latin typeface="宋体"/>
                        </a:defRPr>
                      </a:pPr>
                      <a:r>
                        <a:t>地方保护、限定指定购买</a:t>
                      </a:r>
                    </a:p>
                  </a:txBody>
                  <a:tcPr>
                    <a:solidFill>
                      <a:srgbClr val="F1F5F9"/>
                    </a:solidFill>
                  </a:tcPr>
                </a:tc>
                <a:tc>
                  <a:txBody>
                    <a:bodyPr/>
                    <a:lstStyle/>
                    <a:p>
                      <a:pPr>
                        <a:defRPr sz="1100">
                          <a:solidFill>
                            <a:srgbClr val="1E293B"/>
                          </a:solidFill>
                          <a:latin typeface="宋体"/>
                        </a:defRPr>
                      </a:pPr>
                      <a:r>
                        <a:t>公平竞争审查制度</a:t>
                      </a:r>
                    </a:p>
                  </a:txBody>
                  <a:tcPr>
                    <a:solidFill>
                      <a:srgbClr val="F1F5F9"/>
                    </a:solidFill>
                  </a:tcPr>
                </a:tc>
                <a:tc>
                  <a:txBody>
                    <a:bodyPr/>
                    <a:lstStyle/>
                    <a:p>
                      <a:pPr>
                        <a:defRPr sz="1100">
                          <a:solidFill>
                            <a:srgbClr val="1E293B"/>
                          </a:solidFill>
                          <a:latin typeface="宋体"/>
                        </a:defRPr>
                      </a:pPr>
                      <a:r>
                        <a:t>是否妨碍全国统一大市场</a:t>
                      </a:r>
                    </a:p>
                  </a:txBody>
                  <a:tcPr>
                    <a:solidFill>
                      <a:srgbClr val="F1F5F9"/>
                    </a:solidFill>
                  </a:tcPr>
                </a:tc>
                <a:tc>
                  <a:txBody>
                    <a:bodyPr/>
                    <a:lstStyle/>
                    <a:p>
                      <a:pPr>
                        <a:defRPr sz="1100">
                          <a:solidFill>
                            <a:srgbClr val="1E293B"/>
                          </a:solidFill>
                          <a:latin typeface="宋体"/>
                        </a:defRPr>
                      </a:pPr>
                      <a:r>
                        <a:t>责令改正、上级机关通报纠正</a:t>
                      </a:r>
                    </a:p>
                  </a:txBody>
                  <a:tcPr>
                    <a:solidFill>
                      <a:srgbClr val="F1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13 节 延伸视角｜反垄断政策三大支柱与市场势力深度研讨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13-A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围绕《产业经济学》（第3版）第10章的核心机制进行博弈与福利深化。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13-B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14 节 延伸视角｜反垄断政策三大支柱与市场势力深度研讨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14-A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围绕《产业经济学》（第3版）第10章的核心机制进行博弈与福利深化。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14-B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15 节 延伸视角｜反垄断政策三大支柱与市场势力深度研讨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15-A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围绕《产业经济学》（第3版）第10章的核心机制进行博弈与福利深化。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15-B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第十章  反垄断政策</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思考与研讨｜数字经济下反垄断与创新的平衡</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动态竞争与科技巨头的包容审慎监管</a:t>
            </a:r>
          </a:p>
          <a:p>
            <a:pPr>
              <a:spcAft>
                <a:spcPts val="600"/>
              </a:spcAft>
            </a:pPr>
            <a:r>
              <a:rPr b="1" sz="1250">
                <a:solidFill>
                  <a:srgbClr val="1E293B"/>
                </a:solidFill>
                <a:latin typeface="微软雅黑"/>
              </a:rPr>
              <a:t>争论：</a:t>
            </a:r>
            <a:r>
              <a:rPr sz="1250">
                <a:solidFill>
                  <a:srgbClr val="1E293B"/>
                </a:solidFill>
                <a:latin typeface="宋体"/>
              </a:rPr>
              <a:t>过于严厉的反垄断处罚是否会削弱我国科技企业在国际大国博弈中的竞争力？</a:t>
            </a:r>
          </a:p>
          <a:p>
            <a:pPr>
              <a:spcAft>
                <a:spcPts val="600"/>
              </a:spcAft>
            </a:pPr>
            <a:r>
              <a:rPr b="1" sz="1250">
                <a:solidFill>
                  <a:srgbClr val="1E293B"/>
                </a:solidFill>
                <a:latin typeface="微软雅黑"/>
              </a:rPr>
              <a:t>思考：</a:t>
            </a:r>
            <a:r>
              <a:rPr sz="1250">
                <a:solidFill>
                  <a:srgbClr val="1E293B"/>
                </a:solidFill>
                <a:latin typeface="宋体"/>
              </a:rPr>
              <a:t>如何精准区分保护正常商业模式创新与打击滥用支配地位？</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数据互联互通与算法治理</a:t>
            </a:r>
          </a:p>
          <a:p>
            <a:pPr>
              <a:spcAft>
                <a:spcPts val="600"/>
              </a:spcAft>
            </a:pPr>
            <a:r>
              <a:rPr b="1" sz="1250">
                <a:solidFill>
                  <a:srgbClr val="1E293B"/>
                </a:solidFill>
                <a:latin typeface="微软雅黑"/>
              </a:rPr>
              <a:t>趋势：</a:t>
            </a:r>
            <a:r>
              <a:rPr sz="1250">
                <a:solidFill>
                  <a:srgbClr val="1E293B"/>
                </a:solidFill>
                <a:latin typeface="宋体"/>
              </a:rPr>
              <a:t>推动封锁生态间开放接口（如解除屏蔽、数据携转）。</a:t>
            </a:r>
          </a:p>
          <a:p>
            <a:pPr>
              <a:spcAft>
                <a:spcPts val="600"/>
              </a:spcAft>
            </a:pPr>
            <a:r>
              <a:rPr b="1" sz="1250">
                <a:solidFill>
                  <a:srgbClr val="1E293B"/>
                </a:solidFill>
                <a:latin typeface="微软雅黑"/>
              </a:rPr>
              <a:t>思考：</a:t>
            </a:r>
            <a:r>
              <a:rPr sz="1250">
                <a:solidFill>
                  <a:srgbClr val="1E293B"/>
                </a:solidFill>
                <a:latin typeface="宋体"/>
              </a:rPr>
              <a:t>如何设计数据共享机制以促进竞争同时保障隐私安全？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