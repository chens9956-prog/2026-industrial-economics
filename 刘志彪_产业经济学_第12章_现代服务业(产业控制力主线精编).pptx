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137160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6A4F"/>
                </a:solidFill>
                <a:latin typeface="微软雅黑"/>
              </a:defRPr>
            </a:pPr>
            <a:r>
              <a:t>产业经济学 · 核心教材精讲</a:t>
            </a:r>
          </a:p>
          <a:p>
            <a:pPr>
              <a:spcBef>
                <a:spcPts val="1000"/>
              </a:spcBef>
              <a:defRPr sz="3000" b="1">
                <a:solidFill>
                  <a:srgbClr val="1B4965"/>
                </a:solidFill>
                <a:latin typeface="微软雅黑"/>
              </a:defRPr>
            </a:pPr>
            <a:r>
              <a:t>第十二章  现代服务业</a:t>
            </a:r>
          </a:p>
          <a:p>
            <a:pPr>
              <a:spcBef>
                <a:spcPts val="1500"/>
              </a:spcBef>
              <a:defRPr sz="1800" b="1">
                <a:solidFill>
                  <a:srgbClr val="C58A21"/>
                </a:solidFill>
                <a:latin typeface="微软雅黑"/>
              </a:defRPr>
            </a:pPr>
            <a:r>
              <a:t>【核心主线】：产业控制力的服务赋能与制造业服务化</a:t>
            </a:r>
          </a:p>
          <a:p>
            <a:pPr>
              <a:spcBef>
                <a:spcPts val="2500"/>
              </a:spcBef>
              <a:defRPr sz="1400">
                <a:solidFill>
                  <a:srgbClr val="64748B"/>
                </a:solidFill>
                <a:latin typeface="宋体"/>
              </a:defRPr>
            </a:pPr>
            <a:r>
              <a:t>教材依据：刘志彪《产业经济学》（第3版·高等教育/机械工业出版社）</a:t>
            </a:r>
            <a:br/>
            <a:r>
              <a:t>制作风格：自然清新 · 排版高尚大气 · 浅色系精品课件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第十二章  现代服务业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本章目录与产业控制力主线映射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413455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第一节 现代服务业概述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概念界定与生产性服务业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生产性服务业是提升制造业控制力的关键杠杆。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54480"/>
            <a:ext cx="3413455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第二节 现代服务业的发展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鲍莫尔成本病与资产轻型化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利用数字技术突破服务业生产率滞后困境。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134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413455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37360"/>
            <a:ext cx="30476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第三节 影响与全球化视角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核心内容：</a:t>
            </a:r>
            <a:r>
              <a:rPr sz="1250">
                <a:solidFill>
                  <a:srgbClr val="1E293B"/>
                </a:solidFill>
                <a:latin typeface="宋体"/>
              </a:rPr>
              <a:t>制造服务化与服务离岸外包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主线映射：</a:t>
            </a:r>
            <a:r>
              <a:rPr sz="1250">
                <a:solidFill>
                  <a:srgbClr val="1E293B"/>
                </a:solidFill>
                <a:latin typeface="宋体"/>
              </a:rPr>
              <a:t>在全球服务价值链中掌控高附加值节点。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第十二章  现代服务业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第一节 现代服务业与生产性服务业概念界定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3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现代服务业 (Modern Services)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定义：</a:t>
            </a:r>
            <a:r>
              <a:rPr sz="1250">
                <a:solidFill>
                  <a:srgbClr val="1E293B"/>
                </a:solidFill>
                <a:latin typeface="宋体"/>
              </a:rPr>
              <a:t>依托现代科学技术尤其是信息通信技术发展起来的，信息密集、知识密集和技术密集的服务业态。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生产性服务业 (Producer Services)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定位：</a:t>
            </a:r>
            <a:r>
              <a:rPr sz="1250">
                <a:solidFill>
                  <a:srgbClr val="1E293B"/>
                </a:solidFill>
                <a:latin typeface="宋体"/>
              </a:rPr>
              <a:t>作为中间投入品为其他商品或服务的生产者提供的服务（非终端消费）。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包含门类：</a:t>
            </a:r>
            <a:r>
              <a:rPr sz="1250">
                <a:solidFill>
                  <a:srgbClr val="1E293B"/>
                </a:solidFill>
                <a:latin typeface="宋体"/>
              </a:rPr>
              <a:t>研发设计、金融保险、物流供应链、商务咨询、信息技术服务。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控制力意义：</a:t>
            </a:r>
            <a:r>
              <a:rPr sz="1250">
                <a:solidFill>
                  <a:srgbClr val="1E293B"/>
                </a:solidFill>
                <a:latin typeface="宋体"/>
              </a:rPr>
              <a:t>生产性服务业是决定先进制造业全球竞争力的核心“粘合剂”！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第十二章  现代服务业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第一节 现代服务业的核心特征与分类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4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现代服务业四大特征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高人力资本积淀：</a:t>
            </a:r>
            <a:r>
              <a:rPr sz="1250">
                <a:solidFill>
                  <a:srgbClr val="1E293B"/>
                </a:solidFill>
                <a:latin typeface="宋体"/>
              </a:rPr>
              <a:t>依赖高素质研发与管理人才。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高技术沉淀：</a:t>
            </a:r>
            <a:r>
              <a:rPr sz="1250">
                <a:solidFill>
                  <a:srgbClr val="1E293B"/>
                </a:solidFill>
                <a:latin typeface="宋体"/>
              </a:rPr>
              <a:t>深度嵌入云计算、大数据与人工智能。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高附加值：</a:t>
            </a:r>
            <a:r>
              <a:rPr sz="1250">
                <a:solidFill>
                  <a:srgbClr val="1E293B"/>
                </a:solidFill>
                <a:latin typeface="宋体"/>
              </a:rPr>
              <a:t>处于“微笑曲线”两端（研发与营销）。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高辐射带动性：</a:t>
            </a:r>
            <a:r>
              <a:rPr sz="1250">
                <a:solidFill>
                  <a:srgbClr val="1E293B"/>
                </a:solidFill>
                <a:latin typeface="宋体"/>
              </a:rPr>
              <a:t>对上下游产业链具备强溢出与控制力。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知识密集型商业服务业 (KIBS)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地位：</a:t>
            </a:r>
            <a:r>
              <a:rPr sz="1250">
                <a:solidFill>
                  <a:srgbClr val="1E293B"/>
                </a:solidFill>
                <a:latin typeface="宋体"/>
              </a:rPr>
              <a:t>知识传播与创新的核心节点，直接提升客户企业的创新能力。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第十二章  现代服务业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经典“鲍莫尔成本病”（Baumol's Cost Disease）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5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鲍莫尔两部门非均衡增长模型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部门划分为：</a:t>
            </a:r>
            <a:r>
              <a:rPr sz="1250">
                <a:solidFill>
                  <a:srgbClr val="1E293B"/>
                </a:solidFill>
                <a:latin typeface="宋体"/>
              </a:rPr>
              <a:t>进步部门（制造，生产率持续提升）与停滞部门（传统服务，生产率停滞）。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工资联动：</a:t>
            </a:r>
            <a:r>
              <a:rPr sz="1250">
                <a:solidFill>
                  <a:srgbClr val="1E293B"/>
                </a:solidFill>
                <a:latin typeface="宋体"/>
              </a:rPr>
              <a:t>停滞部门工资被迫跟进进步部门上涨，导致服务业单位成本与相对价格剧烈上升！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宏观影响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成本病表现：</a:t>
            </a:r>
            <a:r>
              <a:rPr sz="1250">
                <a:solidFill>
                  <a:srgbClr val="1E293B"/>
                </a:solidFill>
                <a:latin typeface="宋体"/>
              </a:rPr>
              <a:t>服务业占 GDP 比重提升会导致整体经济名义成本拉高、生产率增速放缓。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第十二章  现代服务业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第二节 突破鲍莫尔病：数字技术与规模化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数字赋能破解成本病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服务可边际复制：</a:t>
            </a:r>
            <a:r>
              <a:rPr sz="1250">
                <a:solidFill>
                  <a:srgbClr val="1E293B"/>
                </a:solidFill>
                <a:latin typeface="宋体"/>
              </a:rPr>
              <a:t>软件、在线教育、数字金融实现零边际成本无限复制，生产率急剧提升！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服务标准化与模块化：</a:t>
            </a:r>
            <a:r>
              <a:rPr sz="1250">
                <a:solidFill>
                  <a:srgbClr val="1E293B"/>
                </a:solidFill>
                <a:latin typeface="宋体"/>
              </a:rPr>
              <a:t>将复杂服务拆解为标准化流程，实现规模经济。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平台化组织形态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资产轻型化：</a:t>
            </a:r>
            <a:r>
              <a:rPr sz="1250">
                <a:solidFill>
                  <a:srgbClr val="1E293B"/>
                </a:solidFill>
                <a:latin typeface="宋体"/>
              </a:rPr>
              <a:t>共享经济与平台模式降低了服务业的资本沉没风险。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第十二章  现代服务业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第三节 制造服务化（Servitization of Manufacturing）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7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制造业服务化趋势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演进方向：</a:t>
            </a:r>
            <a:r>
              <a:rPr sz="1250">
                <a:solidFill>
                  <a:srgbClr val="1E293B"/>
                </a:solidFill>
                <a:latin typeface="宋体"/>
              </a:rPr>
              <a:t>制造企业从单卖“物理产品”向提供“产品+整体解决方案/全生命周期服务”转变。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经典案例：</a:t>
            </a:r>
            <a:r>
              <a:rPr sz="1250">
                <a:solidFill>
                  <a:srgbClr val="1E293B"/>
                </a:solidFill>
                <a:latin typeface="宋体"/>
              </a:rPr>
              <a:t>罗尔斯-罗伊斯（Rolls-Royce）“按飞行小时卖引擎服务”；IBM 转型 IT 服务。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微笑曲线（Smile Curve）与控制力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附加值分布：</a:t>
            </a:r>
            <a:r>
              <a:rPr sz="1250">
                <a:solidFill>
                  <a:srgbClr val="1E293B"/>
                </a:solidFill>
                <a:latin typeface="宋体"/>
              </a:rPr>
              <a:t>研发设计（左端高） -&gt; 加工组装（中间低） -&gt; 品牌营销/服务（右端高）。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控制力结论：</a:t>
            </a:r>
            <a:r>
              <a:rPr sz="1250">
                <a:solidFill>
                  <a:srgbClr val="1E293B"/>
                </a:solidFill>
                <a:latin typeface="宋体"/>
              </a:rPr>
              <a:t>服务化是制造企业摆脱低端代工、掌控全球价值链（GVC）的必由之路！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第十二章  现代服务业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第三节 生产性服务业与先进制造业两业融合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8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两业融合的协同机制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双向互动：</a:t>
            </a:r>
            <a:r>
              <a:rPr sz="1250">
                <a:solidFill>
                  <a:srgbClr val="1E293B"/>
                </a:solidFill>
                <a:latin typeface="宋体"/>
              </a:rPr>
              <a:t>先进制造业为现代服务业提供应用场景；现代服务业为制造业注入创新与高附加值。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产业链粘性与掌控力提升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锁定效应：</a:t>
            </a:r>
            <a:r>
              <a:rPr sz="1250">
                <a:solidFill>
                  <a:srgbClr val="1E293B"/>
                </a:solidFill>
                <a:latin typeface="宋体"/>
              </a:rPr>
              <a:t>嵌入深度的软件与供应链服务大幅拉高了客户的转换成本。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第十二章  现代服务业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全球服务外包与服务价值链治理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9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服务离岸外包 (Offshoring Services)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驱动力：</a:t>
            </a:r>
            <a:r>
              <a:rPr sz="1250">
                <a:solidFill>
                  <a:srgbClr val="1E293B"/>
                </a:solidFill>
                <a:latin typeface="宋体"/>
              </a:rPr>
              <a:t>信息技术革命使得服务可贸易性（Tradability）大幅增强。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模式：</a:t>
            </a:r>
            <a:r>
              <a:rPr sz="1250">
                <a:solidFill>
                  <a:srgbClr val="1E293B"/>
                </a:solidFill>
                <a:latin typeface="宋体"/>
              </a:rPr>
              <a:t>ITO（信息技术外包）与 BPO（业务流程外包）。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全球服务价值链梯队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顶层控制者：</a:t>
            </a:r>
            <a:r>
              <a:rPr sz="1250">
                <a:solidFill>
                  <a:srgbClr val="1E293B"/>
                </a:solidFill>
                <a:latin typeface="宋体"/>
              </a:rPr>
              <a:t>美欧掌控高阶金融、软件架构与品牌服务；发展中国家承接中低端外包。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第十二章  现代服务业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数字平台服务业的赋能与生态构建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10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数字平台赋能中小企业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云服务与软件即服务 (SaaS)：</a:t>
            </a:r>
            <a:r>
              <a:rPr sz="1250">
                <a:solidFill>
                  <a:srgbClr val="1E293B"/>
                </a:solidFill>
                <a:latin typeface="宋体"/>
              </a:rPr>
              <a:t>降低中小制造企业数字化转型门槛。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C58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58A21"/>
                </a:solidFill>
                <a:latin typeface="微软雅黑"/>
              </a:defRPr>
            </a:pPr>
            <a:r>
              <a:t>2. 供应链金融服务创新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信用传导：</a:t>
            </a:r>
            <a:r>
              <a:rPr sz="1250">
                <a:solidFill>
                  <a:srgbClr val="1E293B"/>
                </a:solidFill>
                <a:latin typeface="宋体"/>
              </a:rPr>
              <a:t>利用区块链与物流数据破解中小企业融资难，强化产业链稳定性。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第十二章  现代服务业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中国现代服务业发展现状、短板与战略部署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11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发展成效与结构短板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成效：</a:t>
            </a:r>
            <a:r>
              <a:rPr sz="1250">
                <a:solidFill>
                  <a:srgbClr val="1E293B"/>
                </a:solidFill>
                <a:latin typeface="宋体"/>
              </a:rPr>
              <a:t>服务业增加值占 GDP 超过 54%，成为经济增长第一引擎。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短板：</a:t>
            </a:r>
            <a:r>
              <a:rPr sz="1250">
                <a:solidFill>
                  <a:srgbClr val="1E293B"/>
                </a:solidFill>
                <a:latin typeface="宋体"/>
              </a:rPr>
              <a:t>生产性服务业占比偏低，高阶商务与工业软件依赖进口。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攻坚战略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战略重点：</a:t>
            </a:r>
            <a:r>
              <a:rPr sz="1250">
                <a:solidFill>
                  <a:srgbClr val="1E293B"/>
                </a:solidFill>
                <a:latin typeface="宋体"/>
              </a:rPr>
              <a:t>补齐工业软件、芯片设计、高阶金融短板，构建自主可控现代服务业体系。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第十二章  现代服务业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第12章 延伸视角｜现代服务业与产业控制力深度研讨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12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理论深化：服务业生产率机制扩展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理论深化：</a:t>
            </a:r>
            <a:r>
              <a:rPr sz="1250">
                <a:solidFill>
                  <a:srgbClr val="1E293B"/>
                </a:solidFill>
                <a:latin typeface="宋体"/>
              </a:rPr>
              <a:t>围绕《产业经济学》（第3版）第12章的核心机制进行博弈与福利深化。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现实映射：</a:t>
            </a:r>
            <a:r>
              <a:rPr sz="1250">
                <a:solidFill>
                  <a:srgbClr val="1E293B"/>
                </a:solidFill>
                <a:latin typeface="宋体"/>
              </a:rPr>
              <a:t>考察市场结构变迁对企业定价、规模扩张与行业效益的传导机制。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反垄断与微观规制视角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政策导向：</a:t>
            </a:r>
            <a:r>
              <a:rPr sz="1250">
                <a:solidFill>
                  <a:srgbClr val="1E293B"/>
                </a:solidFill>
                <a:latin typeface="宋体"/>
              </a:rPr>
              <a:t>评估政府行政干预与竞争政策在防范市场势力滥用中的边界。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治理创新：</a:t>
            </a:r>
            <a:r>
              <a:rPr sz="1250">
                <a:solidFill>
                  <a:srgbClr val="1E293B"/>
                </a:solidFill>
                <a:latin typeface="宋体"/>
              </a:rPr>
              <a:t>推动竞争政策基础地位与全国统一大市场建设的协同。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第十二章  现代服务业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服务业模式、破解鲍莫尔病机制与控制力矩阵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13 / 16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服务业态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核心特征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鲍莫尔病破解路径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对制造业的赋能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价值链控制力级别</a:t>
                      </a:r>
                    </a:p>
                  </a:txBody>
                  <a:tcPr>
                    <a:solidFill>
                      <a:srgbClr val="1B496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KIBS (知识密集服务)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高研发、高人才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标准化与工具化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注入前沿技术与设计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极高（微笑曲线左端）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数字平台 SaaS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零边际成本复制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网络效应与云计算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降低全行业数字化成本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高（生态掌控者）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供应链物流与金融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重资产与数据结合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算法匹配与物联网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保障物资与资金高效循环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中高（节点控制）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传统生活性服务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高劳动密集、低标准化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品牌连锁与线上化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吸收就业与拉动消费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宋体"/>
                        </a:defRPr>
                      </a:pPr>
                      <a:r>
                        <a:t>较低（竞争剧烈）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第十二章  现代服务业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思考与研讨｜生产性服务业如何赋能中国制造突围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14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工业软件“卡脖子”与服务业自主控制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背景：</a:t>
            </a:r>
            <a:r>
              <a:rPr sz="1250">
                <a:solidFill>
                  <a:srgbClr val="1E293B"/>
                </a:solidFill>
                <a:latin typeface="宋体"/>
              </a:rPr>
              <a:t>CAD/CAE/EDA 等核心工业软件长期被美欧巨头垄断。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如何通过新型举国体制与国产应用场景迭代突破工业软件壁垒？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制造企业向服务化转型的陷阱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现象：</a:t>
            </a:r>
            <a:r>
              <a:rPr sz="1250">
                <a:solidFill>
                  <a:srgbClr val="1E293B"/>
                </a:solidFill>
                <a:latin typeface="宋体"/>
              </a:rPr>
              <a:t>部分制造企业盲目脱离主业搞金融投资，导致主业空心化。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思考：</a:t>
            </a:r>
            <a:r>
              <a:rPr sz="1250">
                <a:solidFill>
                  <a:srgbClr val="1E293B"/>
                </a:solidFill>
                <a:latin typeface="宋体"/>
              </a:rPr>
              <a:t>如何界定围绕主业的“相关服务化”与脱离主业的“伪服务化”？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第十二章  现代服务业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延伸探讨｜第十二章  现代服务业在现代产业体系中的战略拓展 (14)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15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产业链控制力与竞争力评估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理论深化：</a:t>
            </a:r>
            <a:r>
              <a:rPr sz="1250">
                <a:solidFill>
                  <a:srgbClr val="1E293B"/>
                </a:solidFill>
                <a:latin typeface="宋体"/>
              </a:rPr>
              <a:t>深入评估该维度对区域与国家产业安全、技术自主及竞争优势的传导机制。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战略方向：</a:t>
            </a:r>
            <a:r>
              <a:rPr sz="1250">
                <a:solidFill>
                  <a:srgbClr val="1E293B"/>
                </a:solidFill>
                <a:latin typeface="宋体"/>
              </a:rPr>
              <a:t>围绕现代化产业体系建设，推动要素高效配置与产业链韧性提升。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反垄断与竞争政策协同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政策协调：</a:t>
            </a:r>
            <a:r>
              <a:rPr sz="1250">
                <a:solidFill>
                  <a:srgbClr val="1E293B"/>
                </a:solidFill>
                <a:latin typeface="宋体"/>
              </a:rPr>
              <a:t>强化竞争政策的基础性地位，规范市场秩序，防范资本无序扩张与行政保护。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未来展望：</a:t>
            </a:r>
            <a:r>
              <a:rPr sz="1250">
                <a:solidFill>
                  <a:srgbClr val="1E293B"/>
                </a:solidFill>
                <a:latin typeface="宋体"/>
              </a:rPr>
              <a:t>在超大规模国内市场中构建创新导向的全国统一大市场。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6A4F"/>
                </a:solidFill>
                <a:latin typeface="微软雅黑"/>
              </a:defRPr>
            </a:pPr>
            <a:r>
              <a:t>产业经济学（第3版）· 刘志彪 | 第十二章  现代服务业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4965"/>
                </a:solidFill>
                <a:latin typeface="微软雅黑"/>
              </a:defRPr>
            </a:pPr>
            <a:r>
              <a:t>延伸探讨｜第十二章  现代服务业在现代产业体系中的战略拓展 (15)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微软雅黑"/>
              </a:defRPr>
            </a:pPr>
            <a:r>
              <a:t>主线视角：市场势力（Market Power）的演化与规制  |  第 16 / 16 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120640" cy="73152"/>
          </a:xfrm>
          <a:prstGeom prst="rect">
            <a:avLst/>
          </a:prstGeom>
          <a:solidFill>
            <a:srgbClr val="1B49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4965"/>
                </a:solidFill>
                <a:latin typeface="微软雅黑"/>
              </a:defRPr>
            </a:pPr>
            <a:r>
              <a:t>1. 产业链控制力与竞争力评估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理论深化：</a:t>
            </a:r>
            <a:r>
              <a:rPr sz="1250">
                <a:solidFill>
                  <a:srgbClr val="1E293B"/>
                </a:solidFill>
                <a:latin typeface="宋体"/>
              </a:rPr>
              <a:t>深入评估该维度对区域与国家产业安全、技术自主及竞争优势的传导机制。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战略方向：</a:t>
            </a:r>
            <a:r>
              <a:rPr sz="1250">
                <a:solidFill>
                  <a:srgbClr val="1E293B"/>
                </a:solidFill>
                <a:latin typeface="宋体"/>
              </a:rPr>
              <a:t>围绕现代化产业体系建设，推动要素高效配置与产业链韧性提升。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54480"/>
            <a:ext cx="5120640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D6A4F"/>
                </a:solidFill>
                <a:latin typeface="微软雅黑"/>
              </a:defRPr>
            </a:pPr>
            <a:r>
              <a:t>2. 反垄断与竞争政策协同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政策协调：</a:t>
            </a:r>
            <a:r>
              <a:rPr sz="1250">
                <a:solidFill>
                  <a:srgbClr val="1E293B"/>
                </a:solidFill>
                <a:latin typeface="宋体"/>
              </a:rPr>
              <a:t>强化竞争政策的基础性地位，规范市场秩序，防范资本无序扩张与行政保护。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E293B"/>
                </a:solidFill>
                <a:latin typeface="微软雅黑"/>
              </a:rPr>
              <a:t>未来展望：</a:t>
            </a:r>
            <a:r>
              <a:rPr sz="1250">
                <a:solidFill>
                  <a:srgbClr val="1E293B"/>
                </a:solidFill>
                <a:latin typeface="宋体"/>
              </a:rPr>
              <a:t>在超大规模国内市场中构建创新导向的全国统一大市场。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