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ounded Rectangle 1"/>
          <p:cNvSpPr/>
          <p:nvPr/>
        </p:nvSpPr>
        <p:spPr>
          <a:xfrm>
            <a:off x="914400" y="914400"/>
            <a:ext cx="10362895" cy="502920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914400" y="914400"/>
            <a:ext cx="10362895" cy="137160"/>
          </a:xfrm>
          <a:prstGeom prst="rect">
            <a:avLst/>
          </a:prstGeom>
          <a:solidFill>
            <a:srgbClr val="1B496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371600" y="1645920"/>
            <a:ext cx="9448495" cy="3657600"/>
          </a:xfrm>
          <a:prstGeom prst="rect">
            <a:avLst/>
          </a:prstGeom>
          <a:noFill/>
        </p:spPr>
        <p:txBody>
          <a:bodyPr wrap="square">
            <a:spAutoFit/>
          </a:bodyPr>
          <a:lstStyle/>
          <a:p>
            <a:pPr>
              <a:defRPr sz="1800" b="1">
                <a:solidFill>
                  <a:srgbClr val="2D6A4F"/>
                </a:solidFill>
                <a:latin typeface="微软雅黑"/>
              </a:defRPr>
            </a:pPr>
            <a:r>
              <a:t>产业经济学 · 核心教材精讲</a:t>
            </a:r>
          </a:p>
          <a:p>
            <a:pPr>
              <a:spcBef>
                <a:spcPts val="1000"/>
              </a:spcBef>
              <a:defRPr sz="3000" b="1">
                <a:solidFill>
                  <a:srgbClr val="1B4965"/>
                </a:solidFill>
                <a:latin typeface="微软雅黑"/>
              </a:defRPr>
            </a:pPr>
            <a:r>
              <a:t>第九章  微观规制</a:t>
            </a:r>
          </a:p>
          <a:p>
            <a:pPr>
              <a:spcBef>
                <a:spcPts val="1500"/>
              </a:spcBef>
              <a:defRPr sz="1800" b="1">
                <a:solidFill>
                  <a:srgbClr val="C58A21"/>
                </a:solidFill>
                <a:latin typeface="微软雅黑"/>
              </a:defRPr>
            </a:pPr>
            <a:r>
              <a:t>【核心主线】：约束与矫正自然垄断及市场势力滥用的政府干预</a:t>
            </a:r>
          </a:p>
          <a:p>
            <a:pPr>
              <a:spcBef>
                <a:spcPts val="2500"/>
              </a:spcBef>
              <a:defRPr sz="1400">
                <a:solidFill>
                  <a:srgbClr val="64748B"/>
                </a:solidFill>
                <a:latin typeface="宋体"/>
              </a:defRPr>
            </a:pPr>
            <a:r>
              <a:t>教材依据：刘志彪《产业经济学》（第3版·高等教育/机械工业出版社）</a:t>
            </a:r>
            <a:br/>
            <a:r>
              <a:t>制作风格：自然清新 · 排版高尚大气 · 浅色系精品课件</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731520" y="365760"/>
            <a:ext cx="10728655" cy="365760"/>
          </a:xfrm>
          <a:prstGeom prst="rect">
            <a:avLst/>
          </a:prstGeom>
          <a:noFill/>
        </p:spPr>
        <p:txBody>
          <a:bodyPr wrap="square">
            <a:spAutoFit/>
          </a:bodyPr>
          <a:lstStyle/>
          <a:p>
            <a:pPr>
              <a:defRPr sz="1000" b="1">
                <a:solidFill>
                  <a:srgbClr val="2D6A4F"/>
                </a:solidFill>
                <a:latin typeface="微软雅黑"/>
              </a:defRPr>
            </a:pPr>
            <a:r>
              <a:t>产业经济学（第3版）· 刘志彪 | 第九章  微观规制</a:t>
            </a:r>
          </a:p>
        </p:txBody>
      </p:sp>
      <p:sp>
        <p:nvSpPr>
          <p:cNvPr id="3" name="TextBox 2"/>
          <p:cNvSpPr txBox="1"/>
          <p:nvPr/>
        </p:nvSpPr>
        <p:spPr>
          <a:xfrm>
            <a:off x="731520" y="640080"/>
            <a:ext cx="10728655" cy="640080"/>
          </a:xfrm>
          <a:prstGeom prst="rect">
            <a:avLst/>
          </a:prstGeom>
          <a:noFill/>
        </p:spPr>
        <p:txBody>
          <a:bodyPr wrap="square">
            <a:spAutoFit/>
          </a:bodyPr>
          <a:lstStyle/>
          <a:p>
            <a:pPr>
              <a:defRPr sz="2200" b="1">
                <a:solidFill>
                  <a:srgbClr val="1B4965"/>
                </a:solidFill>
                <a:latin typeface="微软雅黑"/>
              </a:defRPr>
            </a:pPr>
            <a:r>
              <a:t>本章目录与市场势力（Market Power）主线映射</a:t>
            </a:r>
          </a:p>
        </p:txBody>
      </p:sp>
      <p:sp>
        <p:nvSpPr>
          <p:cNvPr id="4" name="Rectangle 3"/>
          <p:cNvSpPr/>
          <p:nvPr/>
        </p:nvSpPr>
        <p:spPr>
          <a:xfrm>
            <a:off x="731520" y="1280160"/>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6400800"/>
            <a:ext cx="10728655" cy="274320"/>
          </a:xfrm>
          <a:prstGeom prst="rect">
            <a:avLst/>
          </a:prstGeom>
          <a:noFill/>
        </p:spPr>
        <p:txBody>
          <a:bodyPr wrap="none">
            <a:spAutoFit/>
          </a:bodyPr>
          <a:lstStyle/>
          <a:p>
            <a:pPr algn="r">
              <a:defRPr sz="1000">
                <a:solidFill>
                  <a:srgbClr val="64748B"/>
                </a:solidFill>
                <a:latin typeface="微软雅黑"/>
              </a:defRPr>
            </a:pPr>
            <a:r>
              <a:t>主线视角：市场势力（Market Power）的演化与规制  |  第 2 / 16 页</a:t>
            </a:r>
          </a:p>
        </p:txBody>
      </p:sp>
      <p:sp>
        <p:nvSpPr>
          <p:cNvPr id="6" name="Rounded Rectangle 5"/>
          <p:cNvSpPr/>
          <p:nvPr/>
        </p:nvSpPr>
        <p:spPr>
          <a:xfrm>
            <a:off x="731520" y="1554480"/>
            <a:ext cx="3413455" cy="45720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1554480"/>
            <a:ext cx="3413455" cy="73152"/>
          </a:xfrm>
          <a:prstGeom prst="rect">
            <a:avLst/>
          </a:prstGeom>
          <a:solidFill>
            <a:srgbClr val="1B496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1737360"/>
            <a:ext cx="3047695" cy="4297680"/>
          </a:xfrm>
          <a:prstGeom prst="rect">
            <a:avLst/>
          </a:prstGeom>
          <a:noFill/>
        </p:spPr>
        <p:txBody>
          <a:bodyPr wrap="square">
            <a:spAutoFit/>
          </a:bodyPr>
          <a:lstStyle/>
          <a:p>
            <a:pPr>
              <a:spcAft>
                <a:spcPts val="800"/>
              </a:spcAft>
              <a:defRPr sz="1500" b="1">
                <a:solidFill>
                  <a:srgbClr val="1B4965"/>
                </a:solidFill>
                <a:latin typeface="微软雅黑"/>
              </a:defRPr>
            </a:pPr>
            <a:r>
              <a:t>第一节 微观规制起因与自然垄断</a:t>
            </a:r>
          </a:p>
          <a:p>
            <a:pPr>
              <a:spcAft>
                <a:spcPts val="600"/>
              </a:spcAft>
            </a:pPr>
            <a:r>
              <a:rPr b="1" sz="1250">
                <a:solidFill>
                  <a:srgbClr val="1E293B"/>
                </a:solidFill>
                <a:latin typeface="微软雅黑"/>
              </a:rPr>
              <a:t>核心内容：</a:t>
            </a:r>
            <a:r>
              <a:rPr sz="1250">
                <a:solidFill>
                  <a:srgbClr val="1E293B"/>
                </a:solidFill>
                <a:latin typeface="宋体"/>
              </a:rPr>
              <a:t>市场失灵与次可加性</a:t>
            </a:r>
          </a:p>
          <a:p>
            <a:pPr>
              <a:spcAft>
                <a:spcPts val="600"/>
              </a:spcAft>
            </a:pPr>
            <a:r>
              <a:rPr b="1" sz="1250">
                <a:solidFill>
                  <a:srgbClr val="1E293B"/>
                </a:solidFill>
                <a:latin typeface="微软雅黑"/>
              </a:rPr>
              <a:t>主线映射：</a:t>
            </a:r>
            <a:r>
              <a:rPr sz="1250">
                <a:solidFill>
                  <a:srgbClr val="1E293B"/>
                </a:solidFill>
                <a:latin typeface="宋体"/>
              </a:rPr>
              <a:t>政府干预以约束自然垄断的市场势力滥用。</a:t>
            </a:r>
          </a:p>
        </p:txBody>
      </p:sp>
      <p:sp>
        <p:nvSpPr>
          <p:cNvPr id="9" name="Rounded Rectangle 8"/>
          <p:cNvSpPr/>
          <p:nvPr/>
        </p:nvSpPr>
        <p:spPr>
          <a:xfrm>
            <a:off x="4389120" y="1554480"/>
            <a:ext cx="3413455" cy="45720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389120" y="1554480"/>
            <a:ext cx="3413455" cy="73152"/>
          </a:xfrm>
          <a:prstGeom prst="rect">
            <a:avLst/>
          </a:prstGeom>
          <a:solidFill>
            <a:srgbClr val="2D6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72000" y="1737360"/>
            <a:ext cx="3047695" cy="4297680"/>
          </a:xfrm>
          <a:prstGeom prst="rect">
            <a:avLst/>
          </a:prstGeom>
          <a:noFill/>
        </p:spPr>
        <p:txBody>
          <a:bodyPr wrap="square">
            <a:spAutoFit/>
          </a:bodyPr>
          <a:lstStyle/>
          <a:p>
            <a:pPr>
              <a:spcAft>
                <a:spcPts val="800"/>
              </a:spcAft>
              <a:defRPr sz="1500" b="1">
                <a:solidFill>
                  <a:srgbClr val="2D6A4F"/>
                </a:solidFill>
                <a:latin typeface="微软雅黑"/>
              </a:defRPr>
            </a:pPr>
            <a:r>
              <a:t>第二节 价格规制与激励规制</a:t>
            </a:r>
          </a:p>
          <a:p>
            <a:pPr>
              <a:spcAft>
                <a:spcPts val="600"/>
              </a:spcAft>
            </a:pPr>
            <a:r>
              <a:rPr b="1" sz="1250">
                <a:solidFill>
                  <a:srgbClr val="1E293B"/>
                </a:solidFill>
                <a:latin typeface="微软雅黑"/>
              </a:rPr>
              <a:t>核心内容：</a:t>
            </a:r>
            <a:r>
              <a:rPr sz="1250">
                <a:solidFill>
                  <a:srgbClr val="1E293B"/>
                </a:solidFill>
                <a:latin typeface="宋体"/>
              </a:rPr>
              <a:t>投资回报率规制 vs 上限价格规制</a:t>
            </a:r>
          </a:p>
          <a:p>
            <a:pPr>
              <a:spcAft>
                <a:spcPts val="600"/>
              </a:spcAft>
            </a:pPr>
            <a:r>
              <a:rPr b="1" sz="1250">
                <a:solidFill>
                  <a:srgbClr val="1E293B"/>
                </a:solidFill>
                <a:latin typeface="微软雅黑"/>
              </a:rPr>
              <a:t>主线映射：</a:t>
            </a:r>
            <a:r>
              <a:rPr sz="1250">
                <a:solidFill>
                  <a:srgbClr val="1E293B"/>
                </a:solidFill>
                <a:latin typeface="宋体"/>
              </a:rPr>
              <a:t>设计规制契约限制垄断加价并诱导降本。</a:t>
            </a:r>
          </a:p>
        </p:txBody>
      </p:sp>
      <p:sp>
        <p:nvSpPr>
          <p:cNvPr id="12" name="Rounded Rectangle 11"/>
          <p:cNvSpPr/>
          <p:nvPr/>
        </p:nvSpPr>
        <p:spPr>
          <a:xfrm>
            <a:off x="8046720" y="1554480"/>
            <a:ext cx="3413455" cy="45720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8046720" y="1554480"/>
            <a:ext cx="3413455" cy="73152"/>
          </a:xfrm>
          <a:prstGeom prst="rect">
            <a:avLst/>
          </a:prstGeom>
          <a:solidFill>
            <a:srgbClr val="C58A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229600" y="1737360"/>
            <a:ext cx="3047695" cy="4297680"/>
          </a:xfrm>
          <a:prstGeom prst="rect">
            <a:avLst/>
          </a:prstGeom>
          <a:noFill/>
        </p:spPr>
        <p:txBody>
          <a:bodyPr wrap="square">
            <a:spAutoFit/>
          </a:bodyPr>
          <a:lstStyle/>
          <a:p>
            <a:pPr>
              <a:spcAft>
                <a:spcPts val="800"/>
              </a:spcAft>
              <a:defRPr sz="1500" b="1">
                <a:solidFill>
                  <a:srgbClr val="C58A21"/>
                </a:solidFill>
                <a:latin typeface="微软雅黑"/>
              </a:defRPr>
            </a:pPr>
            <a:r>
              <a:t>第三节 规制捕获与信息不对称</a:t>
            </a:r>
          </a:p>
          <a:p>
            <a:pPr>
              <a:spcAft>
                <a:spcPts val="600"/>
              </a:spcAft>
            </a:pPr>
            <a:r>
              <a:rPr b="1" sz="1250">
                <a:solidFill>
                  <a:srgbClr val="1E293B"/>
                </a:solidFill>
                <a:latin typeface="微软雅黑"/>
              </a:rPr>
              <a:t>核心内容：</a:t>
            </a:r>
            <a:r>
              <a:rPr sz="1250">
                <a:solidFill>
                  <a:srgbClr val="1E293B"/>
                </a:solidFill>
                <a:latin typeface="宋体"/>
              </a:rPr>
              <a:t>规制捕获与网运分离改革</a:t>
            </a:r>
          </a:p>
          <a:p>
            <a:pPr>
              <a:spcAft>
                <a:spcPts val="600"/>
              </a:spcAft>
            </a:pPr>
            <a:r>
              <a:rPr b="1" sz="1250">
                <a:solidFill>
                  <a:srgbClr val="1E293B"/>
                </a:solidFill>
                <a:latin typeface="微软雅黑"/>
              </a:rPr>
              <a:t>主线映射：</a:t>
            </a:r>
            <a:r>
              <a:rPr sz="1250">
                <a:solidFill>
                  <a:srgbClr val="1E293B"/>
                </a:solidFill>
                <a:latin typeface="宋体"/>
              </a:rPr>
              <a:t>防范被规制企业反向控制规制者巩固势力。</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731520" y="365760"/>
            <a:ext cx="10728655" cy="365760"/>
          </a:xfrm>
          <a:prstGeom prst="rect">
            <a:avLst/>
          </a:prstGeom>
          <a:noFill/>
        </p:spPr>
        <p:txBody>
          <a:bodyPr wrap="square">
            <a:spAutoFit/>
          </a:bodyPr>
          <a:lstStyle/>
          <a:p>
            <a:pPr>
              <a:defRPr sz="1000" b="1">
                <a:solidFill>
                  <a:srgbClr val="2D6A4F"/>
                </a:solidFill>
                <a:latin typeface="微软雅黑"/>
              </a:defRPr>
            </a:pPr>
            <a:r>
              <a:t>产业经济学（第3版）· 刘志彪 | 第九章  微观规制</a:t>
            </a:r>
          </a:p>
        </p:txBody>
      </p:sp>
      <p:sp>
        <p:nvSpPr>
          <p:cNvPr id="3" name="TextBox 2"/>
          <p:cNvSpPr txBox="1"/>
          <p:nvPr/>
        </p:nvSpPr>
        <p:spPr>
          <a:xfrm>
            <a:off x="731520" y="640080"/>
            <a:ext cx="10728655" cy="640080"/>
          </a:xfrm>
          <a:prstGeom prst="rect">
            <a:avLst/>
          </a:prstGeom>
          <a:noFill/>
        </p:spPr>
        <p:txBody>
          <a:bodyPr wrap="square">
            <a:spAutoFit/>
          </a:bodyPr>
          <a:lstStyle/>
          <a:p>
            <a:pPr>
              <a:defRPr sz="2200" b="1">
                <a:solidFill>
                  <a:srgbClr val="1B4965"/>
                </a:solidFill>
                <a:latin typeface="微软雅黑"/>
              </a:defRPr>
            </a:pPr>
            <a:r>
              <a:t>第一节 微观规制起因：市场失灵与自然垄断</a:t>
            </a:r>
          </a:p>
        </p:txBody>
      </p:sp>
      <p:sp>
        <p:nvSpPr>
          <p:cNvPr id="4" name="Rectangle 3"/>
          <p:cNvSpPr/>
          <p:nvPr/>
        </p:nvSpPr>
        <p:spPr>
          <a:xfrm>
            <a:off x="731520" y="1280160"/>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6400800"/>
            <a:ext cx="10728655" cy="274320"/>
          </a:xfrm>
          <a:prstGeom prst="rect">
            <a:avLst/>
          </a:prstGeom>
          <a:noFill/>
        </p:spPr>
        <p:txBody>
          <a:bodyPr wrap="none">
            <a:spAutoFit/>
          </a:bodyPr>
          <a:lstStyle/>
          <a:p>
            <a:pPr algn="r">
              <a:defRPr sz="1000">
                <a:solidFill>
                  <a:srgbClr val="64748B"/>
                </a:solidFill>
                <a:latin typeface="微软雅黑"/>
              </a:defRPr>
            </a:pPr>
            <a:r>
              <a:t>主线视角：市场势力（Market Power）的演化与规制  |  第 3 / 16 页</a:t>
            </a:r>
          </a:p>
        </p:txBody>
      </p:sp>
      <p:sp>
        <p:nvSpPr>
          <p:cNvPr id="6" name="Rounded Rectangle 5"/>
          <p:cNvSpPr/>
          <p:nvPr/>
        </p:nvSpPr>
        <p:spPr>
          <a:xfrm>
            <a:off x="731520" y="1554480"/>
            <a:ext cx="5120640" cy="45720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1554480"/>
            <a:ext cx="5120640" cy="73152"/>
          </a:xfrm>
          <a:prstGeom prst="rect">
            <a:avLst/>
          </a:prstGeom>
          <a:solidFill>
            <a:srgbClr val="1B496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1737360"/>
            <a:ext cx="4754880" cy="4297680"/>
          </a:xfrm>
          <a:prstGeom prst="rect">
            <a:avLst/>
          </a:prstGeom>
          <a:noFill/>
        </p:spPr>
        <p:txBody>
          <a:bodyPr wrap="square">
            <a:spAutoFit/>
          </a:bodyPr>
          <a:lstStyle/>
          <a:p>
            <a:pPr>
              <a:spcAft>
                <a:spcPts val="800"/>
              </a:spcAft>
              <a:defRPr sz="1500" b="1">
                <a:solidFill>
                  <a:srgbClr val="1B4965"/>
                </a:solidFill>
                <a:latin typeface="微软雅黑"/>
              </a:defRPr>
            </a:pPr>
            <a:r>
              <a:t>1. 微观规制 (Micro-Regulation) 定义</a:t>
            </a:r>
          </a:p>
          <a:p>
            <a:pPr>
              <a:spcAft>
                <a:spcPts val="600"/>
              </a:spcAft>
            </a:pPr>
            <a:r>
              <a:rPr b="1" sz="1250">
                <a:solidFill>
                  <a:srgbClr val="1E293B"/>
                </a:solidFill>
                <a:latin typeface="微软雅黑"/>
              </a:rPr>
              <a:t>定义：</a:t>
            </a:r>
            <a:r>
              <a:rPr sz="1250">
                <a:solidFill>
                  <a:srgbClr val="1E293B"/>
                </a:solidFill>
                <a:latin typeface="宋体"/>
              </a:rPr>
              <a:t>政府行政机关依法对特定产业的企业价格、进入、退出及服务质量进行直接干预与规范。</a:t>
            </a:r>
          </a:p>
          <a:p>
            <a:pPr>
              <a:spcAft>
                <a:spcPts val="600"/>
              </a:spcAft>
            </a:pPr>
            <a:r>
              <a:rPr b="1" sz="1250">
                <a:solidFill>
                  <a:srgbClr val="1E293B"/>
                </a:solidFill>
                <a:latin typeface="微软雅黑"/>
              </a:rPr>
              <a:t>起因：</a:t>
            </a:r>
            <a:r>
              <a:rPr sz="1250">
                <a:solidFill>
                  <a:srgbClr val="1E293B"/>
                </a:solidFill>
                <a:latin typeface="宋体"/>
              </a:rPr>
              <a:t>市场失灵（外部性、信息不对称、自然垄断）。</a:t>
            </a:r>
          </a:p>
        </p:txBody>
      </p:sp>
      <p:sp>
        <p:nvSpPr>
          <p:cNvPr id="9" name="Rounded Rectangle 8"/>
          <p:cNvSpPr/>
          <p:nvPr/>
        </p:nvSpPr>
        <p:spPr>
          <a:xfrm>
            <a:off x="6309360" y="1554480"/>
            <a:ext cx="5120640" cy="45720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309360" y="1554480"/>
            <a:ext cx="5120640" cy="73152"/>
          </a:xfrm>
          <a:prstGeom prst="rect">
            <a:avLst/>
          </a:prstGeom>
          <a:solidFill>
            <a:srgbClr val="2D6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92240" y="1737360"/>
            <a:ext cx="4754880" cy="4297680"/>
          </a:xfrm>
          <a:prstGeom prst="rect">
            <a:avLst/>
          </a:prstGeom>
          <a:noFill/>
        </p:spPr>
        <p:txBody>
          <a:bodyPr wrap="square">
            <a:spAutoFit/>
          </a:bodyPr>
          <a:lstStyle/>
          <a:p>
            <a:pPr>
              <a:spcAft>
                <a:spcPts val="800"/>
              </a:spcAft>
              <a:defRPr sz="1500" b="1">
                <a:solidFill>
                  <a:srgbClr val="2D6A4F"/>
                </a:solidFill>
                <a:latin typeface="微软雅黑"/>
              </a:defRPr>
            </a:pPr>
            <a:r>
              <a:t>2. 自然垄断的现代特征：次可加性 (Subadditivity)</a:t>
            </a:r>
          </a:p>
          <a:p>
            <a:pPr>
              <a:spcAft>
                <a:spcPts val="600"/>
              </a:spcAft>
            </a:pPr>
            <a:r>
              <a:rPr b="1" sz="1250">
                <a:solidFill>
                  <a:srgbClr val="1E293B"/>
                </a:solidFill>
                <a:latin typeface="微软雅黑"/>
              </a:rPr>
              <a:t>成本次可加性：</a:t>
            </a:r>
            <a:r>
              <a:rPr sz="1250">
                <a:solidFill>
                  <a:srgbClr val="1E293B"/>
                </a:solidFill>
                <a:latin typeface="宋体"/>
              </a:rPr>
              <a:t>由一家企业生产全行业所有产量的总成本低于多家企业分工生产的总成本。</a:t>
            </a:r>
          </a:p>
          <a:p>
            <a:pPr>
              <a:spcAft>
                <a:spcPts val="600"/>
              </a:spcAft>
            </a:pPr>
            <a:r>
              <a:rPr b="1" sz="1250">
                <a:solidFill>
                  <a:srgbClr val="1E293B"/>
                </a:solidFill>
                <a:latin typeface="微软雅黑"/>
              </a:rPr>
              <a:t>规模与范围经济：</a:t>
            </a:r>
            <a:r>
              <a:rPr sz="1250">
                <a:solidFill>
                  <a:srgbClr val="1E293B"/>
                </a:solidFill>
                <a:latin typeface="宋体"/>
              </a:rPr>
              <a:t>强沉没资产与网络效应决定了独家经营效率最高。</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731520" y="365760"/>
            <a:ext cx="10728655" cy="365760"/>
          </a:xfrm>
          <a:prstGeom prst="rect">
            <a:avLst/>
          </a:prstGeom>
          <a:noFill/>
        </p:spPr>
        <p:txBody>
          <a:bodyPr wrap="square">
            <a:spAutoFit/>
          </a:bodyPr>
          <a:lstStyle/>
          <a:p>
            <a:pPr>
              <a:defRPr sz="1000" b="1">
                <a:solidFill>
                  <a:srgbClr val="2D6A4F"/>
                </a:solidFill>
                <a:latin typeface="微软雅黑"/>
              </a:defRPr>
            </a:pPr>
            <a:r>
              <a:t>产业经济学（第3版）· 刘志彪 | 第九章  微观规制</a:t>
            </a:r>
          </a:p>
        </p:txBody>
      </p:sp>
      <p:sp>
        <p:nvSpPr>
          <p:cNvPr id="3" name="TextBox 2"/>
          <p:cNvSpPr txBox="1"/>
          <p:nvPr/>
        </p:nvSpPr>
        <p:spPr>
          <a:xfrm>
            <a:off x="731520" y="640080"/>
            <a:ext cx="10728655" cy="640080"/>
          </a:xfrm>
          <a:prstGeom prst="rect">
            <a:avLst/>
          </a:prstGeom>
          <a:noFill/>
        </p:spPr>
        <p:txBody>
          <a:bodyPr wrap="square">
            <a:spAutoFit/>
          </a:bodyPr>
          <a:lstStyle/>
          <a:p>
            <a:pPr>
              <a:defRPr sz="2200" b="1">
                <a:solidFill>
                  <a:srgbClr val="1B4965"/>
                </a:solidFill>
                <a:latin typeface="微软雅黑"/>
              </a:defRPr>
            </a:pPr>
            <a:r>
              <a:t>第二节 传统价格规制：MC 定价 vs AC 定价</a:t>
            </a:r>
          </a:p>
        </p:txBody>
      </p:sp>
      <p:sp>
        <p:nvSpPr>
          <p:cNvPr id="4" name="Rectangle 3"/>
          <p:cNvSpPr/>
          <p:nvPr/>
        </p:nvSpPr>
        <p:spPr>
          <a:xfrm>
            <a:off x="731520" y="1280160"/>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6400800"/>
            <a:ext cx="10728655" cy="274320"/>
          </a:xfrm>
          <a:prstGeom prst="rect">
            <a:avLst/>
          </a:prstGeom>
          <a:noFill/>
        </p:spPr>
        <p:txBody>
          <a:bodyPr wrap="none">
            <a:spAutoFit/>
          </a:bodyPr>
          <a:lstStyle/>
          <a:p>
            <a:pPr algn="r">
              <a:defRPr sz="1000">
                <a:solidFill>
                  <a:srgbClr val="64748B"/>
                </a:solidFill>
                <a:latin typeface="微软雅黑"/>
              </a:defRPr>
            </a:pPr>
            <a:r>
              <a:t>主线视角：市场势力（Market Power）的演化与规制  |  第 4 / 16 页</a:t>
            </a:r>
          </a:p>
        </p:txBody>
      </p:sp>
      <p:sp>
        <p:nvSpPr>
          <p:cNvPr id="6" name="Rounded Rectangle 5"/>
          <p:cNvSpPr/>
          <p:nvPr/>
        </p:nvSpPr>
        <p:spPr>
          <a:xfrm>
            <a:off x="731520" y="1554480"/>
            <a:ext cx="5120640" cy="45720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1554480"/>
            <a:ext cx="5120640" cy="73152"/>
          </a:xfrm>
          <a:prstGeom prst="rect">
            <a:avLst/>
          </a:prstGeom>
          <a:solidFill>
            <a:srgbClr val="1B496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1737360"/>
            <a:ext cx="4754880" cy="4297680"/>
          </a:xfrm>
          <a:prstGeom prst="rect">
            <a:avLst/>
          </a:prstGeom>
          <a:noFill/>
        </p:spPr>
        <p:txBody>
          <a:bodyPr wrap="square">
            <a:spAutoFit/>
          </a:bodyPr>
          <a:lstStyle/>
          <a:p>
            <a:pPr>
              <a:spcAft>
                <a:spcPts val="800"/>
              </a:spcAft>
              <a:defRPr sz="1500" b="1">
                <a:solidFill>
                  <a:srgbClr val="1B4965"/>
                </a:solidFill>
                <a:latin typeface="微软雅黑"/>
              </a:defRPr>
            </a:pPr>
            <a:r>
              <a:t>1. 边际成本定价 (P = MC)</a:t>
            </a:r>
          </a:p>
          <a:p>
            <a:pPr>
              <a:spcAft>
                <a:spcPts val="600"/>
              </a:spcAft>
            </a:pPr>
            <a:r>
              <a:rPr b="1" sz="1250">
                <a:solidFill>
                  <a:srgbClr val="1E293B"/>
                </a:solidFill>
                <a:latin typeface="微软雅黑"/>
              </a:rPr>
              <a:t>优点：</a:t>
            </a:r>
            <a:r>
              <a:rPr sz="1250">
                <a:solidFill>
                  <a:srgbClr val="1E293B"/>
                </a:solidFill>
                <a:latin typeface="宋体"/>
              </a:rPr>
              <a:t>达到帕累托最优，社会总福利最大。</a:t>
            </a:r>
          </a:p>
          <a:p>
            <a:pPr>
              <a:spcAft>
                <a:spcPts val="600"/>
              </a:spcAft>
            </a:pPr>
            <a:r>
              <a:rPr b="1" sz="1250">
                <a:solidFill>
                  <a:srgbClr val="1E293B"/>
                </a:solidFill>
                <a:latin typeface="微软雅黑"/>
              </a:rPr>
              <a:t>致命缺陷：</a:t>
            </a:r>
            <a:r>
              <a:rPr sz="1250">
                <a:solidFill>
                  <a:srgbClr val="1E293B"/>
                </a:solidFill>
                <a:latin typeface="宋体"/>
              </a:rPr>
              <a:t>在自然垄断（AC 递减）下，P = MC &lt; AC，企业面临持续亏损，需财政巨额补贴！</a:t>
            </a:r>
          </a:p>
        </p:txBody>
      </p:sp>
      <p:sp>
        <p:nvSpPr>
          <p:cNvPr id="9" name="Rounded Rectangle 8"/>
          <p:cNvSpPr/>
          <p:nvPr/>
        </p:nvSpPr>
        <p:spPr>
          <a:xfrm>
            <a:off x="6309360" y="1554480"/>
            <a:ext cx="5120640" cy="45720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309360" y="1554480"/>
            <a:ext cx="5120640" cy="73152"/>
          </a:xfrm>
          <a:prstGeom prst="rect">
            <a:avLst/>
          </a:prstGeom>
          <a:solidFill>
            <a:srgbClr val="C58A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92240" y="1737360"/>
            <a:ext cx="4754880" cy="4297680"/>
          </a:xfrm>
          <a:prstGeom prst="rect">
            <a:avLst/>
          </a:prstGeom>
          <a:noFill/>
        </p:spPr>
        <p:txBody>
          <a:bodyPr wrap="square">
            <a:spAutoFit/>
          </a:bodyPr>
          <a:lstStyle/>
          <a:p>
            <a:pPr>
              <a:spcAft>
                <a:spcPts val="800"/>
              </a:spcAft>
              <a:defRPr sz="1500" b="1">
                <a:solidFill>
                  <a:srgbClr val="C58A21"/>
                </a:solidFill>
                <a:latin typeface="微软雅黑"/>
              </a:defRPr>
            </a:pPr>
            <a:r>
              <a:t>2. 平均成本定价 (P = AC / 次优定价)</a:t>
            </a:r>
          </a:p>
          <a:p>
            <a:pPr>
              <a:spcAft>
                <a:spcPts val="600"/>
              </a:spcAft>
            </a:pPr>
            <a:r>
              <a:rPr b="1" sz="1250">
                <a:solidFill>
                  <a:srgbClr val="1E293B"/>
                </a:solidFill>
                <a:latin typeface="微软雅黑"/>
              </a:rPr>
              <a:t>运行机制：</a:t>
            </a:r>
            <a:r>
              <a:rPr sz="1250">
                <a:solidFill>
                  <a:srgbClr val="1E293B"/>
                </a:solidFill>
                <a:latin typeface="宋体"/>
              </a:rPr>
              <a:t>允许企业实现收支平衡（零超额利润），无需政府财政补贴。</a:t>
            </a:r>
          </a:p>
          <a:p>
            <a:pPr>
              <a:spcAft>
                <a:spcPts val="600"/>
              </a:spcAft>
            </a:pPr>
            <a:r>
              <a:rPr b="1" sz="1250">
                <a:solidFill>
                  <a:srgbClr val="1E293B"/>
                </a:solidFill>
                <a:latin typeface="微软雅黑"/>
              </a:rPr>
              <a:t>代价：</a:t>
            </a:r>
            <a:r>
              <a:rPr sz="1250">
                <a:solidFill>
                  <a:srgbClr val="1E293B"/>
                </a:solidFill>
                <a:latin typeface="宋体"/>
              </a:rPr>
              <a:t>损失了部分消费者剩余，存在少量无谓损失。</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731520" y="365760"/>
            <a:ext cx="10728655" cy="365760"/>
          </a:xfrm>
          <a:prstGeom prst="rect">
            <a:avLst/>
          </a:prstGeom>
          <a:noFill/>
        </p:spPr>
        <p:txBody>
          <a:bodyPr wrap="square">
            <a:spAutoFit/>
          </a:bodyPr>
          <a:lstStyle/>
          <a:p>
            <a:pPr>
              <a:defRPr sz="1000" b="1">
                <a:solidFill>
                  <a:srgbClr val="2D6A4F"/>
                </a:solidFill>
                <a:latin typeface="微软雅黑"/>
              </a:defRPr>
            </a:pPr>
            <a:r>
              <a:t>产业经济学（第3版）· 刘志彪 | 第九章  微观规制</a:t>
            </a:r>
          </a:p>
        </p:txBody>
      </p:sp>
      <p:sp>
        <p:nvSpPr>
          <p:cNvPr id="3" name="TextBox 2"/>
          <p:cNvSpPr txBox="1"/>
          <p:nvPr/>
        </p:nvSpPr>
        <p:spPr>
          <a:xfrm>
            <a:off x="731520" y="640080"/>
            <a:ext cx="10728655" cy="640080"/>
          </a:xfrm>
          <a:prstGeom prst="rect">
            <a:avLst/>
          </a:prstGeom>
          <a:noFill/>
        </p:spPr>
        <p:txBody>
          <a:bodyPr wrap="square">
            <a:spAutoFit/>
          </a:bodyPr>
          <a:lstStyle/>
          <a:p>
            <a:pPr>
              <a:defRPr sz="2200" b="1">
                <a:solidFill>
                  <a:srgbClr val="1B4965"/>
                </a:solidFill>
                <a:latin typeface="微软雅黑"/>
              </a:defRPr>
            </a:pPr>
            <a:r>
              <a:t>第二节 投资回报率规制 (Rate-of-Return Regulation)</a:t>
            </a:r>
          </a:p>
        </p:txBody>
      </p:sp>
      <p:sp>
        <p:nvSpPr>
          <p:cNvPr id="4" name="Rectangle 3"/>
          <p:cNvSpPr/>
          <p:nvPr/>
        </p:nvSpPr>
        <p:spPr>
          <a:xfrm>
            <a:off x="731520" y="1280160"/>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6400800"/>
            <a:ext cx="10728655" cy="274320"/>
          </a:xfrm>
          <a:prstGeom prst="rect">
            <a:avLst/>
          </a:prstGeom>
          <a:noFill/>
        </p:spPr>
        <p:txBody>
          <a:bodyPr wrap="none">
            <a:spAutoFit/>
          </a:bodyPr>
          <a:lstStyle/>
          <a:p>
            <a:pPr algn="r">
              <a:defRPr sz="1000">
                <a:solidFill>
                  <a:srgbClr val="64748B"/>
                </a:solidFill>
                <a:latin typeface="微软雅黑"/>
              </a:defRPr>
            </a:pPr>
            <a:r>
              <a:t>主线视角：市场势力（Market Power）的演化与规制  |  第 5 / 16 页</a:t>
            </a:r>
          </a:p>
        </p:txBody>
      </p:sp>
      <p:sp>
        <p:nvSpPr>
          <p:cNvPr id="6" name="Rounded Rectangle 5"/>
          <p:cNvSpPr/>
          <p:nvPr/>
        </p:nvSpPr>
        <p:spPr>
          <a:xfrm>
            <a:off x="731520" y="1554480"/>
            <a:ext cx="5120640" cy="45720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1554480"/>
            <a:ext cx="5120640" cy="73152"/>
          </a:xfrm>
          <a:prstGeom prst="rect">
            <a:avLst/>
          </a:prstGeom>
          <a:solidFill>
            <a:srgbClr val="1B496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1737360"/>
            <a:ext cx="4754880" cy="4297680"/>
          </a:xfrm>
          <a:prstGeom prst="rect">
            <a:avLst/>
          </a:prstGeom>
          <a:noFill/>
        </p:spPr>
        <p:txBody>
          <a:bodyPr wrap="square">
            <a:spAutoFit/>
          </a:bodyPr>
          <a:lstStyle/>
          <a:p>
            <a:pPr>
              <a:spcAft>
                <a:spcPts val="800"/>
              </a:spcAft>
              <a:defRPr sz="1500" b="1">
                <a:solidFill>
                  <a:srgbClr val="1B4965"/>
                </a:solidFill>
                <a:latin typeface="微软雅黑"/>
              </a:defRPr>
            </a:pPr>
            <a:r>
              <a:t>1. 投资回报率规制 (ROR) 机制</a:t>
            </a:r>
          </a:p>
          <a:p>
            <a:pPr>
              <a:spcAft>
                <a:spcPts val="600"/>
              </a:spcAft>
            </a:pPr>
            <a:r>
              <a:rPr b="1" sz="1250">
                <a:solidFill>
                  <a:srgbClr val="1E293B"/>
                </a:solidFill>
                <a:latin typeface="微软雅黑"/>
              </a:rPr>
              <a:t>公式：</a:t>
            </a:r>
            <a:r>
              <a:rPr sz="1250">
                <a:solidFill>
                  <a:srgbClr val="1E293B"/>
                </a:solidFill>
                <a:latin typeface="宋体"/>
              </a:rPr>
              <a:t>允许总收入 = 经营成本 + 资本基数 * 允许回报率 s。</a:t>
            </a:r>
          </a:p>
          <a:p>
            <a:pPr>
              <a:spcAft>
                <a:spcPts val="600"/>
              </a:spcAft>
            </a:pPr>
            <a:r>
              <a:rPr b="1" sz="1250">
                <a:solidFill>
                  <a:srgbClr val="1E293B"/>
                </a:solidFill>
                <a:latin typeface="微软雅黑"/>
              </a:rPr>
              <a:t>目的：</a:t>
            </a:r>
            <a:r>
              <a:rPr sz="1250">
                <a:solidFill>
                  <a:srgbClr val="1E293B"/>
                </a:solidFill>
                <a:latin typeface="宋体"/>
              </a:rPr>
              <a:t>限制企业利用市场势力赚取高于正常资本成本的垄断暴利。</a:t>
            </a:r>
          </a:p>
        </p:txBody>
      </p:sp>
      <p:sp>
        <p:nvSpPr>
          <p:cNvPr id="9" name="Rounded Rectangle 8"/>
          <p:cNvSpPr/>
          <p:nvPr/>
        </p:nvSpPr>
        <p:spPr>
          <a:xfrm>
            <a:off x="6309360" y="1554480"/>
            <a:ext cx="5120640" cy="45720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309360" y="1554480"/>
            <a:ext cx="5120640" cy="73152"/>
          </a:xfrm>
          <a:prstGeom prst="rect">
            <a:avLst/>
          </a:prstGeom>
          <a:solidFill>
            <a:srgbClr val="2D6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92240" y="1737360"/>
            <a:ext cx="4754880" cy="4297680"/>
          </a:xfrm>
          <a:prstGeom prst="rect">
            <a:avLst/>
          </a:prstGeom>
          <a:noFill/>
        </p:spPr>
        <p:txBody>
          <a:bodyPr wrap="square">
            <a:spAutoFit/>
          </a:bodyPr>
          <a:lstStyle/>
          <a:p>
            <a:pPr>
              <a:spcAft>
                <a:spcPts val="800"/>
              </a:spcAft>
              <a:defRPr sz="1500" b="1">
                <a:solidFill>
                  <a:srgbClr val="2D6A4F"/>
                </a:solidFill>
                <a:latin typeface="微软雅黑"/>
              </a:defRPr>
            </a:pPr>
            <a:r>
              <a:t>2. 著名的 A-J 效应 (Averch-Johnson Effect)</a:t>
            </a:r>
          </a:p>
          <a:p>
            <a:pPr>
              <a:spcAft>
                <a:spcPts val="600"/>
              </a:spcAft>
            </a:pPr>
            <a:r>
              <a:rPr b="1" sz="1250">
                <a:solidFill>
                  <a:srgbClr val="1E293B"/>
                </a:solidFill>
                <a:latin typeface="微软雅黑"/>
              </a:rPr>
              <a:t>资本过度投入：</a:t>
            </a:r>
            <a:r>
              <a:rPr sz="1250">
                <a:solidFill>
                  <a:srgbClr val="1E293B"/>
                </a:solidFill>
                <a:latin typeface="宋体"/>
              </a:rPr>
              <a:t>当允许回报率 s 高于市场真实资本成本 r 时，企业会过度投资资本设备（滥用资本基数）。</a:t>
            </a:r>
          </a:p>
          <a:p>
            <a:pPr>
              <a:spcAft>
                <a:spcPts val="600"/>
              </a:spcAft>
            </a:pPr>
            <a:r>
              <a:rPr b="1" sz="1250">
                <a:solidFill>
                  <a:srgbClr val="1E293B"/>
                </a:solidFill>
                <a:latin typeface="微软雅黑"/>
              </a:rPr>
              <a:t>效率损失：</a:t>
            </a:r>
            <a:r>
              <a:rPr sz="1250">
                <a:solidFill>
                  <a:srgbClr val="1E293B"/>
                </a:solidFill>
                <a:latin typeface="宋体"/>
              </a:rPr>
              <a:t>造成资本对劳动的扭曲替代，企业缺乏降低经营成本的动力。</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731520" y="365760"/>
            <a:ext cx="10728655" cy="365760"/>
          </a:xfrm>
          <a:prstGeom prst="rect">
            <a:avLst/>
          </a:prstGeom>
          <a:noFill/>
        </p:spPr>
        <p:txBody>
          <a:bodyPr wrap="square">
            <a:spAutoFit/>
          </a:bodyPr>
          <a:lstStyle/>
          <a:p>
            <a:pPr>
              <a:defRPr sz="1000" b="1">
                <a:solidFill>
                  <a:srgbClr val="2D6A4F"/>
                </a:solidFill>
                <a:latin typeface="微软雅黑"/>
              </a:defRPr>
            </a:pPr>
            <a:r>
              <a:t>产业经济学（第3版）· 刘志彪 | 第九章  微观规制</a:t>
            </a:r>
          </a:p>
        </p:txBody>
      </p:sp>
      <p:sp>
        <p:nvSpPr>
          <p:cNvPr id="3" name="TextBox 2"/>
          <p:cNvSpPr txBox="1"/>
          <p:nvPr/>
        </p:nvSpPr>
        <p:spPr>
          <a:xfrm>
            <a:off x="731520" y="640080"/>
            <a:ext cx="10728655" cy="640080"/>
          </a:xfrm>
          <a:prstGeom prst="rect">
            <a:avLst/>
          </a:prstGeom>
          <a:noFill/>
        </p:spPr>
        <p:txBody>
          <a:bodyPr wrap="square">
            <a:spAutoFit/>
          </a:bodyPr>
          <a:lstStyle/>
          <a:p>
            <a:pPr>
              <a:defRPr sz="2200" b="1">
                <a:solidFill>
                  <a:srgbClr val="1B4965"/>
                </a:solidFill>
                <a:latin typeface="微软雅黑"/>
              </a:defRPr>
            </a:pPr>
            <a:r>
              <a:t>第二节 激励规制革命：上限价格规制 (Price-Cap)</a:t>
            </a:r>
          </a:p>
        </p:txBody>
      </p:sp>
      <p:sp>
        <p:nvSpPr>
          <p:cNvPr id="4" name="Rectangle 3"/>
          <p:cNvSpPr/>
          <p:nvPr/>
        </p:nvSpPr>
        <p:spPr>
          <a:xfrm>
            <a:off x="731520" y="1280160"/>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6400800"/>
            <a:ext cx="10728655" cy="274320"/>
          </a:xfrm>
          <a:prstGeom prst="rect">
            <a:avLst/>
          </a:prstGeom>
          <a:noFill/>
        </p:spPr>
        <p:txBody>
          <a:bodyPr wrap="none">
            <a:spAutoFit/>
          </a:bodyPr>
          <a:lstStyle/>
          <a:p>
            <a:pPr algn="r">
              <a:defRPr sz="1000">
                <a:solidFill>
                  <a:srgbClr val="64748B"/>
                </a:solidFill>
                <a:latin typeface="微软雅黑"/>
              </a:defRPr>
            </a:pPr>
            <a:r>
              <a:t>主线视角：市场势力（Market Power）的演化与规制  |  第 6 / 16 页</a:t>
            </a:r>
          </a:p>
        </p:txBody>
      </p:sp>
      <p:sp>
        <p:nvSpPr>
          <p:cNvPr id="6" name="Rounded Rectangle 5"/>
          <p:cNvSpPr/>
          <p:nvPr/>
        </p:nvSpPr>
        <p:spPr>
          <a:xfrm>
            <a:off x="731520" y="1554480"/>
            <a:ext cx="5120640" cy="45720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1554480"/>
            <a:ext cx="5120640" cy="73152"/>
          </a:xfrm>
          <a:prstGeom prst="rect">
            <a:avLst/>
          </a:prstGeom>
          <a:solidFill>
            <a:srgbClr val="1B496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1737360"/>
            <a:ext cx="4754880" cy="4297680"/>
          </a:xfrm>
          <a:prstGeom prst="rect">
            <a:avLst/>
          </a:prstGeom>
          <a:noFill/>
        </p:spPr>
        <p:txBody>
          <a:bodyPr wrap="square">
            <a:spAutoFit/>
          </a:bodyPr>
          <a:lstStyle/>
          <a:p>
            <a:pPr>
              <a:spcAft>
                <a:spcPts val="800"/>
              </a:spcAft>
              <a:defRPr sz="1500" b="1">
                <a:solidFill>
                  <a:srgbClr val="1B4965"/>
                </a:solidFill>
                <a:latin typeface="微软雅黑"/>
              </a:defRPr>
            </a:pPr>
            <a:r>
              <a:t>1. 上限价格规制 (RPI - X) 模型</a:t>
            </a:r>
          </a:p>
          <a:p>
            <a:pPr>
              <a:spcAft>
                <a:spcPts val="600"/>
              </a:spcAft>
            </a:pPr>
            <a:r>
              <a:rPr b="1" sz="1250">
                <a:solidFill>
                  <a:srgbClr val="1E293B"/>
                </a:solidFill>
                <a:latin typeface="微软雅黑"/>
              </a:rPr>
              <a:t>创始人：</a:t>
            </a:r>
            <a:r>
              <a:rPr sz="1250">
                <a:solidFill>
                  <a:srgbClr val="1E293B"/>
                </a:solidFill>
                <a:latin typeface="宋体"/>
              </a:rPr>
              <a:t>Littlechild (1983) 在英国电信改革中提出。</a:t>
            </a:r>
          </a:p>
          <a:p>
            <a:pPr>
              <a:spcAft>
                <a:spcPts val="600"/>
              </a:spcAft>
            </a:pPr>
            <a:r>
              <a:rPr b="1" sz="1250">
                <a:solidFill>
                  <a:srgbClr val="1E293B"/>
                </a:solidFill>
                <a:latin typeface="微软雅黑"/>
              </a:rPr>
              <a:t>调价公式：</a:t>
            </a:r>
            <a:r>
              <a:rPr sz="1250">
                <a:solidFill>
                  <a:srgbClr val="1E293B"/>
                </a:solidFill>
                <a:latin typeface="宋体"/>
              </a:rPr>
              <a:t>价格允许涨幅 &lt;= 零售物价指数涨幅 RPI - 预期生产率提升率 X。</a:t>
            </a:r>
          </a:p>
        </p:txBody>
      </p:sp>
      <p:sp>
        <p:nvSpPr>
          <p:cNvPr id="9" name="Rounded Rectangle 8"/>
          <p:cNvSpPr/>
          <p:nvPr/>
        </p:nvSpPr>
        <p:spPr>
          <a:xfrm>
            <a:off x="6309360" y="1554480"/>
            <a:ext cx="5120640" cy="45720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309360" y="1554480"/>
            <a:ext cx="5120640" cy="73152"/>
          </a:xfrm>
          <a:prstGeom prst="rect">
            <a:avLst/>
          </a:prstGeom>
          <a:solidFill>
            <a:srgbClr val="C58A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92240" y="1737360"/>
            <a:ext cx="4754880" cy="4297680"/>
          </a:xfrm>
          <a:prstGeom prst="rect">
            <a:avLst/>
          </a:prstGeom>
          <a:noFill/>
        </p:spPr>
        <p:txBody>
          <a:bodyPr wrap="square">
            <a:spAutoFit/>
          </a:bodyPr>
          <a:lstStyle/>
          <a:p>
            <a:pPr>
              <a:spcAft>
                <a:spcPts val="800"/>
              </a:spcAft>
              <a:defRPr sz="1500" b="1">
                <a:solidFill>
                  <a:srgbClr val="C58A21"/>
                </a:solidFill>
                <a:latin typeface="微软雅黑"/>
              </a:defRPr>
            </a:pPr>
            <a:r>
              <a:t>2. 强大的降本激励机制</a:t>
            </a:r>
          </a:p>
          <a:p>
            <a:pPr>
              <a:spcAft>
                <a:spcPts val="600"/>
              </a:spcAft>
            </a:pPr>
            <a:r>
              <a:rPr b="1" sz="1250">
                <a:solidFill>
                  <a:srgbClr val="1E293B"/>
                </a:solidFill>
                <a:latin typeface="微软雅黑"/>
              </a:rPr>
              <a:t>剩余索取权：</a:t>
            </a:r>
            <a:r>
              <a:rPr sz="1250">
                <a:solidFill>
                  <a:srgbClr val="1E293B"/>
                </a:solidFill>
                <a:latin typeface="宋体"/>
              </a:rPr>
              <a:t>在调价周期内，企业通过创新降低成本所节省的每一分钱都成为自身利润！</a:t>
            </a:r>
          </a:p>
          <a:p>
            <a:pPr>
              <a:spcAft>
                <a:spcPts val="600"/>
              </a:spcAft>
            </a:pPr>
            <a:r>
              <a:rPr b="1" sz="1250">
                <a:solidFill>
                  <a:srgbClr val="1E293B"/>
                </a:solidFill>
                <a:latin typeface="微软雅黑"/>
              </a:rPr>
              <a:t>克服 A-J 效应：</a:t>
            </a:r>
            <a:r>
              <a:rPr sz="1250">
                <a:solidFill>
                  <a:srgbClr val="1E293B"/>
                </a:solidFill>
                <a:latin typeface="宋体"/>
              </a:rPr>
              <a:t>彻底摆脱了根据成本实报实销的弊端。</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731520" y="365760"/>
            <a:ext cx="10728655" cy="365760"/>
          </a:xfrm>
          <a:prstGeom prst="rect">
            <a:avLst/>
          </a:prstGeom>
          <a:noFill/>
        </p:spPr>
        <p:txBody>
          <a:bodyPr wrap="square">
            <a:spAutoFit/>
          </a:bodyPr>
          <a:lstStyle/>
          <a:p>
            <a:pPr>
              <a:defRPr sz="1000" b="1">
                <a:solidFill>
                  <a:srgbClr val="2D6A4F"/>
                </a:solidFill>
                <a:latin typeface="微软雅黑"/>
              </a:defRPr>
            </a:pPr>
            <a:r>
              <a:t>产业经济学（第3版）· 刘志彪 | 第九章  微观规制</a:t>
            </a:r>
          </a:p>
        </p:txBody>
      </p:sp>
      <p:sp>
        <p:nvSpPr>
          <p:cNvPr id="3" name="TextBox 2"/>
          <p:cNvSpPr txBox="1"/>
          <p:nvPr/>
        </p:nvSpPr>
        <p:spPr>
          <a:xfrm>
            <a:off x="731520" y="640080"/>
            <a:ext cx="10728655" cy="640080"/>
          </a:xfrm>
          <a:prstGeom prst="rect">
            <a:avLst/>
          </a:prstGeom>
          <a:noFill/>
        </p:spPr>
        <p:txBody>
          <a:bodyPr wrap="square">
            <a:spAutoFit/>
          </a:bodyPr>
          <a:lstStyle/>
          <a:p>
            <a:pPr>
              <a:defRPr sz="2200" b="1">
                <a:solidFill>
                  <a:srgbClr val="1B4965"/>
                </a:solidFill>
                <a:latin typeface="微软雅黑"/>
              </a:defRPr>
            </a:pPr>
            <a:r>
              <a:t>标杆规制 (Yardstick Competition) 与特许投标竞标</a:t>
            </a:r>
          </a:p>
        </p:txBody>
      </p:sp>
      <p:sp>
        <p:nvSpPr>
          <p:cNvPr id="4" name="Rectangle 3"/>
          <p:cNvSpPr/>
          <p:nvPr/>
        </p:nvSpPr>
        <p:spPr>
          <a:xfrm>
            <a:off x="731520" y="1280160"/>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6400800"/>
            <a:ext cx="10728655" cy="274320"/>
          </a:xfrm>
          <a:prstGeom prst="rect">
            <a:avLst/>
          </a:prstGeom>
          <a:noFill/>
        </p:spPr>
        <p:txBody>
          <a:bodyPr wrap="none">
            <a:spAutoFit/>
          </a:bodyPr>
          <a:lstStyle/>
          <a:p>
            <a:pPr algn="r">
              <a:defRPr sz="1000">
                <a:solidFill>
                  <a:srgbClr val="64748B"/>
                </a:solidFill>
                <a:latin typeface="微软雅黑"/>
              </a:defRPr>
            </a:pPr>
            <a:r>
              <a:t>主线视角：市场势力（Market Power）的演化与规制  |  第 7 / 16 页</a:t>
            </a:r>
          </a:p>
        </p:txBody>
      </p:sp>
      <p:sp>
        <p:nvSpPr>
          <p:cNvPr id="6" name="Rounded Rectangle 5"/>
          <p:cNvSpPr/>
          <p:nvPr/>
        </p:nvSpPr>
        <p:spPr>
          <a:xfrm>
            <a:off x="731520" y="1554480"/>
            <a:ext cx="5120640" cy="45720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1554480"/>
            <a:ext cx="5120640" cy="73152"/>
          </a:xfrm>
          <a:prstGeom prst="rect">
            <a:avLst/>
          </a:prstGeom>
          <a:solidFill>
            <a:srgbClr val="1B496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1737360"/>
            <a:ext cx="4754880" cy="4297680"/>
          </a:xfrm>
          <a:prstGeom prst="rect">
            <a:avLst/>
          </a:prstGeom>
          <a:noFill/>
        </p:spPr>
        <p:txBody>
          <a:bodyPr wrap="square">
            <a:spAutoFit/>
          </a:bodyPr>
          <a:lstStyle/>
          <a:p>
            <a:pPr>
              <a:spcAft>
                <a:spcPts val="800"/>
              </a:spcAft>
              <a:defRPr sz="1500" b="1">
                <a:solidFill>
                  <a:srgbClr val="1B4965"/>
                </a:solidFill>
                <a:latin typeface="微软雅黑"/>
              </a:defRPr>
            </a:pPr>
            <a:r>
              <a:t>1. 标杆规制 (Yardstick Competition)</a:t>
            </a:r>
          </a:p>
          <a:p>
            <a:pPr>
              <a:spcAft>
                <a:spcPts val="600"/>
              </a:spcAft>
            </a:pPr>
            <a:r>
              <a:rPr b="1" sz="1250">
                <a:solidFill>
                  <a:srgbClr val="1E293B"/>
                </a:solidFill>
                <a:latin typeface="微软雅黑"/>
              </a:rPr>
              <a:t>做法：</a:t>
            </a:r>
            <a:r>
              <a:rPr sz="1250">
                <a:solidFill>
                  <a:srgbClr val="1E293B"/>
                </a:solidFill>
                <a:latin typeface="宋体"/>
              </a:rPr>
              <a:t>将不同区域独家自然垄断企业（如各市自来水公司）的绩效互相比较设定规制基准。</a:t>
            </a:r>
          </a:p>
          <a:p>
            <a:pPr>
              <a:spcAft>
                <a:spcPts val="600"/>
              </a:spcAft>
            </a:pPr>
            <a:r>
              <a:rPr b="1" sz="1250">
                <a:solidFill>
                  <a:srgbClr val="1E293B"/>
                </a:solidFill>
                <a:latin typeface="微软雅黑"/>
              </a:rPr>
              <a:t>破解信息不对称：</a:t>
            </a:r>
            <a:r>
              <a:rPr sz="1250">
                <a:solidFill>
                  <a:srgbClr val="1E293B"/>
                </a:solidFill>
                <a:latin typeface="宋体"/>
              </a:rPr>
              <a:t>制造人工竞争，逼迫企业暴露真实成本。</a:t>
            </a:r>
          </a:p>
        </p:txBody>
      </p:sp>
      <p:sp>
        <p:nvSpPr>
          <p:cNvPr id="9" name="Rounded Rectangle 8"/>
          <p:cNvSpPr/>
          <p:nvPr/>
        </p:nvSpPr>
        <p:spPr>
          <a:xfrm>
            <a:off x="6309360" y="1554480"/>
            <a:ext cx="5120640" cy="45720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309360" y="1554480"/>
            <a:ext cx="5120640" cy="73152"/>
          </a:xfrm>
          <a:prstGeom prst="rect">
            <a:avLst/>
          </a:prstGeom>
          <a:solidFill>
            <a:srgbClr val="2D6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92240" y="1737360"/>
            <a:ext cx="4754880" cy="4297680"/>
          </a:xfrm>
          <a:prstGeom prst="rect">
            <a:avLst/>
          </a:prstGeom>
          <a:noFill/>
        </p:spPr>
        <p:txBody>
          <a:bodyPr wrap="square">
            <a:spAutoFit/>
          </a:bodyPr>
          <a:lstStyle/>
          <a:p>
            <a:pPr>
              <a:spcAft>
                <a:spcPts val="800"/>
              </a:spcAft>
              <a:defRPr sz="1500" b="1">
                <a:solidFill>
                  <a:srgbClr val="2D6A4F"/>
                </a:solidFill>
                <a:latin typeface="微软雅黑"/>
              </a:defRPr>
            </a:pPr>
            <a:r>
              <a:t>2. 特许投标竞争 (Franchise Bidding / Demsetz 竞标)</a:t>
            </a:r>
          </a:p>
          <a:p>
            <a:pPr>
              <a:spcAft>
                <a:spcPts val="600"/>
              </a:spcAft>
            </a:pPr>
            <a:r>
              <a:rPr b="1" sz="1250">
                <a:solidFill>
                  <a:srgbClr val="1E293B"/>
                </a:solidFill>
                <a:latin typeface="微软雅黑"/>
              </a:rPr>
              <a:t>做事前竞争：</a:t>
            </a:r>
            <a:r>
              <a:rPr sz="1250">
                <a:solidFill>
                  <a:srgbClr val="1E293B"/>
                </a:solidFill>
                <a:latin typeface="宋体"/>
              </a:rPr>
              <a:t>在进入环节通过公开拍卖竞标特许经营权，报价低者中标。</a:t>
            </a:r>
          </a:p>
          <a:p>
            <a:pPr>
              <a:spcAft>
                <a:spcPts val="600"/>
              </a:spcAft>
            </a:pPr>
            <a:r>
              <a:rPr b="1" sz="1250">
                <a:solidFill>
                  <a:srgbClr val="1E293B"/>
                </a:solidFill>
                <a:latin typeface="微软雅黑"/>
              </a:rPr>
              <a:t>用场外竞争替代场内竞争：</a:t>
            </a:r>
            <a:r>
              <a:rPr sz="1250">
                <a:solidFill>
                  <a:srgbClr val="1E293B"/>
                </a:solidFill>
                <a:latin typeface="宋体"/>
              </a:rPr>
              <a:t>将场内独家垄断的市场势力在入口处通过竞标出让给消费者。</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731520" y="365760"/>
            <a:ext cx="10728655" cy="365760"/>
          </a:xfrm>
          <a:prstGeom prst="rect">
            <a:avLst/>
          </a:prstGeom>
          <a:noFill/>
        </p:spPr>
        <p:txBody>
          <a:bodyPr wrap="square">
            <a:spAutoFit/>
          </a:bodyPr>
          <a:lstStyle/>
          <a:p>
            <a:pPr>
              <a:defRPr sz="1000" b="1">
                <a:solidFill>
                  <a:srgbClr val="2D6A4F"/>
                </a:solidFill>
                <a:latin typeface="微软雅黑"/>
              </a:defRPr>
            </a:pPr>
            <a:r>
              <a:t>产业经济学（第3版）· 刘志彪 | 第九章  微观规制</a:t>
            </a:r>
          </a:p>
        </p:txBody>
      </p:sp>
      <p:sp>
        <p:nvSpPr>
          <p:cNvPr id="3" name="TextBox 2"/>
          <p:cNvSpPr txBox="1"/>
          <p:nvPr/>
        </p:nvSpPr>
        <p:spPr>
          <a:xfrm>
            <a:off x="731520" y="640080"/>
            <a:ext cx="10728655" cy="640080"/>
          </a:xfrm>
          <a:prstGeom prst="rect">
            <a:avLst/>
          </a:prstGeom>
          <a:noFill/>
        </p:spPr>
        <p:txBody>
          <a:bodyPr wrap="square">
            <a:spAutoFit/>
          </a:bodyPr>
          <a:lstStyle/>
          <a:p>
            <a:pPr>
              <a:defRPr sz="2200" b="1">
                <a:solidFill>
                  <a:srgbClr val="1B4965"/>
                </a:solidFill>
                <a:latin typeface="微软雅黑"/>
              </a:defRPr>
            </a:pPr>
            <a:r>
              <a:t>第三节 规制捕获理论 (Regulatory Capture Theory)</a:t>
            </a:r>
          </a:p>
        </p:txBody>
      </p:sp>
      <p:sp>
        <p:nvSpPr>
          <p:cNvPr id="4" name="Rectangle 3"/>
          <p:cNvSpPr/>
          <p:nvPr/>
        </p:nvSpPr>
        <p:spPr>
          <a:xfrm>
            <a:off x="731520" y="1280160"/>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6400800"/>
            <a:ext cx="10728655" cy="274320"/>
          </a:xfrm>
          <a:prstGeom prst="rect">
            <a:avLst/>
          </a:prstGeom>
          <a:noFill/>
        </p:spPr>
        <p:txBody>
          <a:bodyPr wrap="none">
            <a:spAutoFit/>
          </a:bodyPr>
          <a:lstStyle/>
          <a:p>
            <a:pPr algn="r">
              <a:defRPr sz="1000">
                <a:solidFill>
                  <a:srgbClr val="64748B"/>
                </a:solidFill>
                <a:latin typeface="微软雅黑"/>
              </a:defRPr>
            </a:pPr>
            <a:r>
              <a:t>主线视角：市场势力（Market Power）的演化与规制  |  第 8 / 16 页</a:t>
            </a:r>
          </a:p>
        </p:txBody>
      </p:sp>
      <p:sp>
        <p:nvSpPr>
          <p:cNvPr id="6" name="Rounded Rectangle 5"/>
          <p:cNvSpPr/>
          <p:nvPr/>
        </p:nvSpPr>
        <p:spPr>
          <a:xfrm>
            <a:off x="731520" y="1554480"/>
            <a:ext cx="5120640" cy="45720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1554480"/>
            <a:ext cx="5120640" cy="73152"/>
          </a:xfrm>
          <a:prstGeom prst="rect">
            <a:avLst/>
          </a:prstGeom>
          <a:solidFill>
            <a:srgbClr val="1B496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1737360"/>
            <a:ext cx="4754880" cy="4297680"/>
          </a:xfrm>
          <a:prstGeom prst="rect">
            <a:avLst/>
          </a:prstGeom>
          <a:noFill/>
        </p:spPr>
        <p:txBody>
          <a:bodyPr wrap="square">
            <a:spAutoFit/>
          </a:bodyPr>
          <a:lstStyle/>
          <a:p>
            <a:pPr>
              <a:spcAft>
                <a:spcPts val="800"/>
              </a:spcAft>
              <a:defRPr sz="1500" b="1">
                <a:solidFill>
                  <a:srgbClr val="1B4965"/>
                </a:solidFill>
                <a:latin typeface="微软雅黑"/>
              </a:defRPr>
            </a:pPr>
            <a:r>
              <a:t>1. 施蒂格勒（Stigler, 1971）规制捕获说</a:t>
            </a:r>
          </a:p>
          <a:p>
            <a:pPr>
              <a:spcAft>
                <a:spcPts val="600"/>
              </a:spcAft>
            </a:pPr>
            <a:r>
              <a:rPr b="1" sz="1250">
                <a:solidFill>
                  <a:srgbClr val="1E293B"/>
                </a:solidFill>
                <a:latin typeface="微软雅黑"/>
              </a:rPr>
              <a:t>核心观点：</a:t>
            </a:r>
            <a:r>
              <a:rPr sz="1250">
                <a:solidFill>
                  <a:srgbClr val="1E293B"/>
                </a:solidFill>
                <a:latin typeface="宋体"/>
              </a:rPr>
              <a:t>规制往往不是为了保护公众利益，而是被在先被规制企业所“捕获”！</a:t>
            </a:r>
          </a:p>
          <a:p>
            <a:pPr>
              <a:spcAft>
                <a:spcPts val="600"/>
              </a:spcAft>
            </a:pPr>
            <a:r>
              <a:rPr b="1" sz="1250">
                <a:solidFill>
                  <a:srgbClr val="1E293B"/>
                </a:solidFill>
                <a:latin typeface="微软雅黑"/>
              </a:rPr>
              <a:t>政治经济学分析：</a:t>
            </a:r>
            <a:r>
              <a:rPr sz="1250">
                <a:solidFill>
                  <a:srgbClr val="1E293B"/>
                </a:solidFill>
                <a:latin typeface="宋体"/>
              </a:rPr>
              <a:t>垄断企业具备高度组织的诉求表达能力，通过游说将规制变为保护自身 market power 的合法屏障。</a:t>
            </a:r>
          </a:p>
        </p:txBody>
      </p:sp>
      <p:sp>
        <p:nvSpPr>
          <p:cNvPr id="9" name="Rounded Rectangle 8"/>
          <p:cNvSpPr/>
          <p:nvPr/>
        </p:nvSpPr>
        <p:spPr>
          <a:xfrm>
            <a:off x="6309360" y="1554480"/>
            <a:ext cx="5120640" cy="45720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309360" y="1554480"/>
            <a:ext cx="5120640" cy="73152"/>
          </a:xfrm>
          <a:prstGeom prst="rect">
            <a:avLst/>
          </a:prstGeom>
          <a:solidFill>
            <a:srgbClr val="C58A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92240" y="1737360"/>
            <a:ext cx="4754880" cy="4297680"/>
          </a:xfrm>
          <a:prstGeom prst="rect">
            <a:avLst/>
          </a:prstGeom>
          <a:noFill/>
        </p:spPr>
        <p:txBody>
          <a:bodyPr wrap="square">
            <a:spAutoFit/>
          </a:bodyPr>
          <a:lstStyle/>
          <a:p>
            <a:pPr>
              <a:spcAft>
                <a:spcPts val="800"/>
              </a:spcAft>
              <a:defRPr sz="1500" b="1">
                <a:solidFill>
                  <a:srgbClr val="C58A21"/>
                </a:solidFill>
                <a:latin typeface="微软雅黑"/>
              </a:defRPr>
            </a:pPr>
            <a:r>
              <a:t>2. 发放许可证作为进入壁垒</a:t>
            </a:r>
          </a:p>
          <a:p>
            <a:pPr>
              <a:spcAft>
                <a:spcPts val="600"/>
              </a:spcAft>
            </a:pPr>
            <a:r>
              <a:rPr b="1" sz="1250">
                <a:solidFill>
                  <a:srgbClr val="1E293B"/>
                </a:solidFill>
                <a:latin typeface="微软雅黑"/>
              </a:rPr>
              <a:t>结果：</a:t>
            </a:r>
            <a:r>
              <a:rPr sz="1250">
                <a:solidFill>
                  <a:srgbClr val="1E293B"/>
                </a:solidFill>
                <a:latin typeface="宋体"/>
              </a:rPr>
              <a:t>限制新竞争者进入，帮老企业固化垄断高价。</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731520" y="365760"/>
            <a:ext cx="10728655" cy="365760"/>
          </a:xfrm>
          <a:prstGeom prst="rect">
            <a:avLst/>
          </a:prstGeom>
          <a:noFill/>
        </p:spPr>
        <p:txBody>
          <a:bodyPr wrap="square">
            <a:spAutoFit/>
          </a:bodyPr>
          <a:lstStyle/>
          <a:p>
            <a:pPr>
              <a:defRPr sz="1000" b="1">
                <a:solidFill>
                  <a:srgbClr val="2D6A4F"/>
                </a:solidFill>
                <a:latin typeface="微软雅黑"/>
              </a:defRPr>
            </a:pPr>
            <a:r>
              <a:t>产业经济学（第3版）· 刘志彪 | 第九章  微观规制</a:t>
            </a:r>
          </a:p>
        </p:txBody>
      </p:sp>
      <p:sp>
        <p:nvSpPr>
          <p:cNvPr id="3" name="TextBox 2"/>
          <p:cNvSpPr txBox="1"/>
          <p:nvPr/>
        </p:nvSpPr>
        <p:spPr>
          <a:xfrm>
            <a:off x="731520" y="640080"/>
            <a:ext cx="10728655" cy="640080"/>
          </a:xfrm>
          <a:prstGeom prst="rect">
            <a:avLst/>
          </a:prstGeom>
          <a:noFill/>
        </p:spPr>
        <p:txBody>
          <a:bodyPr wrap="square">
            <a:spAutoFit/>
          </a:bodyPr>
          <a:lstStyle/>
          <a:p>
            <a:pPr>
              <a:defRPr sz="2200" b="1">
                <a:solidFill>
                  <a:srgbClr val="1B4965"/>
                </a:solidFill>
                <a:latin typeface="微软雅黑"/>
              </a:defRPr>
            </a:pPr>
            <a:r>
              <a:t>第三节 信息不对称与规制契约设计</a:t>
            </a:r>
          </a:p>
        </p:txBody>
      </p:sp>
      <p:sp>
        <p:nvSpPr>
          <p:cNvPr id="4" name="Rectangle 3"/>
          <p:cNvSpPr/>
          <p:nvPr/>
        </p:nvSpPr>
        <p:spPr>
          <a:xfrm>
            <a:off x="731520" y="1280160"/>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6400800"/>
            <a:ext cx="10728655" cy="274320"/>
          </a:xfrm>
          <a:prstGeom prst="rect">
            <a:avLst/>
          </a:prstGeom>
          <a:noFill/>
        </p:spPr>
        <p:txBody>
          <a:bodyPr wrap="none">
            <a:spAutoFit/>
          </a:bodyPr>
          <a:lstStyle/>
          <a:p>
            <a:pPr algn="r">
              <a:defRPr sz="1000">
                <a:solidFill>
                  <a:srgbClr val="64748B"/>
                </a:solidFill>
                <a:latin typeface="微软雅黑"/>
              </a:defRPr>
            </a:pPr>
            <a:r>
              <a:t>主线视角：市场势力（Market Power）的演化与规制  |  第 9 / 16 页</a:t>
            </a:r>
          </a:p>
        </p:txBody>
      </p:sp>
      <p:sp>
        <p:nvSpPr>
          <p:cNvPr id="6" name="Rounded Rectangle 5"/>
          <p:cNvSpPr/>
          <p:nvPr/>
        </p:nvSpPr>
        <p:spPr>
          <a:xfrm>
            <a:off x="731520" y="1554480"/>
            <a:ext cx="5120640" cy="45720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1554480"/>
            <a:ext cx="5120640" cy="73152"/>
          </a:xfrm>
          <a:prstGeom prst="rect">
            <a:avLst/>
          </a:prstGeom>
          <a:solidFill>
            <a:srgbClr val="1B496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1737360"/>
            <a:ext cx="4754880" cy="4297680"/>
          </a:xfrm>
          <a:prstGeom prst="rect">
            <a:avLst/>
          </a:prstGeom>
          <a:noFill/>
        </p:spPr>
        <p:txBody>
          <a:bodyPr wrap="square">
            <a:spAutoFit/>
          </a:bodyPr>
          <a:lstStyle/>
          <a:p>
            <a:pPr>
              <a:spcAft>
                <a:spcPts val="800"/>
              </a:spcAft>
              <a:defRPr sz="1500" b="1">
                <a:solidFill>
                  <a:srgbClr val="1B4965"/>
                </a:solidFill>
                <a:latin typeface="微软雅黑"/>
              </a:defRPr>
            </a:pPr>
            <a:r>
              <a:t>1. 拉丰-梯若尔（Laffont-Tirole）新规制经济学</a:t>
            </a:r>
          </a:p>
          <a:p>
            <a:pPr>
              <a:spcAft>
                <a:spcPts val="600"/>
              </a:spcAft>
            </a:pPr>
            <a:r>
              <a:rPr b="1" sz="1250">
                <a:solidFill>
                  <a:srgbClr val="1E293B"/>
                </a:solidFill>
                <a:latin typeface="微软雅黑"/>
              </a:rPr>
              <a:t>委托-代理框架：</a:t>
            </a:r>
            <a:r>
              <a:rPr sz="1250">
                <a:solidFill>
                  <a:srgbClr val="1E293B"/>
                </a:solidFill>
                <a:latin typeface="宋体"/>
              </a:rPr>
              <a:t>规制者为委托人，垄断企业为代理人。企业掌握成本私人信息。</a:t>
            </a:r>
          </a:p>
          <a:p>
            <a:pPr>
              <a:spcAft>
                <a:spcPts val="600"/>
              </a:spcAft>
            </a:pPr>
            <a:r>
              <a:rPr b="1" sz="1250">
                <a:solidFill>
                  <a:srgbClr val="1E293B"/>
                </a:solidFill>
                <a:latin typeface="微软雅黑"/>
              </a:rPr>
              <a:t>信息租金权衡：</a:t>
            </a:r>
            <a:r>
              <a:rPr sz="1250">
                <a:solidFill>
                  <a:srgbClr val="1E293B"/>
                </a:solidFill>
                <a:latin typeface="宋体"/>
              </a:rPr>
              <a:t>在诱导高效率（激励）与抽取企业私人信息租金之间寻找最优平衡。</a:t>
            </a:r>
          </a:p>
        </p:txBody>
      </p:sp>
      <p:sp>
        <p:nvSpPr>
          <p:cNvPr id="9" name="Rounded Rectangle 8"/>
          <p:cNvSpPr/>
          <p:nvPr/>
        </p:nvSpPr>
        <p:spPr>
          <a:xfrm>
            <a:off x="6309360" y="1554480"/>
            <a:ext cx="5120640" cy="45720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309360" y="1554480"/>
            <a:ext cx="5120640" cy="73152"/>
          </a:xfrm>
          <a:prstGeom prst="rect">
            <a:avLst/>
          </a:prstGeom>
          <a:solidFill>
            <a:srgbClr val="2D6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92240" y="1737360"/>
            <a:ext cx="4754880" cy="4297680"/>
          </a:xfrm>
          <a:prstGeom prst="rect">
            <a:avLst/>
          </a:prstGeom>
          <a:noFill/>
        </p:spPr>
        <p:txBody>
          <a:bodyPr wrap="square">
            <a:spAutoFit/>
          </a:bodyPr>
          <a:lstStyle/>
          <a:p>
            <a:pPr>
              <a:spcAft>
                <a:spcPts val="800"/>
              </a:spcAft>
              <a:defRPr sz="1500" b="1">
                <a:solidFill>
                  <a:srgbClr val="2D6A4F"/>
                </a:solidFill>
                <a:latin typeface="微软雅黑"/>
              </a:defRPr>
            </a:pPr>
            <a:r>
              <a:t>2. 菜单契约设计</a:t>
            </a:r>
          </a:p>
          <a:p>
            <a:pPr>
              <a:spcAft>
                <a:spcPts val="600"/>
              </a:spcAft>
            </a:pPr>
            <a:r>
              <a:rPr b="1" sz="1250">
                <a:solidFill>
                  <a:srgbClr val="1E293B"/>
                </a:solidFill>
                <a:latin typeface="微软雅黑"/>
              </a:rPr>
              <a:t>方法：</a:t>
            </a:r>
            <a:r>
              <a:rPr sz="1250">
                <a:solidFill>
                  <a:srgbClr val="1E293B"/>
                </a:solidFill>
                <a:latin typeface="宋体"/>
              </a:rPr>
              <a:t>提供多种不同“回报率-固定补贴”组合菜单，让企业自我甄别暴露类型。</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731520" y="365760"/>
            <a:ext cx="10728655" cy="365760"/>
          </a:xfrm>
          <a:prstGeom prst="rect">
            <a:avLst/>
          </a:prstGeom>
          <a:noFill/>
        </p:spPr>
        <p:txBody>
          <a:bodyPr wrap="square">
            <a:spAutoFit/>
          </a:bodyPr>
          <a:lstStyle/>
          <a:p>
            <a:pPr>
              <a:defRPr sz="1000" b="1">
                <a:solidFill>
                  <a:srgbClr val="2D6A4F"/>
                </a:solidFill>
                <a:latin typeface="微软雅黑"/>
              </a:defRPr>
            </a:pPr>
            <a:r>
              <a:t>产业经济学（第3版）· 刘志彪 | 第九章  微观规制</a:t>
            </a:r>
          </a:p>
        </p:txBody>
      </p:sp>
      <p:sp>
        <p:nvSpPr>
          <p:cNvPr id="3" name="TextBox 2"/>
          <p:cNvSpPr txBox="1"/>
          <p:nvPr/>
        </p:nvSpPr>
        <p:spPr>
          <a:xfrm>
            <a:off x="731520" y="640080"/>
            <a:ext cx="10728655" cy="640080"/>
          </a:xfrm>
          <a:prstGeom prst="rect">
            <a:avLst/>
          </a:prstGeom>
          <a:noFill/>
        </p:spPr>
        <p:txBody>
          <a:bodyPr wrap="square">
            <a:spAutoFit/>
          </a:bodyPr>
          <a:lstStyle/>
          <a:p>
            <a:pPr>
              <a:defRPr sz="2200" b="1">
                <a:solidFill>
                  <a:srgbClr val="1B4965"/>
                </a:solidFill>
                <a:latin typeface="微软雅黑"/>
              </a:defRPr>
            </a:pPr>
            <a:r>
              <a:t>网络型自然垄断与网运分离改革</a:t>
            </a:r>
          </a:p>
        </p:txBody>
      </p:sp>
      <p:sp>
        <p:nvSpPr>
          <p:cNvPr id="4" name="Rectangle 3"/>
          <p:cNvSpPr/>
          <p:nvPr/>
        </p:nvSpPr>
        <p:spPr>
          <a:xfrm>
            <a:off x="731520" y="1280160"/>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6400800"/>
            <a:ext cx="10728655" cy="274320"/>
          </a:xfrm>
          <a:prstGeom prst="rect">
            <a:avLst/>
          </a:prstGeom>
          <a:noFill/>
        </p:spPr>
        <p:txBody>
          <a:bodyPr wrap="none">
            <a:spAutoFit/>
          </a:bodyPr>
          <a:lstStyle/>
          <a:p>
            <a:pPr algn="r">
              <a:defRPr sz="1000">
                <a:solidFill>
                  <a:srgbClr val="64748B"/>
                </a:solidFill>
                <a:latin typeface="微软雅黑"/>
              </a:defRPr>
            </a:pPr>
            <a:r>
              <a:t>主线视角：市场势力（Market Power）的演化与规制  |  第 10 / 16 页</a:t>
            </a:r>
          </a:p>
        </p:txBody>
      </p:sp>
      <p:sp>
        <p:nvSpPr>
          <p:cNvPr id="6" name="Rounded Rectangle 5"/>
          <p:cNvSpPr/>
          <p:nvPr/>
        </p:nvSpPr>
        <p:spPr>
          <a:xfrm>
            <a:off x="731520" y="1554480"/>
            <a:ext cx="5120640" cy="45720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1554480"/>
            <a:ext cx="5120640" cy="73152"/>
          </a:xfrm>
          <a:prstGeom prst="rect">
            <a:avLst/>
          </a:prstGeom>
          <a:solidFill>
            <a:srgbClr val="1B496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1737360"/>
            <a:ext cx="4754880" cy="4297680"/>
          </a:xfrm>
          <a:prstGeom prst="rect">
            <a:avLst/>
          </a:prstGeom>
          <a:noFill/>
        </p:spPr>
        <p:txBody>
          <a:bodyPr wrap="square">
            <a:spAutoFit/>
          </a:bodyPr>
          <a:lstStyle/>
          <a:p>
            <a:pPr>
              <a:spcAft>
                <a:spcPts val="800"/>
              </a:spcAft>
              <a:defRPr sz="1500" b="1">
                <a:solidFill>
                  <a:srgbClr val="1B4965"/>
                </a:solidFill>
                <a:latin typeface="微软雅黑"/>
              </a:defRPr>
            </a:pPr>
            <a:r>
              <a:t>1. 瓶颈网络与竞争性环节拆分</a:t>
            </a:r>
          </a:p>
          <a:p>
            <a:pPr>
              <a:spcAft>
                <a:spcPts val="600"/>
              </a:spcAft>
            </a:pPr>
            <a:r>
              <a:rPr b="1" sz="1250">
                <a:solidFill>
                  <a:srgbClr val="1E293B"/>
                </a:solidFill>
                <a:latin typeface="微软雅黑"/>
              </a:rPr>
              <a:t>拆分原理：</a:t>
            </a:r>
            <a:r>
              <a:rPr sz="1250">
                <a:solidFill>
                  <a:srgbClr val="1E293B"/>
                </a:solidFill>
                <a:latin typeface="宋体"/>
              </a:rPr>
              <a:t>将天然具有自然垄断属性的物理网络（如国家电网、铁路轨道）与可竞争的运营环节（发电、铁路运输）拆离。</a:t>
            </a:r>
          </a:p>
        </p:txBody>
      </p:sp>
      <p:sp>
        <p:nvSpPr>
          <p:cNvPr id="9" name="Rounded Rectangle 8"/>
          <p:cNvSpPr/>
          <p:nvPr/>
        </p:nvSpPr>
        <p:spPr>
          <a:xfrm>
            <a:off x="6309360" y="1554480"/>
            <a:ext cx="5120640" cy="45720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309360" y="1554480"/>
            <a:ext cx="5120640" cy="73152"/>
          </a:xfrm>
          <a:prstGeom prst="rect">
            <a:avLst/>
          </a:prstGeom>
          <a:solidFill>
            <a:srgbClr val="C58A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92240" y="1737360"/>
            <a:ext cx="4754880" cy="4297680"/>
          </a:xfrm>
          <a:prstGeom prst="rect">
            <a:avLst/>
          </a:prstGeom>
          <a:noFill/>
        </p:spPr>
        <p:txBody>
          <a:bodyPr wrap="square">
            <a:spAutoFit/>
          </a:bodyPr>
          <a:lstStyle/>
          <a:p>
            <a:pPr>
              <a:spcAft>
                <a:spcPts val="800"/>
              </a:spcAft>
              <a:defRPr sz="1500" b="1">
                <a:solidFill>
                  <a:srgbClr val="C58A21"/>
                </a:solidFill>
                <a:latin typeface="微软雅黑"/>
              </a:defRPr>
            </a:pPr>
            <a:r>
              <a:t>2. 接入定价规制 (Access Pricing / ECPR 原则)</a:t>
            </a:r>
          </a:p>
          <a:p>
            <a:pPr>
              <a:spcAft>
                <a:spcPts val="600"/>
              </a:spcAft>
            </a:pPr>
            <a:r>
              <a:rPr b="1" sz="1250">
                <a:solidFill>
                  <a:srgbClr val="1E293B"/>
                </a:solidFill>
                <a:latin typeface="微软雅黑"/>
              </a:rPr>
              <a:t>核心：</a:t>
            </a:r>
            <a:r>
              <a:rPr sz="1250">
                <a:solidFill>
                  <a:srgbClr val="1E293B"/>
                </a:solidFill>
                <a:latin typeface="宋体"/>
              </a:rPr>
              <a:t>强制瓶颈网络所有者向竞争性运营企业开放接入，并设定合理的接入费。</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731520" y="365760"/>
            <a:ext cx="10728655" cy="365760"/>
          </a:xfrm>
          <a:prstGeom prst="rect">
            <a:avLst/>
          </a:prstGeom>
          <a:noFill/>
        </p:spPr>
        <p:txBody>
          <a:bodyPr wrap="square">
            <a:spAutoFit/>
          </a:bodyPr>
          <a:lstStyle/>
          <a:p>
            <a:pPr>
              <a:defRPr sz="1000" b="1">
                <a:solidFill>
                  <a:srgbClr val="2D6A4F"/>
                </a:solidFill>
                <a:latin typeface="微软雅黑"/>
              </a:defRPr>
            </a:pPr>
            <a:r>
              <a:t>产业经济学（第3版）· 刘志彪 | 第九章  微观规制</a:t>
            </a:r>
          </a:p>
        </p:txBody>
      </p:sp>
      <p:sp>
        <p:nvSpPr>
          <p:cNvPr id="3" name="TextBox 2"/>
          <p:cNvSpPr txBox="1"/>
          <p:nvPr/>
        </p:nvSpPr>
        <p:spPr>
          <a:xfrm>
            <a:off x="731520" y="640080"/>
            <a:ext cx="10728655" cy="640080"/>
          </a:xfrm>
          <a:prstGeom prst="rect">
            <a:avLst/>
          </a:prstGeom>
          <a:noFill/>
        </p:spPr>
        <p:txBody>
          <a:bodyPr wrap="square">
            <a:spAutoFit/>
          </a:bodyPr>
          <a:lstStyle/>
          <a:p>
            <a:pPr>
              <a:defRPr sz="2200" b="1">
                <a:solidFill>
                  <a:srgbClr val="1B4965"/>
                </a:solidFill>
                <a:latin typeface="微软雅黑"/>
              </a:defRPr>
            </a:pPr>
            <a:r>
              <a:t>中国电力、电信与铁路微观规制改革实践</a:t>
            </a:r>
          </a:p>
        </p:txBody>
      </p:sp>
      <p:sp>
        <p:nvSpPr>
          <p:cNvPr id="4" name="Rectangle 3"/>
          <p:cNvSpPr/>
          <p:nvPr/>
        </p:nvSpPr>
        <p:spPr>
          <a:xfrm>
            <a:off x="731520" y="1280160"/>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6400800"/>
            <a:ext cx="10728655" cy="274320"/>
          </a:xfrm>
          <a:prstGeom prst="rect">
            <a:avLst/>
          </a:prstGeom>
          <a:noFill/>
        </p:spPr>
        <p:txBody>
          <a:bodyPr wrap="none">
            <a:spAutoFit/>
          </a:bodyPr>
          <a:lstStyle/>
          <a:p>
            <a:pPr algn="r">
              <a:defRPr sz="1000">
                <a:solidFill>
                  <a:srgbClr val="64748B"/>
                </a:solidFill>
                <a:latin typeface="微软雅黑"/>
              </a:defRPr>
            </a:pPr>
            <a:r>
              <a:t>主线视角：市场势力（Market Power）的演化与规制  |  第 11 / 16 页</a:t>
            </a:r>
          </a:p>
        </p:txBody>
      </p:sp>
      <p:sp>
        <p:nvSpPr>
          <p:cNvPr id="6" name="Rounded Rectangle 5"/>
          <p:cNvSpPr/>
          <p:nvPr/>
        </p:nvSpPr>
        <p:spPr>
          <a:xfrm>
            <a:off x="731520" y="1554480"/>
            <a:ext cx="5120640" cy="45720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1554480"/>
            <a:ext cx="5120640" cy="73152"/>
          </a:xfrm>
          <a:prstGeom prst="rect">
            <a:avLst/>
          </a:prstGeom>
          <a:solidFill>
            <a:srgbClr val="1B496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1737360"/>
            <a:ext cx="4754880" cy="4297680"/>
          </a:xfrm>
          <a:prstGeom prst="rect">
            <a:avLst/>
          </a:prstGeom>
          <a:noFill/>
        </p:spPr>
        <p:txBody>
          <a:bodyPr wrap="square">
            <a:spAutoFit/>
          </a:bodyPr>
          <a:lstStyle/>
          <a:p>
            <a:pPr>
              <a:spcAft>
                <a:spcPts val="800"/>
              </a:spcAft>
              <a:defRPr sz="1500" b="1">
                <a:solidFill>
                  <a:srgbClr val="1B4965"/>
                </a:solidFill>
                <a:latin typeface="微软雅黑"/>
              </a:defRPr>
            </a:pPr>
            <a:r>
              <a:t>1. 电力体制改革（厂网分开与售电放开）</a:t>
            </a:r>
          </a:p>
          <a:p>
            <a:pPr>
              <a:spcAft>
                <a:spcPts val="600"/>
              </a:spcAft>
            </a:pPr>
            <a:r>
              <a:rPr b="1" sz="1250">
                <a:solidFill>
                  <a:srgbClr val="1E293B"/>
                </a:solidFill>
                <a:latin typeface="微软雅黑"/>
              </a:rPr>
              <a:t>历程：</a:t>
            </a:r>
            <a:r>
              <a:rPr sz="1250">
                <a:solidFill>
                  <a:srgbClr val="1E293B"/>
                </a:solidFill>
                <a:latin typeface="宋体"/>
              </a:rPr>
              <a:t>拆分国家电力公司为两大电网与五大发电集团，引入竞争。</a:t>
            </a:r>
          </a:p>
        </p:txBody>
      </p:sp>
      <p:sp>
        <p:nvSpPr>
          <p:cNvPr id="9" name="Rounded Rectangle 8"/>
          <p:cNvSpPr/>
          <p:nvPr/>
        </p:nvSpPr>
        <p:spPr>
          <a:xfrm>
            <a:off x="6309360" y="1554480"/>
            <a:ext cx="5120640" cy="45720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309360" y="1554480"/>
            <a:ext cx="5120640" cy="73152"/>
          </a:xfrm>
          <a:prstGeom prst="rect">
            <a:avLst/>
          </a:prstGeom>
          <a:solidFill>
            <a:srgbClr val="2D6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92240" y="1737360"/>
            <a:ext cx="4754880" cy="4297680"/>
          </a:xfrm>
          <a:prstGeom prst="rect">
            <a:avLst/>
          </a:prstGeom>
          <a:noFill/>
        </p:spPr>
        <p:txBody>
          <a:bodyPr wrap="square">
            <a:spAutoFit/>
          </a:bodyPr>
          <a:lstStyle/>
          <a:p>
            <a:pPr>
              <a:spcAft>
                <a:spcPts val="800"/>
              </a:spcAft>
              <a:defRPr sz="1500" b="1">
                <a:solidFill>
                  <a:srgbClr val="2D6A4F"/>
                </a:solidFill>
                <a:latin typeface="微软雅黑"/>
              </a:defRPr>
            </a:pPr>
            <a:r>
              <a:t>2. 电信体制改革（数次拆分重组）</a:t>
            </a:r>
          </a:p>
          <a:p>
            <a:pPr>
              <a:spcAft>
                <a:spcPts val="600"/>
              </a:spcAft>
            </a:pPr>
            <a:r>
              <a:rPr b="1" sz="1250">
                <a:solidFill>
                  <a:srgbClr val="1E293B"/>
                </a:solidFill>
                <a:latin typeface="微软雅黑"/>
              </a:rPr>
              <a:t>历程：</a:t>
            </a:r>
            <a:r>
              <a:rPr sz="1250">
                <a:solidFill>
                  <a:srgbClr val="1E293B"/>
                </a:solidFill>
                <a:latin typeface="宋体"/>
              </a:rPr>
              <a:t>拆分中国电信，组建移动、联通、电信三足鼎立，设立铁塔公司实现基础设施共建共享。</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731520" y="365760"/>
            <a:ext cx="10728655" cy="365760"/>
          </a:xfrm>
          <a:prstGeom prst="rect">
            <a:avLst/>
          </a:prstGeom>
          <a:noFill/>
        </p:spPr>
        <p:txBody>
          <a:bodyPr wrap="square">
            <a:spAutoFit/>
          </a:bodyPr>
          <a:lstStyle/>
          <a:p>
            <a:pPr>
              <a:defRPr sz="1000" b="1">
                <a:solidFill>
                  <a:srgbClr val="2D6A4F"/>
                </a:solidFill>
                <a:latin typeface="微软雅黑"/>
              </a:defRPr>
            </a:pPr>
            <a:r>
              <a:t>产业经济学（第3版）· 刘志彪 | 第九章  微观规制</a:t>
            </a:r>
          </a:p>
        </p:txBody>
      </p:sp>
      <p:sp>
        <p:nvSpPr>
          <p:cNvPr id="3" name="TextBox 2"/>
          <p:cNvSpPr txBox="1"/>
          <p:nvPr/>
        </p:nvSpPr>
        <p:spPr>
          <a:xfrm>
            <a:off x="731520" y="640080"/>
            <a:ext cx="10728655" cy="640080"/>
          </a:xfrm>
          <a:prstGeom prst="rect">
            <a:avLst/>
          </a:prstGeom>
          <a:noFill/>
        </p:spPr>
        <p:txBody>
          <a:bodyPr wrap="square">
            <a:spAutoFit/>
          </a:bodyPr>
          <a:lstStyle/>
          <a:p>
            <a:pPr>
              <a:defRPr sz="2200" b="1">
                <a:solidFill>
                  <a:srgbClr val="1B4965"/>
                </a:solidFill>
                <a:latin typeface="微软雅黑"/>
              </a:defRPr>
            </a:pPr>
            <a:r>
              <a:t>主要微观规制模式、机制与效果对比矩阵</a:t>
            </a:r>
          </a:p>
        </p:txBody>
      </p:sp>
      <p:sp>
        <p:nvSpPr>
          <p:cNvPr id="4" name="Rectangle 3"/>
          <p:cNvSpPr/>
          <p:nvPr/>
        </p:nvSpPr>
        <p:spPr>
          <a:xfrm>
            <a:off x="731520" y="1280160"/>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6400800"/>
            <a:ext cx="10728655" cy="274320"/>
          </a:xfrm>
          <a:prstGeom prst="rect">
            <a:avLst/>
          </a:prstGeom>
          <a:noFill/>
        </p:spPr>
        <p:txBody>
          <a:bodyPr wrap="none">
            <a:spAutoFit/>
          </a:bodyPr>
          <a:lstStyle/>
          <a:p>
            <a:pPr algn="r">
              <a:defRPr sz="1000">
                <a:solidFill>
                  <a:srgbClr val="64748B"/>
                </a:solidFill>
                <a:latin typeface="微软雅黑"/>
              </a:defRPr>
            </a:pPr>
            <a:r>
              <a:t>主线视角：市场势力（Market Power）的演化与规制  |  第 12 / 16 页</a:t>
            </a:r>
          </a:p>
        </p:txBody>
      </p:sp>
      <p:graphicFrame>
        <p:nvGraphicFramePr>
          <p:cNvPr id="6" name="Table 5"/>
          <p:cNvGraphicFramePr>
            <a:graphicFrameLocks noGrp="1"/>
          </p:cNvGraphicFramePr>
          <p:nvPr/>
        </p:nvGraphicFramePr>
        <p:xfrm>
          <a:off x="731520" y="1554480"/>
          <a:ext cx="10728655" cy="4572000"/>
        </p:xfrm>
        <a:graphic>
          <a:graphicData uri="http://schemas.openxmlformats.org/drawingml/2006/table">
            <a:tbl>
              <a:tblPr firstRow="1" bandRow="1">
                <a:tableStyleId>{5C22544A-7EE6-4342-B048-85BDC9FD1C3A}</a:tableStyleId>
              </a:tblPr>
              <a:tblGrid>
                <a:gridCol w="2145731"/>
                <a:gridCol w="2145731"/>
                <a:gridCol w="2145731"/>
                <a:gridCol w="2145731"/>
                <a:gridCol w="2145731"/>
              </a:tblGrid>
              <a:tr h="914400">
                <a:tc>
                  <a:txBody>
                    <a:bodyPr/>
                    <a:lstStyle/>
                    <a:p>
                      <a:pPr algn="ctr">
                        <a:defRPr sz="1300" b="1">
                          <a:solidFill>
                            <a:srgbClr val="FFFFFF"/>
                          </a:solidFill>
                          <a:latin typeface="微软雅黑"/>
                        </a:defRPr>
                      </a:pPr>
                      <a:r>
                        <a:t>规制模式</a:t>
                      </a:r>
                    </a:p>
                  </a:txBody>
                  <a:tcPr>
                    <a:solidFill>
                      <a:srgbClr val="1B4965"/>
                    </a:solidFill>
                  </a:tcPr>
                </a:tc>
                <a:tc>
                  <a:txBody>
                    <a:bodyPr/>
                    <a:lstStyle/>
                    <a:p>
                      <a:pPr algn="ctr">
                        <a:defRPr sz="1300" b="1">
                          <a:solidFill>
                            <a:srgbClr val="FFFFFF"/>
                          </a:solidFill>
                          <a:latin typeface="微软雅黑"/>
                        </a:defRPr>
                      </a:pPr>
                      <a:r>
                        <a:t>价格设置法则</a:t>
                      </a:r>
                    </a:p>
                  </a:txBody>
                  <a:tcPr>
                    <a:solidFill>
                      <a:srgbClr val="1B4965"/>
                    </a:solidFill>
                  </a:tcPr>
                </a:tc>
                <a:tc>
                  <a:txBody>
                    <a:bodyPr/>
                    <a:lstStyle/>
                    <a:p>
                      <a:pPr algn="ctr">
                        <a:defRPr sz="1300" b="1">
                          <a:solidFill>
                            <a:srgbClr val="FFFFFF"/>
                          </a:solidFill>
                          <a:latin typeface="微软雅黑"/>
                        </a:defRPr>
                      </a:pPr>
                      <a:r>
                        <a:t>降本激励强弱</a:t>
                      </a:r>
                    </a:p>
                  </a:txBody>
                  <a:tcPr>
                    <a:solidFill>
                      <a:srgbClr val="1B4965"/>
                    </a:solidFill>
                  </a:tcPr>
                </a:tc>
                <a:tc>
                  <a:txBody>
                    <a:bodyPr/>
                    <a:lstStyle/>
                    <a:p>
                      <a:pPr algn="ctr">
                        <a:defRPr sz="1300" b="1">
                          <a:solidFill>
                            <a:srgbClr val="FFFFFF"/>
                          </a:solidFill>
                          <a:latin typeface="微软雅黑"/>
                        </a:defRPr>
                      </a:pPr>
                      <a:r>
                        <a:t>信息要求程度</a:t>
                      </a:r>
                    </a:p>
                  </a:txBody>
                  <a:tcPr>
                    <a:solidFill>
                      <a:srgbClr val="1B4965"/>
                    </a:solidFill>
                  </a:tcPr>
                </a:tc>
                <a:tc>
                  <a:txBody>
                    <a:bodyPr/>
                    <a:lstStyle/>
                    <a:p>
                      <a:pPr algn="ctr">
                        <a:defRPr sz="1300" b="1">
                          <a:solidFill>
                            <a:srgbClr val="FFFFFF"/>
                          </a:solidFill>
                          <a:latin typeface="微软雅黑"/>
                        </a:defRPr>
                      </a:pPr>
                      <a:r>
                        <a:t>主要缺陷 / 风险</a:t>
                      </a:r>
                    </a:p>
                  </a:txBody>
                  <a:tcPr>
                    <a:solidFill>
                      <a:srgbClr val="1B4965"/>
                    </a:solidFill>
                  </a:tcPr>
                </a:tc>
              </a:tr>
              <a:tr h="914400">
                <a:tc>
                  <a:txBody>
                    <a:bodyPr/>
                    <a:lstStyle/>
                    <a:p>
                      <a:pPr>
                        <a:defRPr sz="1100">
                          <a:solidFill>
                            <a:srgbClr val="1E293B"/>
                          </a:solidFill>
                          <a:latin typeface="宋体"/>
                        </a:defRPr>
                      </a:pPr>
                      <a:r>
                        <a:t>投资回报率 (ROR)</a:t>
                      </a:r>
                    </a:p>
                  </a:txBody>
                  <a:tcPr>
                    <a:solidFill>
                      <a:srgbClr val="FFFFFF"/>
                    </a:solidFill>
                  </a:tcPr>
                </a:tc>
                <a:tc>
                  <a:txBody>
                    <a:bodyPr/>
                    <a:lstStyle/>
                    <a:p>
                      <a:pPr>
                        <a:defRPr sz="1100">
                          <a:solidFill>
                            <a:srgbClr val="1E293B"/>
                          </a:solidFill>
                          <a:latin typeface="宋体"/>
                        </a:defRPr>
                      </a:pPr>
                      <a:r>
                        <a:t>允许成本 + 资本回报</a:t>
                      </a:r>
                    </a:p>
                  </a:txBody>
                  <a:tcPr>
                    <a:solidFill>
                      <a:srgbClr val="FFFFFF"/>
                    </a:solidFill>
                  </a:tcPr>
                </a:tc>
                <a:tc>
                  <a:txBody>
                    <a:bodyPr/>
                    <a:lstStyle/>
                    <a:p>
                      <a:pPr>
                        <a:defRPr sz="1100">
                          <a:solidFill>
                            <a:srgbClr val="1E293B"/>
                          </a:solidFill>
                          <a:latin typeface="宋体"/>
                        </a:defRPr>
                      </a:pPr>
                      <a:r>
                        <a:t>极弱 (存在 A-J 效应)</a:t>
                      </a:r>
                    </a:p>
                  </a:txBody>
                  <a:tcPr>
                    <a:solidFill>
                      <a:srgbClr val="FFFFFF"/>
                    </a:solidFill>
                  </a:tcPr>
                </a:tc>
                <a:tc>
                  <a:txBody>
                    <a:bodyPr/>
                    <a:lstStyle/>
                    <a:p>
                      <a:pPr>
                        <a:defRPr sz="1100">
                          <a:solidFill>
                            <a:srgbClr val="1E293B"/>
                          </a:solidFill>
                          <a:latin typeface="宋体"/>
                        </a:defRPr>
                      </a:pPr>
                      <a:r>
                        <a:t>高 (需核查全量成本)</a:t>
                      </a:r>
                    </a:p>
                  </a:txBody>
                  <a:tcPr>
                    <a:solidFill>
                      <a:srgbClr val="FFFFFF"/>
                    </a:solidFill>
                  </a:tcPr>
                </a:tc>
                <a:tc>
                  <a:txBody>
                    <a:bodyPr/>
                    <a:lstStyle/>
                    <a:p>
                      <a:pPr>
                        <a:defRPr sz="1100">
                          <a:solidFill>
                            <a:srgbClr val="1E293B"/>
                          </a:solidFill>
                          <a:latin typeface="宋体"/>
                        </a:defRPr>
                      </a:pPr>
                      <a:r>
                        <a:t>过度投资资本，效率低下</a:t>
                      </a:r>
                    </a:p>
                  </a:txBody>
                  <a:tcPr>
                    <a:solidFill>
                      <a:srgbClr val="FFFFFF"/>
                    </a:solidFill>
                  </a:tcPr>
                </a:tc>
              </a:tr>
              <a:tr h="914400">
                <a:tc>
                  <a:txBody>
                    <a:bodyPr/>
                    <a:lstStyle/>
                    <a:p>
                      <a:pPr>
                        <a:defRPr sz="1100">
                          <a:solidFill>
                            <a:srgbClr val="1E293B"/>
                          </a:solidFill>
                          <a:latin typeface="宋体"/>
                        </a:defRPr>
                      </a:pPr>
                      <a:r>
                        <a:t>上限价格 (RPI-X)</a:t>
                      </a:r>
                    </a:p>
                  </a:txBody>
                  <a:tcPr>
                    <a:solidFill>
                      <a:srgbClr val="F1F5F9"/>
                    </a:solidFill>
                  </a:tcPr>
                </a:tc>
                <a:tc>
                  <a:txBody>
                    <a:bodyPr/>
                    <a:lstStyle/>
                    <a:p>
                      <a:pPr>
                        <a:defRPr sz="1100">
                          <a:solidFill>
                            <a:srgbClr val="1E293B"/>
                          </a:solidFill>
                          <a:latin typeface="宋体"/>
                        </a:defRPr>
                      </a:pPr>
                      <a:r>
                        <a:t>允许涨幅 &lt;= RPI - X</a:t>
                      </a:r>
                    </a:p>
                  </a:txBody>
                  <a:tcPr>
                    <a:solidFill>
                      <a:srgbClr val="F1F5F9"/>
                    </a:solidFill>
                  </a:tcPr>
                </a:tc>
                <a:tc>
                  <a:txBody>
                    <a:bodyPr/>
                    <a:lstStyle/>
                    <a:p>
                      <a:pPr>
                        <a:defRPr sz="1100">
                          <a:solidFill>
                            <a:srgbClr val="1E293B"/>
                          </a:solidFill>
                          <a:latin typeface="宋体"/>
                        </a:defRPr>
                      </a:pPr>
                      <a:r>
                        <a:t>极强 (节省归企业)</a:t>
                      </a:r>
                    </a:p>
                  </a:txBody>
                  <a:tcPr>
                    <a:solidFill>
                      <a:srgbClr val="F1F5F9"/>
                    </a:solidFill>
                  </a:tcPr>
                </a:tc>
                <a:tc>
                  <a:txBody>
                    <a:bodyPr/>
                    <a:lstStyle/>
                    <a:p>
                      <a:pPr>
                        <a:defRPr sz="1100">
                          <a:solidFill>
                            <a:srgbClr val="1E293B"/>
                          </a:solidFill>
                          <a:latin typeface="宋体"/>
                        </a:defRPr>
                      </a:pPr>
                      <a:r>
                        <a:t>中 (需定期设定 X 值)</a:t>
                      </a:r>
                    </a:p>
                  </a:txBody>
                  <a:tcPr>
                    <a:solidFill>
                      <a:srgbClr val="F1F5F9"/>
                    </a:solidFill>
                  </a:tcPr>
                </a:tc>
                <a:tc>
                  <a:txBody>
                    <a:bodyPr/>
                    <a:lstStyle/>
                    <a:p>
                      <a:pPr>
                        <a:defRPr sz="1100">
                          <a:solidFill>
                            <a:srgbClr val="1E293B"/>
                          </a:solidFill>
                          <a:latin typeface="宋体"/>
                        </a:defRPr>
                      </a:pPr>
                      <a:r>
                        <a:t>服务质量可能下降</a:t>
                      </a:r>
                    </a:p>
                  </a:txBody>
                  <a:tcPr>
                    <a:solidFill>
                      <a:srgbClr val="F1F5F9"/>
                    </a:solidFill>
                  </a:tcPr>
                </a:tc>
              </a:tr>
              <a:tr h="914400">
                <a:tc>
                  <a:txBody>
                    <a:bodyPr/>
                    <a:lstStyle/>
                    <a:p>
                      <a:pPr>
                        <a:defRPr sz="1100">
                          <a:solidFill>
                            <a:srgbClr val="1E293B"/>
                          </a:solidFill>
                          <a:latin typeface="宋体"/>
                        </a:defRPr>
                      </a:pPr>
                      <a:r>
                        <a:t>标杆规制</a:t>
                      </a:r>
                    </a:p>
                  </a:txBody>
                  <a:tcPr>
                    <a:solidFill>
                      <a:srgbClr val="FFFFFF"/>
                    </a:solidFill>
                  </a:tcPr>
                </a:tc>
                <a:tc>
                  <a:txBody>
                    <a:bodyPr/>
                    <a:lstStyle/>
                    <a:p>
                      <a:pPr>
                        <a:defRPr sz="1100">
                          <a:solidFill>
                            <a:srgbClr val="1E293B"/>
                          </a:solidFill>
                          <a:latin typeface="宋体"/>
                        </a:defRPr>
                      </a:pPr>
                      <a:r>
                        <a:t>基于同类企业平均成本</a:t>
                      </a:r>
                    </a:p>
                  </a:txBody>
                  <a:tcPr>
                    <a:solidFill>
                      <a:srgbClr val="FFFFFF"/>
                    </a:solidFill>
                  </a:tcPr>
                </a:tc>
                <a:tc>
                  <a:txBody>
                    <a:bodyPr/>
                    <a:lstStyle/>
                    <a:p>
                      <a:pPr>
                        <a:defRPr sz="1100">
                          <a:solidFill>
                            <a:srgbClr val="1E293B"/>
                          </a:solidFill>
                          <a:latin typeface="宋体"/>
                        </a:defRPr>
                      </a:pPr>
                      <a:r>
                        <a:t>强 (横向比较)</a:t>
                      </a:r>
                    </a:p>
                  </a:txBody>
                  <a:tcPr>
                    <a:solidFill>
                      <a:srgbClr val="FFFFFF"/>
                    </a:solidFill>
                  </a:tcPr>
                </a:tc>
                <a:tc>
                  <a:txBody>
                    <a:bodyPr/>
                    <a:lstStyle/>
                    <a:p>
                      <a:pPr>
                        <a:defRPr sz="1100">
                          <a:solidFill>
                            <a:srgbClr val="1E293B"/>
                          </a:solidFill>
                          <a:latin typeface="宋体"/>
                        </a:defRPr>
                      </a:pPr>
                      <a:r>
                        <a:t>中 (需可比标杆样本)</a:t>
                      </a:r>
                    </a:p>
                  </a:txBody>
                  <a:tcPr>
                    <a:solidFill>
                      <a:srgbClr val="FFFFFF"/>
                    </a:solidFill>
                  </a:tcPr>
                </a:tc>
                <a:tc>
                  <a:txBody>
                    <a:bodyPr/>
                    <a:lstStyle/>
                    <a:p>
                      <a:pPr>
                        <a:defRPr sz="1100">
                          <a:solidFill>
                            <a:srgbClr val="1E293B"/>
                          </a:solidFill>
                          <a:latin typeface="宋体"/>
                        </a:defRPr>
                      </a:pPr>
                      <a:r>
                        <a:t>存在同业地区差异误判</a:t>
                      </a:r>
                    </a:p>
                  </a:txBody>
                  <a:tcPr>
                    <a:solidFill>
                      <a:srgbClr val="FFFFFF"/>
                    </a:solidFill>
                  </a:tcPr>
                </a:tc>
              </a:tr>
              <a:tr h="914400">
                <a:tc>
                  <a:txBody>
                    <a:bodyPr/>
                    <a:lstStyle/>
                    <a:p>
                      <a:pPr>
                        <a:defRPr sz="1100">
                          <a:solidFill>
                            <a:srgbClr val="1E293B"/>
                          </a:solidFill>
                          <a:latin typeface="宋体"/>
                        </a:defRPr>
                      </a:pPr>
                      <a:r>
                        <a:t>特许投标竞标</a:t>
                      </a:r>
                    </a:p>
                  </a:txBody>
                  <a:tcPr>
                    <a:solidFill>
                      <a:srgbClr val="F1F5F9"/>
                    </a:solidFill>
                  </a:tcPr>
                </a:tc>
                <a:tc>
                  <a:txBody>
                    <a:bodyPr/>
                    <a:lstStyle/>
                    <a:p>
                      <a:pPr>
                        <a:defRPr sz="1100">
                          <a:solidFill>
                            <a:srgbClr val="1E293B"/>
                          </a:solidFill>
                          <a:latin typeface="宋体"/>
                        </a:defRPr>
                      </a:pPr>
                      <a:r>
                        <a:t>入口公开拍卖最低价</a:t>
                      </a:r>
                    </a:p>
                  </a:txBody>
                  <a:tcPr>
                    <a:solidFill>
                      <a:srgbClr val="F1F5F9"/>
                    </a:solidFill>
                  </a:tcPr>
                </a:tc>
                <a:tc>
                  <a:txBody>
                    <a:bodyPr/>
                    <a:lstStyle/>
                    <a:p>
                      <a:pPr>
                        <a:defRPr sz="1100">
                          <a:solidFill>
                            <a:srgbClr val="1E293B"/>
                          </a:solidFill>
                          <a:latin typeface="宋体"/>
                        </a:defRPr>
                      </a:pPr>
                      <a:r>
                        <a:t>强 (竞标阶段挤压)</a:t>
                      </a:r>
                    </a:p>
                  </a:txBody>
                  <a:tcPr>
                    <a:solidFill>
                      <a:srgbClr val="F1F5F9"/>
                    </a:solidFill>
                  </a:tcPr>
                </a:tc>
                <a:tc>
                  <a:txBody>
                    <a:bodyPr/>
                    <a:lstStyle/>
                    <a:p>
                      <a:pPr>
                        <a:defRPr sz="1100">
                          <a:solidFill>
                            <a:srgbClr val="1E293B"/>
                          </a:solidFill>
                          <a:latin typeface="宋体"/>
                        </a:defRPr>
                      </a:pPr>
                      <a:r>
                        <a:t>低 (依靠竞争发现)</a:t>
                      </a:r>
                    </a:p>
                  </a:txBody>
                  <a:tcPr>
                    <a:solidFill>
                      <a:srgbClr val="F1F5F9"/>
                    </a:solidFill>
                  </a:tcPr>
                </a:tc>
                <a:tc>
                  <a:txBody>
                    <a:bodyPr/>
                    <a:lstStyle/>
                    <a:p>
                      <a:pPr>
                        <a:defRPr sz="1100">
                          <a:solidFill>
                            <a:srgbClr val="1E293B"/>
                          </a:solidFill>
                          <a:latin typeface="宋体"/>
                        </a:defRPr>
                      </a:pPr>
                      <a:r>
                        <a:t>可能发生二次转包与屡屡违约</a:t>
                      </a:r>
                    </a:p>
                  </a:txBody>
                  <a:tcPr>
                    <a:solidFill>
                      <a:srgbClr val="F1F5F9"/>
                    </a:solidFill>
                  </a:tcPr>
                </a:tc>
              </a:tr>
            </a:tbl>
          </a:graphicData>
        </a:graphic>
      </p:graphicFrame>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731520" y="365760"/>
            <a:ext cx="10728655" cy="365760"/>
          </a:xfrm>
          <a:prstGeom prst="rect">
            <a:avLst/>
          </a:prstGeom>
          <a:noFill/>
        </p:spPr>
        <p:txBody>
          <a:bodyPr wrap="square">
            <a:spAutoFit/>
          </a:bodyPr>
          <a:lstStyle/>
          <a:p>
            <a:pPr>
              <a:defRPr sz="1000" b="1">
                <a:solidFill>
                  <a:srgbClr val="2D6A4F"/>
                </a:solidFill>
                <a:latin typeface="微软雅黑"/>
              </a:defRPr>
            </a:pPr>
            <a:r>
              <a:t>产业经济学（第3版）· 刘志彪 | 第九章  微观规制</a:t>
            </a:r>
          </a:p>
        </p:txBody>
      </p:sp>
      <p:sp>
        <p:nvSpPr>
          <p:cNvPr id="3" name="TextBox 2"/>
          <p:cNvSpPr txBox="1"/>
          <p:nvPr/>
        </p:nvSpPr>
        <p:spPr>
          <a:xfrm>
            <a:off x="731520" y="640080"/>
            <a:ext cx="10728655" cy="640080"/>
          </a:xfrm>
          <a:prstGeom prst="rect">
            <a:avLst/>
          </a:prstGeom>
          <a:noFill/>
        </p:spPr>
        <p:txBody>
          <a:bodyPr wrap="square">
            <a:spAutoFit/>
          </a:bodyPr>
          <a:lstStyle/>
          <a:p>
            <a:pPr>
              <a:defRPr sz="2200" b="1">
                <a:solidFill>
                  <a:srgbClr val="1B4965"/>
                </a:solidFill>
                <a:latin typeface="微软雅黑"/>
              </a:defRPr>
            </a:pPr>
            <a:r>
              <a:t>第 13 节 延伸视角｜自然垄断微观规制与市场势力深度研讨</a:t>
            </a:r>
          </a:p>
        </p:txBody>
      </p:sp>
      <p:sp>
        <p:nvSpPr>
          <p:cNvPr id="4" name="Rectangle 3"/>
          <p:cNvSpPr/>
          <p:nvPr/>
        </p:nvSpPr>
        <p:spPr>
          <a:xfrm>
            <a:off x="731520" y="1280160"/>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6400800"/>
            <a:ext cx="10728655" cy="274320"/>
          </a:xfrm>
          <a:prstGeom prst="rect">
            <a:avLst/>
          </a:prstGeom>
          <a:noFill/>
        </p:spPr>
        <p:txBody>
          <a:bodyPr wrap="none">
            <a:spAutoFit/>
          </a:bodyPr>
          <a:lstStyle/>
          <a:p>
            <a:pPr algn="r">
              <a:defRPr sz="1000">
                <a:solidFill>
                  <a:srgbClr val="64748B"/>
                </a:solidFill>
                <a:latin typeface="微软雅黑"/>
              </a:defRPr>
            </a:pPr>
            <a:r>
              <a:t>主线视角：市场势力（Market Power）的演化与规制  |  第 13 / 16 页</a:t>
            </a:r>
          </a:p>
        </p:txBody>
      </p:sp>
      <p:sp>
        <p:nvSpPr>
          <p:cNvPr id="6" name="Rounded Rectangle 5"/>
          <p:cNvSpPr/>
          <p:nvPr/>
        </p:nvSpPr>
        <p:spPr>
          <a:xfrm>
            <a:off x="731520" y="1554480"/>
            <a:ext cx="5120640" cy="45720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1554480"/>
            <a:ext cx="5120640" cy="73152"/>
          </a:xfrm>
          <a:prstGeom prst="rect">
            <a:avLst/>
          </a:prstGeom>
          <a:solidFill>
            <a:srgbClr val="1B496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1737360"/>
            <a:ext cx="4754880" cy="4297680"/>
          </a:xfrm>
          <a:prstGeom prst="rect">
            <a:avLst/>
          </a:prstGeom>
          <a:noFill/>
        </p:spPr>
        <p:txBody>
          <a:bodyPr wrap="square">
            <a:spAutoFit/>
          </a:bodyPr>
          <a:lstStyle/>
          <a:p>
            <a:pPr>
              <a:spcAft>
                <a:spcPts val="800"/>
              </a:spcAft>
              <a:defRPr sz="1500" b="1">
                <a:solidFill>
                  <a:srgbClr val="1B4965"/>
                </a:solidFill>
                <a:latin typeface="微软雅黑"/>
              </a:defRPr>
            </a:pPr>
            <a:r>
              <a:t>1. 市场势力（Market Power）拓展分析 13-A</a:t>
            </a:r>
          </a:p>
          <a:p>
            <a:pPr>
              <a:spcAft>
                <a:spcPts val="600"/>
              </a:spcAft>
            </a:pPr>
            <a:r>
              <a:rPr b="1" sz="1250">
                <a:solidFill>
                  <a:srgbClr val="1E293B"/>
                </a:solidFill>
                <a:latin typeface="微软雅黑"/>
              </a:rPr>
              <a:t>理论深化：</a:t>
            </a:r>
            <a:r>
              <a:rPr sz="1250">
                <a:solidFill>
                  <a:srgbClr val="1E293B"/>
                </a:solidFill>
                <a:latin typeface="宋体"/>
              </a:rPr>
              <a:t>围绕《产业经济学》（第3版）第9章的核心机制进行博弈与福利深化。</a:t>
            </a:r>
          </a:p>
          <a:p>
            <a:pPr>
              <a:spcAft>
                <a:spcPts val="600"/>
              </a:spcAft>
            </a:pPr>
            <a:r>
              <a:rPr b="1" sz="1250">
                <a:solidFill>
                  <a:srgbClr val="1E293B"/>
                </a:solidFill>
                <a:latin typeface="微软雅黑"/>
              </a:rPr>
              <a:t>现实映射：</a:t>
            </a:r>
            <a:r>
              <a:rPr sz="1250">
                <a:solidFill>
                  <a:srgbClr val="1E293B"/>
                </a:solidFill>
                <a:latin typeface="宋体"/>
              </a:rPr>
              <a:t>考察市场结构变迁对企业定价、规模扩张与行业效益的传导机制。</a:t>
            </a:r>
          </a:p>
        </p:txBody>
      </p:sp>
      <p:sp>
        <p:nvSpPr>
          <p:cNvPr id="9" name="Rounded Rectangle 8"/>
          <p:cNvSpPr/>
          <p:nvPr/>
        </p:nvSpPr>
        <p:spPr>
          <a:xfrm>
            <a:off x="6309360" y="1554480"/>
            <a:ext cx="5120640" cy="45720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309360" y="1554480"/>
            <a:ext cx="5120640" cy="73152"/>
          </a:xfrm>
          <a:prstGeom prst="rect">
            <a:avLst/>
          </a:prstGeom>
          <a:solidFill>
            <a:srgbClr val="2D6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92240" y="1737360"/>
            <a:ext cx="4754880" cy="4297680"/>
          </a:xfrm>
          <a:prstGeom prst="rect">
            <a:avLst/>
          </a:prstGeom>
          <a:noFill/>
        </p:spPr>
        <p:txBody>
          <a:bodyPr wrap="square">
            <a:spAutoFit/>
          </a:bodyPr>
          <a:lstStyle/>
          <a:p>
            <a:pPr>
              <a:spcAft>
                <a:spcPts val="800"/>
              </a:spcAft>
              <a:defRPr sz="1500" b="1">
                <a:solidFill>
                  <a:srgbClr val="2D6A4F"/>
                </a:solidFill>
                <a:latin typeface="微软雅黑"/>
              </a:defRPr>
            </a:pPr>
            <a:r>
              <a:t>2. 反垄断与微观规制视角 13-B</a:t>
            </a:r>
          </a:p>
          <a:p>
            <a:pPr>
              <a:spcAft>
                <a:spcPts val="600"/>
              </a:spcAft>
            </a:pPr>
            <a:r>
              <a:rPr b="1" sz="1250">
                <a:solidFill>
                  <a:srgbClr val="1E293B"/>
                </a:solidFill>
                <a:latin typeface="微软雅黑"/>
              </a:rPr>
              <a:t>政策导向：</a:t>
            </a:r>
            <a:r>
              <a:rPr sz="1250">
                <a:solidFill>
                  <a:srgbClr val="1E293B"/>
                </a:solidFill>
                <a:latin typeface="宋体"/>
              </a:rPr>
              <a:t>评估政府行政干预与竞争政策在防范市场势力滥用中的边界。</a:t>
            </a:r>
          </a:p>
          <a:p>
            <a:pPr>
              <a:spcAft>
                <a:spcPts val="600"/>
              </a:spcAft>
            </a:pPr>
            <a:r>
              <a:rPr b="1" sz="1250">
                <a:solidFill>
                  <a:srgbClr val="1E293B"/>
                </a:solidFill>
                <a:latin typeface="微软雅黑"/>
              </a:rPr>
              <a:t>治理创新：</a:t>
            </a:r>
            <a:r>
              <a:rPr sz="1250">
                <a:solidFill>
                  <a:srgbClr val="1E293B"/>
                </a:solidFill>
                <a:latin typeface="宋体"/>
              </a:rPr>
              <a:t>推动竞争政策基础地位与全国统一大市场建设的协同。</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731520" y="365760"/>
            <a:ext cx="10728655" cy="365760"/>
          </a:xfrm>
          <a:prstGeom prst="rect">
            <a:avLst/>
          </a:prstGeom>
          <a:noFill/>
        </p:spPr>
        <p:txBody>
          <a:bodyPr wrap="square">
            <a:spAutoFit/>
          </a:bodyPr>
          <a:lstStyle/>
          <a:p>
            <a:pPr>
              <a:defRPr sz="1000" b="1">
                <a:solidFill>
                  <a:srgbClr val="2D6A4F"/>
                </a:solidFill>
                <a:latin typeface="微软雅黑"/>
              </a:defRPr>
            </a:pPr>
            <a:r>
              <a:t>产业经济学（第3版）· 刘志彪 | 第九章  微观规制</a:t>
            </a:r>
          </a:p>
        </p:txBody>
      </p:sp>
      <p:sp>
        <p:nvSpPr>
          <p:cNvPr id="3" name="TextBox 2"/>
          <p:cNvSpPr txBox="1"/>
          <p:nvPr/>
        </p:nvSpPr>
        <p:spPr>
          <a:xfrm>
            <a:off x="731520" y="640080"/>
            <a:ext cx="10728655" cy="640080"/>
          </a:xfrm>
          <a:prstGeom prst="rect">
            <a:avLst/>
          </a:prstGeom>
          <a:noFill/>
        </p:spPr>
        <p:txBody>
          <a:bodyPr wrap="square">
            <a:spAutoFit/>
          </a:bodyPr>
          <a:lstStyle/>
          <a:p>
            <a:pPr>
              <a:defRPr sz="2200" b="1">
                <a:solidFill>
                  <a:srgbClr val="1B4965"/>
                </a:solidFill>
                <a:latin typeface="微软雅黑"/>
              </a:defRPr>
            </a:pPr>
            <a:r>
              <a:t>第 14 节 延伸视角｜自然垄断微观规制与市场势力深度研讨</a:t>
            </a:r>
          </a:p>
        </p:txBody>
      </p:sp>
      <p:sp>
        <p:nvSpPr>
          <p:cNvPr id="4" name="Rectangle 3"/>
          <p:cNvSpPr/>
          <p:nvPr/>
        </p:nvSpPr>
        <p:spPr>
          <a:xfrm>
            <a:off x="731520" y="1280160"/>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6400800"/>
            <a:ext cx="10728655" cy="274320"/>
          </a:xfrm>
          <a:prstGeom prst="rect">
            <a:avLst/>
          </a:prstGeom>
          <a:noFill/>
        </p:spPr>
        <p:txBody>
          <a:bodyPr wrap="none">
            <a:spAutoFit/>
          </a:bodyPr>
          <a:lstStyle/>
          <a:p>
            <a:pPr algn="r">
              <a:defRPr sz="1000">
                <a:solidFill>
                  <a:srgbClr val="64748B"/>
                </a:solidFill>
                <a:latin typeface="微软雅黑"/>
              </a:defRPr>
            </a:pPr>
            <a:r>
              <a:t>主线视角：市场势力（Market Power）的演化与规制  |  第 14 / 16 页</a:t>
            </a:r>
          </a:p>
        </p:txBody>
      </p:sp>
      <p:sp>
        <p:nvSpPr>
          <p:cNvPr id="6" name="Rounded Rectangle 5"/>
          <p:cNvSpPr/>
          <p:nvPr/>
        </p:nvSpPr>
        <p:spPr>
          <a:xfrm>
            <a:off x="731520" y="1554480"/>
            <a:ext cx="5120640" cy="45720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1554480"/>
            <a:ext cx="5120640" cy="73152"/>
          </a:xfrm>
          <a:prstGeom prst="rect">
            <a:avLst/>
          </a:prstGeom>
          <a:solidFill>
            <a:srgbClr val="1B496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1737360"/>
            <a:ext cx="4754880" cy="4297680"/>
          </a:xfrm>
          <a:prstGeom prst="rect">
            <a:avLst/>
          </a:prstGeom>
          <a:noFill/>
        </p:spPr>
        <p:txBody>
          <a:bodyPr wrap="square">
            <a:spAutoFit/>
          </a:bodyPr>
          <a:lstStyle/>
          <a:p>
            <a:pPr>
              <a:spcAft>
                <a:spcPts val="800"/>
              </a:spcAft>
              <a:defRPr sz="1500" b="1">
                <a:solidFill>
                  <a:srgbClr val="1B4965"/>
                </a:solidFill>
                <a:latin typeface="微软雅黑"/>
              </a:defRPr>
            </a:pPr>
            <a:r>
              <a:t>1. 市场势力（Market Power）拓展分析 14-A</a:t>
            </a:r>
          </a:p>
          <a:p>
            <a:pPr>
              <a:spcAft>
                <a:spcPts val="600"/>
              </a:spcAft>
            </a:pPr>
            <a:r>
              <a:rPr b="1" sz="1250">
                <a:solidFill>
                  <a:srgbClr val="1E293B"/>
                </a:solidFill>
                <a:latin typeface="微软雅黑"/>
              </a:rPr>
              <a:t>理论深化：</a:t>
            </a:r>
            <a:r>
              <a:rPr sz="1250">
                <a:solidFill>
                  <a:srgbClr val="1E293B"/>
                </a:solidFill>
                <a:latin typeface="宋体"/>
              </a:rPr>
              <a:t>围绕《产业经济学》（第3版）第9章的核心机制进行博弈与福利深化。</a:t>
            </a:r>
          </a:p>
          <a:p>
            <a:pPr>
              <a:spcAft>
                <a:spcPts val="600"/>
              </a:spcAft>
            </a:pPr>
            <a:r>
              <a:rPr b="1" sz="1250">
                <a:solidFill>
                  <a:srgbClr val="1E293B"/>
                </a:solidFill>
                <a:latin typeface="微软雅黑"/>
              </a:rPr>
              <a:t>现实映射：</a:t>
            </a:r>
            <a:r>
              <a:rPr sz="1250">
                <a:solidFill>
                  <a:srgbClr val="1E293B"/>
                </a:solidFill>
                <a:latin typeface="宋体"/>
              </a:rPr>
              <a:t>考察市场结构变迁对企业定价、规模扩张与行业效益的传导机制。</a:t>
            </a:r>
          </a:p>
        </p:txBody>
      </p:sp>
      <p:sp>
        <p:nvSpPr>
          <p:cNvPr id="9" name="Rounded Rectangle 8"/>
          <p:cNvSpPr/>
          <p:nvPr/>
        </p:nvSpPr>
        <p:spPr>
          <a:xfrm>
            <a:off x="6309360" y="1554480"/>
            <a:ext cx="5120640" cy="45720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309360" y="1554480"/>
            <a:ext cx="5120640" cy="73152"/>
          </a:xfrm>
          <a:prstGeom prst="rect">
            <a:avLst/>
          </a:prstGeom>
          <a:solidFill>
            <a:srgbClr val="2D6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92240" y="1737360"/>
            <a:ext cx="4754880" cy="4297680"/>
          </a:xfrm>
          <a:prstGeom prst="rect">
            <a:avLst/>
          </a:prstGeom>
          <a:noFill/>
        </p:spPr>
        <p:txBody>
          <a:bodyPr wrap="square">
            <a:spAutoFit/>
          </a:bodyPr>
          <a:lstStyle/>
          <a:p>
            <a:pPr>
              <a:spcAft>
                <a:spcPts val="800"/>
              </a:spcAft>
              <a:defRPr sz="1500" b="1">
                <a:solidFill>
                  <a:srgbClr val="2D6A4F"/>
                </a:solidFill>
                <a:latin typeface="微软雅黑"/>
              </a:defRPr>
            </a:pPr>
            <a:r>
              <a:t>2. 反垄断与微观规制视角 14-B</a:t>
            </a:r>
          </a:p>
          <a:p>
            <a:pPr>
              <a:spcAft>
                <a:spcPts val="600"/>
              </a:spcAft>
            </a:pPr>
            <a:r>
              <a:rPr b="1" sz="1250">
                <a:solidFill>
                  <a:srgbClr val="1E293B"/>
                </a:solidFill>
                <a:latin typeface="微软雅黑"/>
              </a:rPr>
              <a:t>政策导向：</a:t>
            </a:r>
            <a:r>
              <a:rPr sz="1250">
                <a:solidFill>
                  <a:srgbClr val="1E293B"/>
                </a:solidFill>
                <a:latin typeface="宋体"/>
              </a:rPr>
              <a:t>评估政府行政干预与竞争政策在防范市场势力滥用中的边界。</a:t>
            </a:r>
          </a:p>
          <a:p>
            <a:pPr>
              <a:spcAft>
                <a:spcPts val="600"/>
              </a:spcAft>
            </a:pPr>
            <a:r>
              <a:rPr b="1" sz="1250">
                <a:solidFill>
                  <a:srgbClr val="1E293B"/>
                </a:solidFill>
                <a:latin typeface="微软雅黑"/>
              </a:rPr>
              <a:t>治理创新：</a:t>
            </a:r>
            <a:r>
              <a:rPr sz="1250">
                <a:solidFill>
                  <a:srgbClr val="1E293B"/>
                </a:solidFill>
                <a:latin typeface="宋体"/>
              </a:rPr>
              <a:t>推动竞争政策基础地位与全国统一大市场建设的协同。</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731520" y="365760"/>
            <a:ext cx="10728655" cy="365760"/>
          </a:xfrm>
          <a:prstGeom prst="rect">
            <a:avLst/>
          </a:prstGeom>
          <a:noFill/>
        </p:spPr>
        <p:txBody>
          <a:bodyPr wrap="square">
            <a:spAutoFit/>
          </a:bodyPr>
          <a:lstStyle/>
          <a:p>
            <a:pPr>
              <a:defRPr sz="1000" b="1">
                <a:solidFill>
                  <a:srgbClr val="2D6A4F"/>
                </a:solidFill>
                <a:latin typeface="微软雅黑"/>
              </a:defRPr>
            </a:pPr>
            <a:r>
              <a:t>产业经济学（第3版）· 刘志彪 | 第九章  微观规制</a:t>
            </a:r>
          </a:p>
        </p:txBody>
      </p:sp>
      <p:sp>
        <p:nvSpPr>
          <p:cNvPr id="3" name="TextBox 2"/>
          <p:cNvSpPr txBox="1"/>
          <p:nvPr/>
        </p:nvSpPr>
        <p:spPr>
          <a:xfrm>
            <a:off x="731520" y="640080"/>
            <a:ext cx="10728655" cy="640080"/>
          </a:xfrm>
          <a:prstGeom prst="rect">
            <a:avLst/>
          </a:prstGeom>
          <a:noFill/>
        </p:spPr>
        <p:txBody>
          <a:bodyPr wrap="square">
            <a:spAutoFit/>
          </a:bodyPr>
          <a:lstStyle/>
          <a:p>
            <a:pPr>
              <a:defRPr sz="2200" b="1">
                <a:solidFill>
                  <a:srgbClr val="1B4965"/>
                </a:solidFill>
                <a:latin typeface="微软雅黑"/>
              </a:defRPr>
            </a:pPr>
            <a:r>
              <a:t>第 15 节 延伸视角｜自然垄断微观规制与市场势力深度研讨</a:t>
            </a:r>
          </a:p>
        </p:txBody>
      </p:sp>
      <p:sp>
        <p:nvSpPr>
          <p:cNvPr id="4" name="Rectangle 3"/>
          <p:cNvSpPr/>
          <p:nvPr/>
        </p:nvSpPr>
        <p:spPr>
          <a:xfrm>
            <a:off x="731520" y="1280160"/>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6400800"/>
            <a:ext cx="10728655" cy="274320"/>
          </a:xfrm>
          <a:prstGeom prst="rect">
            <a:avLst/>
          </a:prstGeom>
          <a:noFill/>
        </p:spPr>
        <p:txBody>
          <a:bodyPr wrap="none">
            <a:spAutoFit/>
          </a:bodyPr>
          <a:lstStyle/>
          <a:p>
            <a:pPr algn="r">
              <a:defRPr sz="1000">
                <a:solidFill>
                  <a:srgbClr val="64748B"/>
                </a:solidFill>
                <a:latin typeface="微软雅黑"/>
              </a:defRPr>
            </a:pPr>
            <a:r>
              <a:t>主线视角：市场势力（Market Power）的演化与规制  |  第 15 / 16 页</a:t>
            </a:r>
          </a:p>
        </p:txBody>
      </p:sp>
      <p:sp>
        <p:nvSpPr>
          <p:cNvPr id="6" name="Rounded Rectangle 5"/>
          <p:cNvSpPr/>
          <p:nvPr/>
        </p:nvSpPr>
        <p:spPr>
          <a:xfrm>
            <a:off x="731520" y="1554480"/>
            <a:ext cx="5120640" cy="45720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1554480"/>
            <a:ext cx="5120640" cy="73152"/>
          </a:xfrm>
          <a:prstGeom prst="rect">
            <a:avLst/>
          </a:prstGeom>
          <a:solidFill>
            <a:srgbClr val="1B496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1737360"/>
            <a:ext cx="4754880" cy="4297680"/>
          </a:xfrm>
          <a:prstGeom prst="rect">
            <a:avLst/>
          </a:prstGeom>
          <a:noFill/>
        </p:spPr>
        <p:txBody>
          <a:bodyPr wrap="square">
            <a:spAutoFit/>
          </a:bodyPr>
          <a:lstStyle/>
          <a:p>
            <a:pPr>
              <a:spcAft>
                <a:spcPts val="800"/>
              </a:spcAft>
              <a:defRPr sz="1500" b="1">
                <a:solidFill>
                  <a:srgbClr val="1B4965"/>
                </a:solidFill>
                <a:latin typeface="微软雅黑"/>
              </a:defRPr>
            </a:pPr>
            <a:r>
              <a:t>1. 市场势力（Market Power）拓展分析 15-A</a:t>
            </a:r>
          </a:p>
          <a:p>
            <a:pPr>
              <a:spcAft>
                <a:spcPts val="600"/>
              </a:spcAft>
            </a:pPr>
            <a:r>
              <a:rPr b="1" sz="1250">
                <a:solidFill>
                  <a:srgbClr val="1E293B"/>
                </a:solidFill>
                <a:latin typeface="微软雅黑"/>
              </a:rPr>
              <a:t>理论深化：</a:t>
            </a:r>
            <a:r>
              <a:rPr sz="1250">
                <a:solidFill>
                  <a:srgbClr val="1E293B"/>
                </a:solidFill>
                <a:latin typeface="宋体"/>
              </a:rPr>
              <a:t>围绕《产业经济学》（第3版）第9章的核心机制进行博弈与福利深化。</a:t>
            </a:r>
          </a:p>
          <a:p>
            <a:pPr>
              <a:spcAft>
                <a:spcPts val="600"/>
              </a:spcAft>
            </a:pPr>
            <a:r>
              <a:rPr b="1" sz="1250">
                <a:solidFill>
                  <a:srgbClr val="1E293B"/>
                </a:solidFill>
                <a:latin typeface="微软雅黑"/>
              </a:rPr>
              <a:t>现实映射：</a:t>
            </a:r>
            <a:r>
              <a:rPr sz="1250">
                <a:solidFill>
                  <a:srgbClr val="1E293B"/>
                </a:solidFill>
                <a:latin typeface="宋体"/>
              </a:rPr>
              <a:t>考察市场结构变迁对企业定价、规模扩张与行业效益的传导机制。</a:t>
            </a:r>
          </a:p>
        </p:txBody>
      </p:sp>
      <p:sp>
        <p:nvSpPr>
          <p:cNvPr id="9" name="Rounded Rectangle 8"/>
          <p:cNvSpPr/>
          <p:nvPr/>
        </p:nvSpPr>
        <p:spPr>
          <a:xfrm>
            <a:off x="6309360" y="1554480"/>
            <a:ext cx="5120640" cy="45720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309360" y="1554480"/>
            <a:ext cx="5120640" cy="73152"/>
          </a:xfrm>
          <a:prstGeom prst="rect">
            <a:avLst/>
          </a:prstGeom>
          <a:solidFill>
            <a:srgbClr val="2D6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92240" y="1737360"/>
            <a:ext cx="4754880" cy="4297680"/>
          </a:xfrm>
          <a:prstGeom prst="rect">
            <a:avLst/>
          </a:prstGeom>
          <a:noFill/>
        </p:spPr>
        <p:txBody>
          <a:bodyPr wrap="square">
            <a:spAutoFit/>
          </a:bodyPr>
          <a:lstStyle/>
          <a:p>
            <a:pPr>
              <a:spcAft>
                <a:spcPts val="800"/>
              </a:spcAft>
              <a:defRPr sz="1500" b="1">
                <a:solidFill>
                  <a:srgbClr val="2D6A4F"/>
                </a:solidFill>
                <a:latin typeface="微软雅黑"/>
              </a:defRPr>
            </a:pPr>
            <a:r>
              <a:t>2. 反垄断与微观规制视角 15-B</a:t>
            </a:r>
          </a:p>
          <a:p>
            <a:pPr>
              <a:spcAft>
                <a:spcPts val="600"/>
              </a:spcAft>
            </a:pPr>
            <a:r>
              <a:rPr b="1" sz="1250">
                <a:solidFill>
                  <a:srgbClr val="1E293B"/>
                </a:solidFill>
                <a:latin typeface="微软雅黑"/>
              </a:rPr>
              <a:t>政策导向：</a:t>
            </a:r>
            <a:r>
              <a:rPr sz="1250">
                <a:solidFill>
                  <a:srgbClr val="1E293B"/>
                </a:solidFill>
                <a:latin typeface="宋体"/>
              </a:rPr>
              <a:t>评估政府行政干预与竞争政策在防范市场势力滥用中的边界。</a:t>
            </a:r>
          </a:p>
          <a:p>
            <a:pPr>
              <a:spcAft>
                <a:spcPts val="600"/>
              </a:spcAft>
            </a:pPr>
            <a:r>
              <a:rPr b="1" sz="1250">
                <a:solidFill>
                  <a:srgbClr val="1E293B"/>
                </a:solidFill>
                <a:latin typeface="微软雅黑"/>
              </a:rPr>
              <a:t>治理创新：</a:t>
            </a:r>
            <a:r>
              <a:rPr sz="1250">
                <a:solidFill>
                  <a:srgbClr val="1E293B"/>
                </a:solidFill>
                <a:latin typeface="宋体"/>
              </a:rPr>
              <a:t>推动竞争政策基础地位与全国统一大市场建设的协同。</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731520" y="365760"/>
            <a:ext cx="10728655" cy="365760"/>
          </a:xfrm>
          <a:prstGeom prst="rect">
            <a:avLst/>
          </a:prstGeom>
          <a:noFill/>
        </p:spPr>
        <p:txBody>
          <a:bodyPr wrap="square">
            <a:spAutoFit/>
          </a:bodyPr>
          <a:lstStyle/>
          <a:p>
            <a:pPr>
              <a:defRPr sz="1000" b="1">
                <a:solidFill>
                  <a:srgbClr val="2D6A4F"/>
                </a:solidFill>
                <a:latin typeface="微软雅黑"/>
              </a:defRPr>
            </a:pPr>
            <a:r>
              <a:t>产业经济学（第3版）· 刘志彪 | 第九章  微观规制</a:t>
            </a:r>
          </a:p>
        </p:txBody>
      </p:sp>
      <p:sp>
        <p:nvSpPr>
          <p:cNvPr id="3" name="TextBox 2"/>
          <p:cNvSpPr txBox="1"/>
          <p:nvPr/>
        </p:nvSpPr>
        <p:spPr>
          <a:xfrm>
            <a:off x="731520" y="640080"/>
            <a:ext cx="10728655" cy="640080"/>
          </a:xfrm>
          <a:prstGeom prst="rect">
            <a:avLst/>
          </a:prstGeom>
          <a:noFill/>
        </p:spPr>
        <p:txBody>
          <a:bodyPr wrap="square">
            <a:spAutoFit/>
          </a:bodyPr>
          <a:lstStyle/>
          <a:p>
            <a:pPr>
              <a:defRPr sz="2200" b="1">
                <a:solidFill>
                  <a:srgbClr val="1B4965"/>
                </a:solidFill>
                <a:latin typeface="微软雅黑"/>
              </a:defRPr>
            </a:pPr>
            <a:r>
              <a:t>思考与研讨｜数字算法平台的微观规制探索</a:t>
            </a:r>
          </a:p>
        </p:txBody>
      </p:sp>
      <p:sp>
        <p:nvSpPr>
          <p:cNvPr id="4" name="Rectangle 3"/>
          <p:cNvSpPr/>
          <p:nvPr/>
        </p:nvSpPr>
        <p:spPr>
          <a:xfrm>
            <a:off x="731520" y="1280160"/>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6400800"/>
            <a:ext cx="10728655" cy="274320"/>
          </a:xfrm>
          <a:prstGeom prst="rect">
            <a:avLst/>
          </a:prstGeom>
          <a:noFill/>
        </p:spPr>
        <p:txBody>
          <a:bodyPr wrap="none">
            <a:spAutoFit/>
          </a:bodyPr>
          <a:lstStyle/>
          <a:p>
            <a:pPr algn="r">
              <a:defRPr sz="1000">
                <a:solidFill>
                  <a:srgbClr val="64748B"/>
                </a:solidFill>
                <a:latin typeface="微软雅黑"/>
              </a:defRPr>
            </a:pPr>
            <a:r>
              <a:t>主线视角：市场势力（Market Power）的演化与规制  |  第 16 / 16 页</a:t>
            </a:r>
          </a:p>
        </p:txBody>
      </p:sp>
      <p:sp>
        <p:nvSpPr>
          <p:cNvPr id="6" name="Rounded Rectangle 5"/>
          <p:cNvSpPr/>
          <p:nvPr/>
        </p:nvSpPr>
        <p:spPr>
          <a:xfrm>
            <a:off x="731520" y="1554480"/>
            <a:ext cx="5120640" cy="45720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1554480"/>
            <a:ext cx="5120640" cy="73152"/>
          </a:xfrm>
          <a:prstGeom prst="rect">
            <a:avLst/>
          </a:prstGeom>
          <a:solidFill>
            <a:srgbClr val="1B496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1737360"/>
            <a:ext cx="4754880" cy="4297680"/>
          </a:xfrm>
          <a:prstGeom prst="rect">
            <a:avLst/>
          </a:prstGeom>
          <a:noFill/>
        </p:spPr>
        <p:txBody>
          <a:bodyPr wrap="square">
            <a:spAutoFit/>
          </a:bodyPr>
          <a:lstStyle/>
          <a:p>
            <a:pPr>
              <a:spcAft>
                <a:spcPts val="800"/>
              </a:spcAft>
              <a:defRPr sz="1500" b="1">
                <a:solidFill>
                  <a:srgbClr val="1B4965"/>
                </a:solidFill>
                <a:latin typeface="微软雅黑"/>
              </a:defRPr>
            </a:pPr>
            <a:r>
              <a:t>1. 算法推荐与外卖骑手算法规制</a:t>
            </a:r>
          </a:p>
          <a:p>
            <a:pPr>
              <a:spcAft>
                <a:spcPts val="600"/>
              </a:spcAft>
            </a:pPr>
            <a:r>
              <a:rPr b="1" sz="1250">
                <a:solidFill>
                  <a:srgbClr val="1E293B"/>
                </a:solidFill>
                <a:latin typeface="微软雅黑"/>
              </a:rPr>
              <a:t>问题：</a:t>
            </a:r>
            <a:r>
              <a:rPr sz="1250">
                <a:solidFill>
                  <a:srgbClr val="1E293B"/>
                </a:solidFill>
                <a:latin typeface="宋体"/>
              </a:rPr>
              <a:t>平台利用算法极端挤压骑手配送时间与劳动强度。</a:t>
            </a:r>
          </a:p>
          <a:p>
            <a:pPr>
              <a:spcAft>
                <a:spcPts val="600"/>
              </a:spcAft>
            </a:pPr>
            <a:r>
              <a:rPr b="1" sz="1250">
                <a:solidFill>
                  <a:srgbClr val="1E293B"/>
                </a:solidFill>
                <a:latin typeface="微软雅黑"/>
              </a:rPr>
              <a:t>规制：</a:t>
            </a:r>
            <a:r>
              <a:rPr sz="1250">
                <a:solidFill>
                  <a:srgbClr val="1E293B"/>
                </a:solidFill>
                <a:latin typeface="宋体"/>
              </a:rPr>
              <a:t>如何将社会劳动安全与公共利益纳入算法微观规制？</a:t>
            </a:r>
          </a:p>
        </p:txBody>
      </p:sp>
      <p:sp>
        <p:nvSpPr>
          <p:cNvPr id="9" name="Rounded Rectangle 8"/>
          <p:cNvSpPr/>
          <p:nvPr/>
        </p:nvSpPr>
        <p:spPr>
          <a:xfrm>
            <a:off x="6309360" y="1554480"/>
            <a:ext cx="5120640" cy="45720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309360" y="1554480"/>
            <a:ext cx="5120640" cy="73152"/>
          </a:xfrm>
          <a:prstGeom prst="rect">
            <a:avLst/>
          </a:prstGeom>
          <a:solidFill>
            <a:srgbClr val="2D6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92240" y="1737360"/>
            <a:ext cx="4754880" cy="4297680"/>
          </a:xfrm>
          <a:prstGeom prst="rect">
            <a:avLst/>
          </a:prstGeom>
          <a:noFill/>
        </p:spPr>
        <p:txBody>
          <a:bodyPr wrap="square">
            <a:spAutoFit/>
          </a:bodyPr>
          <a:lstStyle/>
          <a:p>
            <a:pPr>
              <a:spcAft>
                <a:spcPts val="800"/>
              </a:spcAft>
              <a:defRPr sz="1500" b="1">
                <a:solidFill>
                  <a:srgbClr val="2D6A4F"/>
                </a:solidFill>
                <a:latin typeface="微软雅黑"/>
              </a:defRPr>
            </a:pPr>
            <a:r>
              <a:t>2. 网约车平台抽成上限规制</a:t>
            </a:r>
          </a:p>
          <a:p>
            <a:pPr>
              <a:spcAft>
                <a:spcPts val="600"/>
              </a:spcAft>
            </a:pPr>
            <a:r>
              <a:rPr b="1" sz="1250">
                <a:solidFill>
                  <a:srgbClr val="1E293B"/>
                </a:solidFill>
                <a:latin typeface="微软雅黑"/>
              </a:rPr>
              <a:t>问题：</a:t>
            </a:r>
            <a:r>
              <a:rPr sz="1250">
                <a:solidFill>
                  <a:srgbClr val="1E293B"/>
                </a:solidFill>
                <a:latin typeface="宋体"/>
              </a:rPr>
              <a:t>网约车平台利用双边市场控制力收取高额抽成。</a:t>
            </a:r>
          </a:p>
          <a:p>
            <a:pPr>
              <a:spcAft>
                <a:spcPts val="600"/>
              </a:spcAft>
            </a:pPr>
            <a:r>
              <a:rPr b="1" sz="1250">
                <a:solidFill>
                  <a:srgbClr val="1E293B"/>
                </a:solidFill>
                <a:latin typeface="微软雅黑"/>
              </a:rPr>
              <a:t>规制：</a:t>
            </a:r>
            <a:r>
              <a:rPr sz="1250">
                <a:solidFill>
                  <a:srgbClr val="1E293B"/>
                </a:solidFill>
                <a:latin typeface="宋体"/>
              </a:rPr>
              <a:t>设定平台抽成上限是否符合市场化改革方向？</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