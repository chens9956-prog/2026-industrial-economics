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第三章  市场结构与市场绩效实证研究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【核心主线】：市场势力的度量指标与 SCP 实证范式检验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本章目录与市场势力（Market Power）主线映射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市场福利效应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消费者剩余与垄断无谓损失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市场势力滥用直接造成社会福利转移与净损失。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市场结构衡量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CRn、HHI 与 莱纳指数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提供量化评估企业与行业市场势力的工具。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市场结构与绩效实证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SCP 实证范式 vs Demsetz 效率假说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检验高集中度市场势力究竟源于垄断还是高效。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市场福利效应：剩余与无谓损失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消费者剩余与生产者剩余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消费者剩余 (CS)：</a:t>
            </a:r>
            <a:r>
              <a:rPr sz="1250">
                <a:solidFill>
                  <a:srgbClr val="1E293B"/>
                </a:solidFill>
                <a:latin typeface="宋体"/>
              </a:rPr>
              <a:t>消费者意愿支付最高价与实际支付价格之差。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生产者剩余 (PS)：</a:t>
            </a:r>
            <a:r>
              <a:rPr sz="1250">
                <a:solidFill>
                  <a:srgbClr val="1E293B"/>
                </a:solidFill>
                <a:latin typeface="宋体"/>
              </a:rPr>
              <a:t>企业实际销售收入与边际生产成本之差。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完全竞争最优化：</a:t>
            </a:r>
            <a:r>
              <a:rPr sz="1250">
                <a:solidFill>
                  <a:srgbClr val="1E293B"/>
                </a:solidFill>
                <a:latin typeface="宋体"/>
              </a:rPr>
              <a:t>P=MC 时，社会总福利 (CS+PS) 达到最大值。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垄断市场势力的无谓损失 (Deadweight Loss)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哈伯格三角 (Harberger Triangle)：</a:t>
            </a:r>
            <a:r>
              <a:rPr sz="1250">
                <a:solidFill>
                  <a:srgbClr val="1E293B"/>
                </a:solidFill>
                <a:latin typeface="宋体"/>
              </a:rPr>
              <a:t>垄断高价减少了交易量，造成的无法挽回的社会福利净损失。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塔洛克租金 (Tullock Rent)：</a:t>
            </a:r>
            <a:r>
              <a:rPr sz="1250">
                <a:solidFill>
                  <a:srgbClr val="1E293B"/>
                </a:solidFill>
                <a:latin typeface="宋体"/>
              </a:rPr>
              <a:t>企业为获取与维持垄断势力而投入的无谓寻租成本。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市场结构与垄断福利损耗的测算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哈伯格 (Harberger, 1954) 福利估算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估算方法：</a:t>
            </a:r>
            <a:r>
              <a:rPr sz="1250">
                <a:solidFill>
                  <a:srgbClr val="1E293B"/>
                </a:solidFill>
                <a:latin typeface="宋体"/>
              </a:rPr>
              <a:t>DWL = 1/2 * P * Q * eta * (dp/p)^2。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初始结论：</a:t>
            </a:r>
            <a:r>
              <a:rPr sz="1250">
                <a:solidFill>
                  <a:srgbClr val="1E293B"/>
                </a:solidFill>
                <a:latin typeface="宋体"/>
              </a:rPr>
              <a:t>美国制造业垄断造成的福利损失极小（不到 GNP 的 0.1%）。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考林与瓦特森 (Cowling &amp; Waterson) 修正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修正推导：</a:t>
            </a:r>
            <a:r>
              <a:rPr sz="1250">
                <a:solidFill>
                  <a:srgbClr val="1E293B"/>
                </a:solidFill>
                <a:latin typeface="宋体"/>
              </a:rPr>
              <a:t>DWL / Revenue = 1/2 * (HHI / |eta|)^2。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结论重塑：</a:t>
            </a:r>
            <a:r>
              <a:rPr sz="1250">
                <a:solidFill>
                  <a:srgbClr val="1E293B"/>
                </a:solidFill>
                <a:latin typeface="宋体"/>
              </a:rPr>
              <a:t>将集中度与需求弹性引入后，垄断福利损失占工业产值比重大幅提高！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市场集中度绝对指标：CRn 指数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绝对集中度 CRn 计算方法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计算公式：</a:t>
            </a:r>
            <a:r>
              <a:rPr sz="1250">
                <a:solidFill>
                  <a:srgbClr val="1E293B"/>
                </a:solidFill>
                <a:latin typeface="宋体"/>
              </a:rPr>
              <a:t>CR_n = sum_{i=1}^n S_i (前 n 家企业市场份额之和)。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常用指标：</a:t>
            </a:r>
            <a:r>
              <a:rPr sz="1250">
                <a:solidFill>
                  <a:srgbClr val="1E293B"/>
                </a:solidFill>
                <a:latin typeface="宋体"/>
              </a:rPr>
              <a:t>CR4 与 CR8 是国内外反垄断与统计中最常用的指标。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贝恩（Bain）市场结构分类标准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极高寡占型：</a:t>
            </a:r>
            <a:r>
              <a:rPr sz="1250">
                <a:solidFill>
                  <a:srgbClr val="1E293B"/>
                </a:solidFill>
                <a:latin typeface="宋体"/>
              </a:rPr>
              <a:t>CR4 &gt; 75% 或 CR8 &gt; 85%，市场势力极强。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高度寡占型：</a:t>
            </a:r>
            <a:r>
              <a:rPr sz="1250">
                <a:solidFill>
                  <a:srgbClr val="1E293B"/>
                </a:solidFill>
                <a:latin typeface="宋体"/>
              </a:rPr>
              <a:t>65% &lt; CR4 &lt; 75%，极易形成共谋。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低度寡占型：</a:t>
            </a:r>
            <a:r>
              <a:rPr sz="1250">
                <a:solidFill>
                  <a:srgbClr val="1E293B"/>
                </a:solidFill>
                <a:latin typeface="宋体"/>
              </a:rPr>
              <a:t>30% &lt; CR4 &lt; 50%，存在一定价格竞争。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竞争型市场：</a:t>
            </a:r>
            <a:r>
              <a:rPr sz="1250">
                <a:solidFill>
                  <a:srgbClr val="1E293B"/>
                </a:solidFill>
                <a:latin typeface="宋体"/>
              </a:rPr>
              <a:t>CR4 &lt; 30%，市场势力微弱。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市场集中度相对指标：HHI 指数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赫芬达尔-赫希曼指数 (HHI) 的优越性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计算公式：</a:t>
            </a:r>
            <a:r>
              <a:rPr sz="1250">
                <a:solidFill>
                  <a:srgbClr val="1E293B"/>
                </a:solidFill>
                <a:latin typeface="宋体"/>
              </a:rPr>
              <a:t>HHI = sum_{i=1}^N S_i^2 (所有企业份额平方和)。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敏感度特征：</a:t>
            </a:r>
            <a:r>
              <a:rPr sz="1250">
                <a:solidFill>
                  <a:srgbClr val="1E293B"/>
                </a:solidFill>
                <a:latin typeface="宋体"/>
              </a:rPr>
              <a:t>赋予大企业更高的平方权重，能敏锐反映大企业并购与份额集中。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反垄断审查应用（美国 DOJ / FTC 指南）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低度集中：</a:t>
            </a:r>
            <a:r>
              <a:rPr sz="1250">
                <a:solidFill>
                  <a:srgbClr val="1E293B"/>
                </a:solidFill>
                <a:latin typeface="宋体"/>
              </a:rPr>
              <a:t>HHI &lt; 1500，并购通常直接获批。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中度集中：</a:t>
            </a:r>
            <a:r>
              <a:rPr sz="1250">
                <a:solidFill>
                  <a:srgbClr val="1E293B"/>
                </a:solidFill>
                <a:latin typeface="宋体"/>
              </a:rPr>
              <a:t>1500 &lt; HHI &lt; 2500，并购增加超 100 点引发审查。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高度集中：</a:t>
            </a:r>
            <a:r>
              <a:rPr sz="1250">
                <a:solidFill>
                  <a:srgbClr val="1E293B"/>
                </a:solidFill>
                <a:latin typeface="宋体"/>
              </a:rPr>
              <a:t>HHI &gt; 2500，并购增加超 200 点推定具有反竞争效应。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市场控制力指标：莱纳指数与加价率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莱纳指数 (Lerner Index, L)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公式定义：</a:t>
            </a:r>
            <a:r>
              <a:rPr sz="1250">
                <a:solidFill>
                  <a:srgbClr val="1E293B"/>
                </a:solidFill>
                <a:latin typeface="宋体"/>
              </a:rPr>
              <a:t>L = (P - MC) / P。完全竞争 L=0；纯粹垄断 L 接近 1。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弹性推导：</a:t>
            </a:r>
            <a:r>
              <a:rPr sz="1250">
                <a:solidFill>
                  <a:srgbClr val="1E293B"/>
                </a:solidFill>
                <a:latin typeface="宋体"/>
              </a:rPr>
              <a:t>在垄断均衡下，L = 1 / |e|。需求弹性越小，垄断加价空间越大。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加价率 (Markup) 与 托宾 Q 值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Markup 测算：</a:t>
            </a:r>
            <a:r>
              <a:rPr sz="1250">
                <a:solidFill>
                  <a:srgbClr val="1E293B"/>
                </a:solidFill>
                <a:latin typeface="宋体"/>
              </a:rPr>
              <a:t>Markup = P / MC。用于宏观实证中估计全行业市场势力演进。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Tobins Q：</a:t>
            </a:r>
            <a:r>
              <a:rPr sz="1250">
                <a:solidFill>
                  <a:srgbClr val="1E293B"/>
                </a:solidFill>
                <a:latin typeface="宋体"/>
              </a:rPr>
              <a:t>Q = 市场价值 / 资产重置成本。Q 长期大于 1 表明存在持续超额垄断租金。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传统 SCP 实证范式及其检验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贝恩（Bain）经典回归方程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模型方程：</a:t>
            </a:r>
            <a:r>
              <a:rPr sz="1250">
                <a:solidFill>
                  <a:srgbClr val="1E293B"/>
                </a:solidFill>
                <a:latin typeface="宋体"/>
              </a:rPr>
              <a:t>利润率 Profit = alpha + beta * CR4 + gamma * 壁垒 Barrier + epsilon。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实证结论：</a:t>
            </a:r>
            <a:r>
              <a:rPr sz="1250">
                <a:solidFill>
                  <a:srgbClr val="1E293B"/>
                </a:solidFill>
                <a:latin typeface="宋体"/>
              </a:rPr>
              <a:t>行业集中度 CR4 显著正向影响企业的资本利润率。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传统范式的政策主张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结构主义取向：</a:t>
            </a:r>
            <a:r>
              <a:rPr sz="1250">
                <a:solidFill>
                  <a:srgbClr val="1E293B"/>
                </a:solidFill>
                <a:latin typeface="宋体"/>
              </a:rPr>
              <a:t>高集中度导致高垄断价格与福利损害，主张拆分大企业。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德姆塞茨（Demsetz）效率假说的挑战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效率假说 (Efficiency Hypothesis)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核心观点：</a:t>
            </a:r>
            <a:r>
              <a:rPr sz="1250">
                <a:solidFill>
                  <a:srgbClr val="1E293B"/>
                </a:solidFill>
                <a:latin typeface="宋体"/>
              </a:rPr>
              <a:t>高集中度是高效企业通过技术与管理优势在竞争中胜出的结果！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因果逆转：</a:t>
            </a:r>
            <a:r>
              <a:rPr sz="1250">
                <a:solidFill>
                  <a:srgbClr val="1E293B"/>
                </a:solidFill>
                <a:latin typeface="宋体"/>
              </a:rPr>
              <a:t>不是高集中度导致了高利润，而是高效率同时带来了高份额与高利润。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两种假说的实证识别模型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回归检验：</a:t>
            </a:r>
            <a:r>
              <a:rPr sz="1250">
                <a:solidFill>
                  <a:srgbClr val="1E293B"/>
                </a:solidFill>
                <a:latin typeface="宋体"/>
              </a:rPr>
              <a:t>Profit = a + b*CR4 + c*Share (放入企业个人份额 Share)。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判定依据：</a:t>
            </a:r>
            <a:r>
              <a:rPr sz="1250">
                <a:solidFill>
                  <a:srgbClr val="1E293B"/>
                </a:solidFill>
                <a:latin typeface="宋体"/>
              </a:rPr>
              <a:t>若 c 显著而 b 不显著，支持效率假说；反之支持 SCP 假说。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相关市场界定与 SSNIP 测试方法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相关市场（Relevant Market）界定原则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两个维度：</a:t>
            </a:r>
            <a:r>
              <a:rPr sz="1250">
                <a:solidFill>
                  <a:srgbClr val="1E293B"/>
                </a:solidFill>
                <a:latin typeface="宋体"/>
              </a:rPr>
              <a:t>相关商品市场（Product Market）与相关地域市场（Geographic Market）。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核心依据：</a:t>
            </a:r>
            <a:r>
              <a:rPr sz="1250">
                <a:solidFill>
                  <a:srgbClr val="1E293B"/>
                </a:solidFill>
                <a:latin typeface="宋体"/>
              </a:rPr>
              <a:t>需求替代性（Demand Substitutability）与供给替代性。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SSNIP 测试 (假想垄断者测试)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测试过程：</a:t>
            </a:r>
            <a:r>
              <a:rPr sz="1250">
                <a:solidFill>
                  <a:srgbClr val="1E293B"/>
                </a:solidFill>
                <a:latin typeface="宋体"/>
              </a:rPr>
              <a:t>假想垄断者持续小幅（5%-10%）提高价格，观察消费者是否转向其他产品。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边界界定：</a:t>
            </a:r>
            <a:r>
              <a:rPr sz="1250">
                <a:solidFill>
                  <a:srgbClr val="1E293B"/>
                </a:solidFill>
                <a:latin typeface="宋体"/>
              </a:rPr>
              <a:t>若提价导致利润下降，则扩大商品界定范围，直到提价可无损实现。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数据要素驱动的市场集中度与加价率重估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近二十年全球 Mark-up 持续上升趋势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De Loecker et al. (2020) 研究：</a:t>
            </a:r>
            <a:r>
              <a:rPr sz="1250">
                <a:solidFill>
                  <a:srgbClr val="1E293B"/>
                </a:solidFill>
                <a:latin typeface="宋体"/>
              </a:rPr>
              <a:t>全球巨头平均加价率从 1980 年的 1.18 飙升至 2016 年的 1.67。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驱动力：</a:t>
            </a:r>
            <a:r>
              <a:rPr sz="1250">
                <a:solidFill>
                  <a:srgbClr val="1E293B"/>
                </a:solidFill>
                <a:latin typeface="宋体"/>
              </a:rPr>
              <a:t>科技巨头的技术专利、数据要素壁垒与网络效应。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劳动收入份额下降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宏观效应：</a:t>
            </a:r>
            <a:r>
              <a:rPr sz="1250">
                <a:solidFill>
                  <a:srgbClr val="1E293B"/>
                </a:solidFill>
                <a:latin typeface="宋体"/>
              </a:rPr>
              <a:t>市场势力上升拉大了资本收益率，挤压了劳动报酬份额。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实证产业组织 (Empirical IO) 的结构估计革命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传统计量方法局限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内生性问题：</a:t>
            </a:r>
            <a:r>
              <a:rPr sz="1250">
                <a:solidFill>
                  <a:srgbClr val="1E293B"/>
                </a:solidFill>
                <a:latin typeface="宋体"/>
              </a:rPr>
              <a:t>集中度与利润率互为因果；边际成本 MC 难以直接观测。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结构估计方法 (Structural Estimation)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BLP 模型：</a:t>
            </a:r>
            <a:r>
              <a:rPr sz="1250">
                <a:solidFill>
                  <a:srgbClr val="1E293B"/>
                </a:solidFill>
                <a:latin typeface="宋体"/>
              </a:rPr>
              <a:t>Berry-Levinsohn-Pakes (1995) 随机系数 Logit 需求估计。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生产率估计：</a:t>
            </a:r>
            <a:r>
              <a:rPr sz="1250">
                <a:solidFill>
                  <a:srgbClr val="1E293B"/>
                </a:solidFill>
                <a:latin typeface="宋体"/>
              </a:rPr>
              <a:t>Olley-Pakes (OP) 与 Levinsohn-Petrin (LP) 半参数估计法。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中国工业企业数据库与市场结构演变实证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中国制造业集中度与利润率特征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演进轨迹：</a:t>
            </a:r>
            <a:r>
              <a:rPr sz="1250">
                <a:solidFill>
                  <a:srgbClr val="1E293B"/>
                </a:solidFill>
                <a:latin typeface="宋体"/>
              </a:rPr>
              <a:t>改革开放以来经历了由分散竞争向部分行业高度集中的演化。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所有制差异：</a:t>
            </a:r>
            <a:r>
              <a:rPr sz="1250">
                <a:solidFill>
                  <a:srgbClr val="1E293B"/>
                </a:solidFill>
                <a:latin typeface="宋体"/>
              </a:rPr>
              <a:t>国有企业占比高的重化工业集中度高，民企聚集的轻工业集中度低。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统一大市场建设对市场势力的影响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地方保护消除：</a:t>
            </a:r>
            <a:r>
              <a:rPr sz="1250">
                <a:solidFill>
                  <a:srgbClr val="1E293B"/>
                </a:solidFill>
                <a:latin typeface="宋体"/>
              </a:rPr>
              <a:t>打破行政壁垒扩大了地域相关市场，降低了地方垄断企业的市场势力。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市场势力度量指标与方法对比矩阵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度量指标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计算公式 / 方法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衡量对象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局限性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CRn 指数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sum_{i=1}^n 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绝对集中度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数据易获取、直观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忽略前 n 家内部份额分布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HHI 指数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sum_{i=1}^N Si^2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总体集中度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敏感度高，考虑全市场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需要所有企业全量数据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莱纳指数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(P - MC) /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个体市场势力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理论最直接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边际成本 MC 难以精准观测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SSNIP 测试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假想 5%-10% 提价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相关市场边界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逻辑严密，广泛应用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面临玻璃纸谬误 (Cellophane Fallacy)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 15 节 延伸视角｜市场结构度量与市场势力深度研讨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市场势力（Market Power）拓展分析 15-A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围绕《产业经济学》（第3版）第3章的核心机制进行博弈与福利深化。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 15-B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第三章  市场结构与市场绩效实证研究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思考与研讨｜数字经济时代市场势力度量难题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零价格模式下的相关市场界定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背景：</a:t>
            </a:r>
            <a:r>
              <a:rPr sz="1250">
                <a:solidFill>
                  <a:srgbClr val="1E293B"/>
                </a:solidFill>
                <a:latin typeface="宋体"/>
              </a:rPr>
              <a:t>搜索引擎、社交软件对消费者收取零价格 ($P=0$)。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SSNIP 测试基于提价百分比，在零价格基数下如何实施？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数据资产与跨界市场势力传导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背景：</a:t>
            </a:r>
            <a:r>
              <a:rPr sz="1250">
                <a:solidFill>
                  <a:srgbClr val="1E293B"/>
                </a:solidFill>
                <a:latin typeface="宋体"/>
              </a:rPr>
              <a:t>平台企业利用核心业务积累的数据向电商、金融、云服务跨界渗透。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如何量化数据资产带来的跨界市场支配力？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