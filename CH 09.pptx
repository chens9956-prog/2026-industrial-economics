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1097280"/>
          </a:xfrm>
          <a:prstGeom prst="rect">
            <a:avLst/>
          </a:prstGeom>
          <a:noFill/>
        </p:spPr>
        <p:txBody>
          <a:bodyPr wrap="none">
            <a:spAutoFit/>
          </a:bodyPr>
          <a:lstStyle/>
          <a:p>
            <a:pPr>
              <a:defRPr sz="5400" b="1">
                <a:solidFill>
                  <a:srgbClr val="FFFFFF"/>
                </a:solidFill>
                <a:latin typeface="Microsoft YaHei"/>
              </a:defRPr>
            </a:pPr>
            <a:r>
              <a:t>CH 09</a:t>
            </a:r>
          </a:p>
        </p:txBody>
      </p:sp>
      <p:sp>
        <p:nvSpPr>
          <p:cNvPr id="5" name="Rectangle 4"/>
          <p:cNvSpPr/>
          <p:nvPr/>
        </p:nvSpPr>
        <p:spPr>
          <a:xfrm>
            <a:off x="777240" y="2743200"/>
            <a:ext cx="1371600"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457200"/>
          </a:xfrm>
          <a:prstGeom prst="rect">
            <a:avLst/>
          </a:prstGeom>
          <a:noFill/>
        </p:spPr>
        <p:txBody>
          <a:bodyPr wrap="none">
            <a:spAutoFit/>
          </a:bodyPr>
          <a:lstStyle/>
          <a:p>
            <a:pPr>
              <a:defRPr sz="2000">
                <a:solidFill>
                  <a:srgbClr val="D6EAF8"/>
                </a:solidFill>
                <a:latin typeface="Microsoft YaHei"/>
              </a:defRPr>
            </a:pPr>
            <a:r>
              <a:t>产业经济学</a:t>
            </a:r>
          </a:p>
        </p:txBody>
      </p:sp>
      <p:sp>
        <p:nvSpPr>
          <p:cNvPr id="7" name="TextBox 6"/>
          <p:cNvSpPr txBox="1"/>
          <p:nvPr/>
        </p:nvSpPr>
        <p:spPr>
          <a:xfrm>
            <a:off x="731520" y="3291840"/>
            <a:ext cx="3200400" cy="365760"/>
          </a:xfrm>
          <a:prstGeom prst="rect">
            <a:avLst/>
          </a:prstGeom>
          <a:noFill/>
        </p:spPr>
        <p:txBody>
          <a:bodyPr wrap="none">
            <a:spAutoFit/>
          </a:bodyPr>
          <a:lstStyle/>
          <a:p>
            <a:pPr>
              <a:defRPr sz="1400">
                <a:solidFill>
                  <a:srgbClr val="9DC3E6"/>
                </a:solidFill>
                <a:latin typeface="Microsoft YaHei"/>
              </a:defRPr>
            </a:pPr>
            <a:r>
              <a:t>刘志彪 主编（第3版）</a:t>
            </a:r>
          </a:p>
        </p:txBody>
      </p:sp>
      <p:sp>
        <p:nvSpPr>
          <p:cNvPr id="8" name="TextBox 7"/>
          <p:cNvSpPr txBox="1"/>
          <p:nvPr/>
        </p:nvSpPr>
        <p:spPr>
          <a:xfrm>
            <a:off x="5303520" y="1828800"/>
            <a:ext cx="6217920" cy="914400"/>
          </a:xfrm>
          <a:prstGeom prst="rect">
            <a:avLst/>
          </a:prstGeom>
          <a:noFill/>
        </p:spPr>
        <p:txBody>
          <a:bodyPr wrap="none">
            <a:spAutoFit/>
          </a:bodyPr>
          <a:lstStyle/>
          <a:p>
            <a:pPr>
              <a:defRPr sz="2200" b="1">
                <a:solidFill>
                  <a:srgbClr val="2E86C1"/>
                </a:solidFill>
                <a:latin typeface="Microsoft YaHei"/>
              </a:defRPr>
            </a:pPr>
            <a:r>
              <a:t>第九章</a:t>
            </a:r>
          </a:p>
        </p:txBody>
      </p:sp>
      <p:sp>
        <p:nvSpPr>
          <p:cNvPr id="9" name="TextBox 8"/>
          <p:cNvSpPr txBox="1"/>
          <p:nvPr/>
        </p:nvSpPr>
        <p:spPr>
          <a:xfrm>
            <a:off x="5303520" y="2377440"/>
            <a:ext cx="6217920" cy="1463040"/>
          </a:xfrm>
          <a:prstGeom prst="rect">
            <a:avLst/>
          </a:prstGeom>
          <a:noFill/>
        </p:spPr>
        <p:txBody>
          <a:bodyPr wrap="none">
            <a:spAutoFit/>
          </a:bodyPr>
          <a:lstStyle/>
          <a:p>
            <a:pPr>
              <a:defRPr sz="3200" b="1">
                <a:solidFill>
                  <a:srgbClr val="1B3A5C"/>
                </a:solidFill>
                <a:latin typeface="Microsoft YaHei"/>
              </a:defRPr>
            </a:pPr>
            <a:r>
              <a:t>网络与标准竞争</a:t>
            </a:r>
          </a:p>
        </p:txBody>
      </p:sp>
      <p:sp>
        <p:nvSpPr>
          <p:cNvPr id="10" name="Rectangle 9"/>
          <p:cNvSpPr/>
          <p:nvPr/>
        </p:nvSpPr>
        <p:spPr>
          <a:xfrm>
            <a:off x="5349240" y="3383280"/>
            <a:ext cx="1828800"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3657600"/>
            <a:ext cx="6126480" cy="2560320"/>
          </a:xfrm>
          <a:prstGeom prst="rect">
            <a:avLst/>
          </a:prstGeom>
          <a:noFill/>
        </p:spPr>
        <p:txBody>
          <a:bodyPr wrap="square">
            <a:spAutoFit/>
          </a:bodyPr>
          <a:lstStyle/>
          <a:p>
            <a:pPr>
              <a:spcAft>
                <a:spcPts val="800"/>
              </a:spcAft>
              <a:defRPr sz="1400">
                <a:solidFill>
                  <a:srgbClr val="6B6B6B"/>
                </a:solidFill>
                <a:latin typeface="Microsoft YaHei"/>
              </a:defRPr>
            </a:pPr>
            <a:r>
              <a:t>- 网络外部性：消费者预期与关键数量</a:t>
            </a:r>
          </a:p>
          <a:p>
            <a:pPr>
              <a:spcAft>
                <a:spcPts val="800"/>
              </a:spcAft>
              <a:defRPr sz="1400">
                <a:solidFill>
                  <a:srgbClr val="6B6B6B"/>
                </a:solidFill>
                <a:latin typeface="Microsoft YaHei"/>
              </a:defRPr>
            </a:pPr>
            <a:r>
              <a:t>- 平台经济与双边市场</a:t>
            </a:r>
          </a:p>
          <a:p>
            <a:pPr>
              <a:spcAft>
                <a:spcPts val="800"/>
              </a:spcAft>
              <a:defRPr sz="1400">
                <a:solidFill>
                  <a:srgbClr val="6B6B6B"/>
                </a:solidFill>
                <a:latin typeface="Microsoft YaHei"/>
              </a:defRPr>
            </a:pPr>
            <a:r>
              <a:t>- 标准选择、路径依赖与技术升级</a:t>
            </a:r>
          </a:p>
          <a:p>
            <a:pPr>
              <a:spcAft>
                <a:spcPts val="800"/>
              </a:spcAft>
              <a:defRPr sz="1400">
                <a:solidFill>
                  <a:srgbClr val="6B6B6B"/>
                </a:solidFill>
                <a:latin typeface="Microsoft YaHei"/>
              </a:defRPr>
            </a:pPr>
            <a:r>
              <a:t>- 兼容性策略与公共政策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本章概览</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知识结构与逻辑框架</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a:t>
            </a:r>
          </a:p>
        </p:txBody>
      </p:sp>
      <p:sp>
        <p:nvSpPr>
          <p:cNvPr id="9" name="Rectangle 8"/>
          <p:cNvSpPr/>
          <p:nvPr/>
        </p:nvSpPr>
        <p:spPr>
          <a:xfrm>
            <a:off x="457200" y="1371600"/>
            <a:ext cx="3611880" cy="4114800"/>
          </a:xfrm>
          <a:prstGeom prst="rect">
            <a:avLst/>
          </a:prstGeom>
          <a:solidFill>
            <a:srgbClr val="F5F7FA"/>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361188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45920"/>
            <a:ext cx="3200400" cy="640080"/>
          </a:xfrm>
          <a:prstGeom prst="rect">
            <a:avLst/>
          </a:prstGeom>
          <a:noFill/>
        </p:spPr>
        <p:txBody>
          <a:bodyPr wrap="none">
            <a:spAutoFit/>
          </a:bodyPr>
          <a:lstStyle/>
          <a:p>
            <a:pPr>
              <a:defRPr sz="3400" b="1">
                <a:solidFill>
                  <a:srgbClr val="1B3A5C"/>
                </a:solidFill>
                <a:latin typeface="Microsoft YaHei"/>
              </a:defRPr>
            </a:pPr>
            <a:r>
              <a:t>01</a:t>
            </a:r>
          </a:p>
        </p:txBody>
      </p:sp>
      <p:sp>
        <p:nvSpPr>
          <p:cNvPr id="12" name="TextBox 11"/>
          <p:cNvSpPr txBox="1"/>
          <p:nvPr/>
        </p:nvSpPr>
        <p:spPr>
          <a:xfrm>
            <a:off x="640080" y="2377440"/>
            <a:ext cx="3200400" cy="457200"/>
          </a:xfrm>
          <a:prstGeom prst="rect">
            <a:avLst/>
          </a:prstGeom>
          <a:noFill/>
        </p:spPr>
        <p:txBody>
          <a:bodyPr wrap="none">
            <a:spAutoFit/>
          </a:bodyPr>
          <a:lstStyle/>
          <a:p>
            <a:pPr>
              <a:defRPr sz="1600" b="1">
                <a:solidFill>
                  <a:srgbClr val="1B3A5C"/>
                </a:solidFill>
                <a:latin typeface="Microsoft YaHei"/>
              </a:defRPr>
            </a:pPr>
            <a:r>
              <a:t>网络外部性</a:t>
            </a:r>
          </a:p>
        </p:txBody>
      </p:sp>
      <p:sp>
        <p:nvSpPr>
          <p:cNvPr id="13" name="TextBox 12"/>
          <p:cNvSpPr txBox="1"/>
          <p:nvPr/>
        </p:nvSpPr>
        <p:spPr>
          <a:xfrm>
            <a:off x="640080" y="3017520"/>
            <a:ext cx="3200400" cy="2011680"/>
          </a:xfrm>
          <a:prstGeom prst="rect">
            <a:avLst/>
          </a:prstGeom>
          <a:noFill/>
        </p:spPr>
        <p:txBody>
          <a:bodyPr wrap="square">
            <a:spAutoFit/>
          </a:bodyPr>
          <a:lstStyle/>
          <a:p>
            <a:pPr>
              <a:spcAft>
                <a:spcPts val="400"/>
              </a:spcAft>
              <a:defRPr sz="1200">
                <a:solidFill>
                  <a:srgbClr val="6B6B6B"/>
                </a:solidFill>
                <a:latin typeface="Microsoft YaHei"/>
              </a:defRPr>
            </a:pPr>
            <a:r>
              <a:t>· 消费者预期与关键数量</a:t>
            </a:r>
          </a:p>
          <a:p>
            <a:pPr>
              <a:spcAft>
                <a:spcPts val="400"/>
              </a:spcAft>
              <a:defRPr sz="1200">
                <a:solidFill>
                  <a:srgbClr val="6B6B6B"/>
                </a:solidFill>
                <a:latin typeface="Microsoft YaHei"/>
              </a:defRPr>
            </a:pPr>
            <a:r>
              <a:t>· 倒U形需求曲线</a:t>
            </a:r>
          </a:p>
          <a:p>
            <a:pPr>
              <a:spcAft>
                <a:spcPts val="400"/>
              </a:spcAft>
              <a:defRPr sz="1200">
                <a:solidFill>
                  <a:srgbClr val="6B6B6B"/>
                </a:solidFill>
                <a:latin typeface="Microsoft YaHei"/>
              </a:defRPr>
            </a:pPr>
            <a:r>
              <a:t>· 平台经济与双边市场</a:t>
            </a:r>
          </a:p>
          <a:p>
            <a:pPr>
              <a:spcAft>
                <a:spcPts val="400"/>
              </a:spcAft>
              <a:defRPr sz="1200">
                <a:solidFill>
                  <a:srgbClr val="6B6B6B"/>
                </a:solidFill>
                <a:latin typeface="Microsoft YaHei"/>
              </a:defRPr>
            </a:pPr>
            <a:r>
              <a:t>· 多属行为与平台竞争</a:t>
            </a:r>
          </a:p>
        </p:txBody>
      </p:sp>
      <p:sp>
        <p:nvSpPr>
          <p:cNvPr id="14" name="TextBox 13"/>
          <p:cNvSpPr txBox="1"/>
          <p:nvPr/>
        </p:nvSpPr>
        <p:spPr>
          <a:xfrm>
            <a:off x="640080" y="4937760"/>
            <a:ext cx="3200400" cy="365760"/>
          </a:xfrm>
          <a:prstGeom prst="rect">
            <a:avLst/>
          </a:prstGeom>
          <a:noFill/>
        </p:spPr>
        <p:txBody>
          <a:bodyPr wrap="none">
            <a:spAutoFit/>
          </a:bodyPr>
          <a:lstStyle/>
          <a:p>
            <a:pPr>
              <a:defRPr sz="1100" b="1">
                <a:solidFill>
                  <a:srgbClr val="1B3A5C"/>
                </a:solidFill>
                <a:latin typeface="Microsoft YaHei"/>
              </a:defRPr>
            </a:pPr>
            <a:r>
              <a:t>「需求有何特殊性」</a:t>
            </a:r>
          </a:p>
        </p:txBody>
      </p:sp>
      <p:sp>
        <p:nvSpPr>
          <p:cNvPr id="15" name="Rectangle 14"/>
          <p:cNvSpPr/>
          <p:nvPr/>
        </p:nvSpPr>
        <p:spPr>
          <a:xfrm>
            <a:off x="4215384" y="1371600"/>
            <a:ext cx="3611880" cy="4114800"/>
          </a:xfrm>
          <a:prstGeom prst="rect">
            <a:avLst/>
          </a:prstGeom>
          <a:solidFill>
            <a:srgbClr val="F5F7FA"/>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15384" y="1371600"/>
            <a:ext cx="361188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4" y="1645920"/>
            <a:ext cx="3200400" cy="640080"/>
          </a:xfrm>
          <a:prstGeom prst="rect">
            <a:avLst/>
          </a:prstGeom>
          <a:noFill/>
        </p:spPr>
        <p:txBody>
          <a:bodyPr wrap="none">
            <a:spAutoFit/>
          </a:bodyPr>
          <a:lstStyle/>
          <a:p>
            <a:pPr>
              <a:defRPr sz="3400" b="1">
                <a:solidFill>
                  <a:srgbClr val="2E86C1"/>
                </a:solidFill>
                <a:latin typeface="Microsoft YaHei"/>
              </a:defRPr>
            </a:pPr>
            <a:r>
              <a:t>02</a:t>
            </a:r>
          </a:p>
        </p:txBody>
      </p:sp>
      <p:sp>
        <p:nvSpPr>
          <p:cNvPr id="18" name="TextBox 17"/>
          <p:cNvSpPr txBox="1"/>
          <p:nvPr/>
        </p:nvSpPr>
        <p:spPr>
          <a:xfrm>
            <a:off x="4398264" y="2377440"/>
            <a:ext cx="3200400" cy="457200"/>
          </a:xfrm>
          <a:prstGeom prst="rect">
            <a:avLst/>
          </a:prstGeom>
          <a:noFill/>
        </p:spPr>
        <p:txBody>
          <a:bodyPr wrap="none">
            <a:spAutoFit/>
          </a:bodyPr>
          <a:lstStyle/>
          <a:p>
            <a:pPr>
              <a:defRPr sz="1600" b="1">
                <a:solidFill>
                  <a:srgbClr val="1B3A5C"/>
                </a:solidFill>
                <a:latin typeface="Microsoft YaHei"/>
              </a:defRPr>
            </a:pPr>
            <a:r>
              <a:t>标准与兼容性</a:t>
            </a:r>
          </a:p>
        </p:txBody>
      </p:sp>
      <p:sp>
        <p:nvSpPr>
          <p:cNvPr id="19" name="TextBox 18"/>
          <p:cNvSpPr txBox="1"/>
          <p:nvPr/>
        </p:nvSpPr>
        <p:spPr>
          <a:xfrm>
            <a:off x="4398264" y="3017520"/>
            <a:ext cx="3200400" cy="2011680"/>
          </a:xfrm>
          <a:prstGeom prst="rect">
            <a:avLst/>
          </a:prstGeom>
          <a:noFill/>
        </p:spPr>
        <p:txBody>
          <a:bodyPr wrap="square">
            <a:spAutoFit/>
          </a:bodyPr>
          <a:lstStyle/>
          <a:p>
            <a:pPr>
              <a:spcAft>
                <a:spcPts val="400"/>
              </a:spcAft>
              <a:defRPr sz="1200">
                <a:solidFill>
                  <a:srgbClr val="6B6B6B"/>
                </a:solidFill>
                <a:latin typeface="Microsoft YaHei"/>
              </a:defRPr>
            </a:pPr>
            <a:r>
              <a:t>· 标准选择的均衡分析</a:t>
            </a:r>
          </a:p>
          <a:p>
            <a:pPr>
              <a:spcAft>
                <a:spcPts val="400"/>
              </a:spcAft>
              <a:defRPr sz="1200">
                <a:solidFill>
                  <a:srgbClr val="6B6B6B"/>
                </a:solidFill>
                <a:latin typeface="Microsoft YaHei"/>
              </a:defRPr>
            </a:pPr>
            <a:r>
              <a:t>· 路径依赖与锁定效应</a:t>
            </a:r>
          </a:p>
          <a:p>
            <a:pPr>
              <a:spcAft>
                <a:spcPts val="400"/>
              </a:spcAft>
              <a:defRPr sz="1200">
                <a:solidFill>
                  <a:srgbClr val="6B6B6B"/>
                </a:solidFill>
                <a:latin typeface="Microsoft YaHei"/>
              </a:defRPr>
            </a:pPr>
            <a:r>
              <a:t>· 过度惰性与过度积极</a:t>
            </a:r>
          </a:p>
          <a:p>
            <a:pPr>
              <a:spcAft>
                <a:spcPts val="400"/>
              </a:spcAft>
              <a:defRPr sz="1200">
                <a:solidFill>
                  <a:srgbClr val="6B6B6B"/>
                </a:solidFill>
                <a:latin typeface="Microsoft YaHei"/>
              </a:defRPr>
            </a:pPr>
            <a:r>
              <a:t>· 兼容性的战略权衡</a:t>
            </a:r>
          </a:p>
        </p:txBody>
      </p:sp>
      <p:sp>
        <p:nvSpPr>
          <p:cNvPr id="20" name="TextBox 19"/>
          <p:cNvSpPr txBox="1"/>
          <p:nvPr/>
        </p:nvSpPr>
        <p:spPr>
          <a:xfrm>
            <a:off x="4398264" y="4937760"/>
            <a:ext cx="3200400" cy="365760"/>
          </a:xfrm>
          <a:prstGeom prst="rect">
            <a:avLst/>
          </a:prstGeom>
          <a:noFill/>
        </p:spPr>
        <p:txBody>
          <a:bodyPr wrap="none">
            <a:spAutoFit/>
          </a:bodyPr>
          <a:lstStyle/>
          <a:p>
            <a:pPr>
              <a:defRPr sz="1100" b="1">
                <a:solidFill>
                  <a:srgbClr val="2E86C1"/>
                </a:solidFill>
                <a:latin typeface="Microsoft YaHei"/>
              </a:defRPr>
            </a:pPr>
            <a:r>
              <a:t>「厂商如何竞争」</a:t>
            </a:r>
          </a:p>
        </p:txBody>
      </p:sp>
      <p:sp>
        <p:nvSpPr>
          <p:cNvPr id="21" name="Rectangle 20"/>
          <p:cNvSpPr/>
          <p:nvPr/>
        </p:nvSpPr>
        <p:spPr>
          <a:xfrm>
            <a:off x="7973568" y="1371600"/>
            <a:ext cx="3611880" cy="4114800"/>
          </a:xfrm>
          <a:prstGeom prst="rect">
            <a:avLst/>
          </a:prstGeom>
          <a:solidFill>
            <a:srgbClr val="F5F7FA"/>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73568" y="1371600"/>
            <a:ext cx="361188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1645920"/>
            <a:ext cx="3200400" cy="640080"/>
          </a:xfrm>
          <a:prstGeom prst="rect">
            <a:avLst/>
          </a:prstGeom>
          <a:noFill/>
        </p:spPr>
        <p:txBody>
          <a:bodyPr wrap="none">
            <a:spAutoFit/>
          </a:bodyPr>
          <a:lstStyle/>
          <a:p>
            <a:pPr>
              <a:defRPr sz="3400" b="1">
                <a:solidFill>
                  <a:srgbClr val="1A8C5D"/>
                </a:solidFill>
                <a:latin typeface="Microsoft YaHei"/>
              </a:defRPr>
            </a:pPr>
            <a:r>
              <a:t>03</a:t>
            </a:r>
          </a:p>
        </p:txBody>
      </p:sp>
      <p:sp>
        <p:nvSpPr>
          <p:cNvPr id="24" name="TextBox 23"/>
          <p:cNvSpPr txBox="1"/>
          <p:nvPr/>
        </p:nvSpPr>
        <p:spPr>
          <a:xfrm>
            <a:off x="8156448" y="2377440"/>
            <a:ext cx="3200400" cy="457200"/>
          </a:xfrm>
          <a:prstGeom prst="rect">
            <a:avLst/>
          </a:prstGeom>
          <a:noFill/>
        </p:spPr>
        <p:txBody>
          <a:bodyPr wrap="none">
            <a:spAutoFit/>
          </a:bodyPr>
          <a:lstStyle/>
          <a:p>
            <a:pPr>
              <a:defRPr sz="1600" b="1">
                <a:solidFill>
                  <a:srgbClr val="1B3A5C"/>
                </a:solidFill>
                <a:latin typeface="Microsoft YaHei"/>
              </a:defRPr>
            </a:pPr>
            <a:r>
              <a:t>公共政策</a:t>
            </a:r>
          </a:p>
        </p:txBody>
      </p:sp>
      <p:sp>
        <p:nvSpPr>
          <p:cNvPr id="25" name="TextBox 24"/>
          <p:cNvSpPr txBox="1"/>
          <p:nvPr/>
        </p:nvSpPr>
        <p:spPr>
          <a:xfrm>
            <a:off x="8156448" y="3017520"/>
            <a:ext cx="3200400" cy="2011680"/>
          </a:xfrm>
          <a:prstGeom prst="rect">
            <a:avLst/>
          </a:prstGeom>
          <a:noFill/>
        </p:spPr>
        <p:txBody>
          <a:bodyPr wrap="square">
            <a:spAutoFit/>
          </a:bodyPr>
          <a:lstStyle/>
          <a:p>
            <a:pPr>
              <a:spcAft>
                <a:spcPts val="400"/>
              </a:spcAft>
              <a:defRPr sz="1200">
                <a:solidFill>
                  <a:srgbClr val="6B6B6B"/>
                </a:solidFill>
                <a:latin typeface="Microsoft YaHei"/>
              </a:defRPr>
            </a:pPr>
            <a:r>
              <a:t>· 标准化的利弊权衡</a:t>
            </a:r>
          </a:p>
          <a:p>
            <a:pPr>
              <a:spcAft>
                <a:spcPts val="400"/>
              </a:spcAft>
              <a:defRPr sz="1200">
                <a:solidFill>
                  <a:srgbClr val="6B6B6B"/>
                </a:solidFill>
                <a:latin typeface="Microsoft YaHei"/>
              </a:defRPr>
            </a:pPr>
            <a:r>
              <a:t>· 政府选择标准的难题</a:t>
            </a:r>
          </a:p>
          <a:p>
            <a:pPr>
              <a:spcAft>
                <a:spcPts val="400"/>
              </a:spcAft>
              <a:defRPr sz="1200">
                <a:solidFill>
                  <a:srgbClr val="6B6B6B"/>
                </a:solidFill>
                <a:latin typeface="Microsoft YaHei"/>
              </a:defRPr>
            </a:pPr>
            <a:r>
              <a:t>· 网络外部性下的反垄断</a:t>
            </a:r>
          </a:p>
          <a:p>
            <a:pPr>
              <a:spcAft>
                <a:spcPts val="400"/>
              </a:spcAft>
              <a:defRPr sz="1200">
                <a:solidFill>
                  <a:srgbClr val="6B6B6B"/>
                </a:solidFill>
                <a:latin typeface="Microsoft YaHei"/>
              </a:defRPr>
            </a:pPr>
            <a:r>
              <a:t>· TD标准与双巨头监管</a:t>
            </a:r>
          </a:p>
        </p:txBody>
      </p:sp>
      <p:sp>
        <p:nvSpPr>
          <p:cNvPr id="26" name="TextBox 25"/>
          <p:cNvSpPr txBox="1"/>
          <p:nvPr/>
        </p:nvSpPr>
        <p:spPr>
          <a:xfrm>
            <a:off x="8156448" y="4937760"/>
            <a:ext cx="3200400" cy="365760"/>
          </a:xfrm>
          <a:prstGeom prst="rect">
            <a:avLst/>
          </a:prstGeom>
          <a:noFill/>
        </p:spPr>
        <p:txBody>
          <a:bodyPr wrap="none">
            <a:spAutoFit/>
          </a:bodyPr>
          <a:lstStyle/>
          <a:p>
            <a:pPr>
              <a:defRPr sz="1100" b="1">
                <a:solidFill>
                  <a:srgbClr val="1A8C5D"/>
                </a:solidFill>
                <a:latin typeface="Microsoft YaHei"/>
              </a:defRPr>
            </a:pPr>
            <a:r>
              <a:t>「政府应当做什么」</a:t>
            </a:r>
          </a:p>
        </p:txBody>
      </p:sp>
      <p:sp>
        <p:nvSpPr>
          <p:cNvPr id="27" name="TextBox 26"/>
          <p:cNvSpPr txBox="1"/>
          <p:nvPr/>
        </p:nvSpPr>
        <p:spPr>
          <a:xfrm>
            <a:off x="457200" y="5806440"/>
            <a:ext cx="11274552" cy="411480"/>
          </a:xfrm>
          <a:prstGeom prst="rect">
            <a:avLst/>
          </a:prstGeom>
          <a:noFill/>
        </p:spPr>
        <p:txBody>
          <a:bodyPr wrap="square">
            <a:spAutoFit/>
          </a:bodyPr>
          <a:lstStyle/>
          <a:p>
            <a:pPr>
              <a:defRPr sz="1300" b="1">
                <a:solidFill>
                  <a:srgbClr val="2E86C1"/>
                </a:solidFill>
                <a:latin typeface="Microsoft YaHei"/>
              </a:defRPr>
            </a:pPr>
            <a:r>
              <a:t>核心逻辑：网络外部性改变需求与竞争性质（是什么） → 标准与兼容性成为核心维度（怎么争） → 公共政策在标准化与反垄断间权衡（怎么办）</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引言</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从“大哥大”到微信：用户规模创造价值</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网络外部性基本定义</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概念：消费者从某种商品中获得的效用或收益，随着使用该商品的用户人数增加而增加。</a:t>
            </a:r>
          </a:p>
          <a:p>
            <a:pPr>
              <a:spcAft>
                <a:spcPts val="600"/>
              </a:spcAft>
              <a:defRPr sz="1300">
                <a:solidFill>
                  <a:srgbClr val="2C2C2C"/>
                </a:solidFill>
                <a:latin typeface="Microsoft YaHei"/>
              </a:defRPr>
            </a:pPr>
            <a:r>
              <a:t>· “大哥大”时代：手机昂贵、用户极少，拥有一部手机的实际通信价值非常有限。</a:t>
            </a:r>
          </a:p>
          <a:p>
            <a:pPr>
              <a:spcAft>
                <a:spcPts val="600"/>
              </a:spcAft>
              <a:defRPr sz="1300">
                <a:solidFill>
                  <a:srgbClr val="2C2C2C"/>
                </a:solidFill>
                <a:latin typeface="Microsoft YaHei"/>
              </a:defRPr>
            </a:pPr>
            <a:r>
              <a:t>· 微信时代：用户规模突破数十亿，微信号成为核心连接纽带，用户规模赋予商品巨大的附加价值。</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两类商品对比与影响</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普通商品（苹果、铅笔）：效用仅取决于个人偏好与产品自身质量，不受其他人消费数量影响。</a:t>
            </a:r>
          </a:p>
          <a:p>
            <a:pPr>
              <a:spcAft>
                <a:spcPts val="600"/>
              </a:spcAft>
              <a:defRPr sz="1300">
                <a:solidFill>
                  <a:srgbClr val="2C2C2C"/>
                </a:solidFill>
                <a:latin typeface="Microsoft YaHei"/>
              </a:defRPr>
            </a:pPr>
            <a:r>
              <a:t>· 网络外部性商品：用户规模直接进入消费者的效用函数。</a:t>
            </a:r>
          </a:p>
          <a:p>
            <a:pPr>
              <a:spcAft>
                <a:spcPts val="600"/>
              </a:spcAft>
              <a:defRPr sz="1300">
                <a:solidFill>
                  <a:srgbClr val="2C2C2C"/>
                </a:solidFill>
                <a:latin typeface="Microsoft YaHei"/>
              </a:defRPr>
            </a:pPr>
            <a:r>
              <a:t>· 深刻影响：改变了传统的需求曲线形态，使得市场竞争呈现“强弱悬殊”的临界点特征。</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网络外部性打破了传统微观经济学“个人效用互相独立”的基本假设。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引言</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网络外部性的两大基本类型</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直接网络外部性 (Direct Network Effects)</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定义（Katz &amp; Shapiro, 1985）：消费者的效用直接随用户规模扩张而提升。</a:t>
            </a:r>
          </a:p>
          <a:p>
            <a:pPr>
              <a:spcAft>
                <a:spcPts val="600"/>
              </a:spcAft>
              <a:defRPr sz="1300">
                <a:solidFill>
                  <a:srgbClr val="2C2C2C"/>
                </a:solidFill>
                <a:latin typeface="Microsoft YaHei"/>
              </a:defRPr>
            </a:pPr>
            <a:r>
              <a:t>· 典型例子：电话、电子邮件、社交软件（微信、QQ）。</a:t>
            </a:r>
          </a:p>
          <a:p>
            <a:pPr>
              <a:spcAft>
                <a:spcPts val="600"/>
              </a:spcAft>
              <a:defRPr sz="1300">
                <a:solidFill>
                  <a:srgbClr val="2C2C2C"/>
                </a:solidFill>
                <a:latin typeface="Microsoft YaHei"/>
              </a:defRPr>
            </a:pPr>
            <a:r>
              <a:t>· 机制：直接沟通是商品的核心功能，用户越多，潜在可联系对象越多，效用直接增加。</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间接网络外部性 (Indirect Network Effects)</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定义（Chou &amp; Shy, 1990）：用户规模增加不直接增加效用，但吸引了更多互补品供给。</a:t>
            </a:r>
          </a:p>
          <a:p>
            <a:pPr>
              <a:spcAft>
                <a:spcPts val="600"/>
              </a:spcAft>
              <a:defRPr sz="1300">
                <a:solidFill>
                  <a:srgbClr val="2C2C2C"/>
                </a:solidFill>
                <a:latin typeface="Microsoft YaHei"/>
              </a:defRPr>
            </a:pPr>
            <a:r>
              <a:t>· 典型例子：操作系统（Windows/iOS/Android）。</a:t>
            </a:r>
          </a:p>
          <a:p>
            <a:pPr>
              <a:spcAft>
                <a:spcPts val="600"/>
              </a:spcAft>
              <a:defRPr sz="1300">
                <a:solidFill>
                  <a:srgbClr val="2C2C2C"/>
                </a:solidFill>
                <a:latin typeface="Microsoft YaHei"/>
              </a:defRPr>
            </a:pPr>
            <a:r>
              <a:t>· 机制：用户越多 → 吸引更多软件开发者 → 互补软件丰富 → 进一步吸引更多消费者。</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网络外部性影响逻辑：消费者预期与需求 → 兼容性与标准竞争 → 技术升级 → 反垄断政策设计。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4572000" cy="731520"/>
          </a:xfrm>
          <a:prstGeom prst="rect">
            <a:avLst/>
          </a:prstGeom>
          <a:noFill/>
        </p:spPr>
        <p:txBody>
          <a:bodyPr wrap="none">
            <a:spAutoFit/>
          </a:bodyPr>
          <a:lstStyle/>
          <a:p>
            <a:pPr>
              <a:defRPr sz="2800" b="1">
                <a:solidFill>
                  <a:srgbClr val="D6EAF8"/>
                </a:solidFill>
                <a:latin typeface="Microsoft YaHei"/>
              </a:defRPr>
            </a:pPr>
            <a:r>
              <a:t>第一节</a:t>
            </a:r>
          </a:p>
        </p:txBody>
      </p:sp>
      <p:sp>
        <p:nvSpPr>
          <p:cNvPr id="4" name="TextBox 3"/>
          <p:cNvSpPr txBox="1"/>
          <p:nvPr/>
        </p:nvSpPr>
        <p:spPr>
          <a:xfrm>
            <a:off x="914400" y="2834640"/>
            <a:ext cx="10058400" cy="1097280"/>
          </a:xfrm>
          <a:prstGeom prst="rect">
            <a:avLst/>
          </a:prstGeom>
          <a:noFill/>
        </p:spPr>
        <p:txBody>
          <a:bodyPr wrap="none">
            <a:spAutoFit/>
          </a:bodyPr>
          <a:lstStyle/>
          <a:p>
            <a:pPr>
              <a:defRPr sz="4400" b="1">
                <a:solidFill>
                  <a:srgbClr val="FFFFFF"/>
                </a:solidFill>
                <a:latin typeface="Microsoft YaHei"/>
              </a:defRPr>
            </a:pPr>
            <a:r>
              <a:t>网络外部性</a:t>
            </a:r>
          </a:p>
        </p:txBody>
      </p:sp>
      <p:sp>
        <p:nvSpPr>
          <p:cNvPr id="5" name="TextBox 4"/>
          <p:cNvSpPr txBox="1"/>
          <p:nvPr/>
        </p:nvSpPr>
        <p:spPr>
          <a:xfrm>
            <a:off x="914400" y="4023360"/>
            <a:ext cx="10058400" cy="731520"/>
          </a:xfrm>
          <a:prstGeom prst="rect">
            <a:avLst/>
          </a:prstGeom>
          <a:noFill/>
        </p:spPr>
        <p:txBody>
          <a:bodyPr wrap="none">
            <a:spAutoFit/>
          </a:bodyPr>
          <a:lstStyle/>
          <a:p>
            <a:pPr>
              <a:defRPr sz="1800">
                <a:solidFill>
                  <a:srgbClr val="D6EAF8"/>
                </a:solidFill>
                <a:latin typeface="Microsoft YaHei"/>
              </a:defRPr>
            </a:pPr>
            <a:r>
              <a:t>消费者预期 · 倒U形需求曲线 · 关键数量 · 平台经济</a:t>
            </a:r>
          </a:p>
        </p:txBody>
      </p:sp>
      <p:sp>
        <p:nvSpPr>
          <p:cNvPr id="6" name="TextBox 5"/>
          <p:cNvSpPr txBox="1"/>
          <p:nvPr/>
        </p:nvSpPr>
        <p:spPr>
          <a:xfrm>
            <a:off x="914400" y="6217920"/>
            <a:ext cx="731520" cy="320040"/>
          </a:xfrm>
          <a:prstGeom prst="rect">
            <a:avLst/>
          </a:prstGeom>
          <a:noFill/>
        </p:spPr>
        <p:txBody>
          <a:bodyPr wrap="none">
            <a:spAutoFit/>
          </a:bodyPr>
          <a:lstStyle/>
          <a:p>
            <a:pPr>
              <a:defRPr sz="1100">
                <a:solidFill>
                  <a:srgbClr val="D6EAF8"/>
                </a:solidFill>
                <a:latin typeface="Microsoft YaHe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消费者预期：同一价格下的两种极端结果</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理论聚焦：设市场中有100名消费者，意愿支付取决于预期用户规模n_e。价格固定时，悲观预期(n_e=0)导致零...</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结论：消费者预期：同一价格下的两种极端结果揭示了网络经济下需求侧规模经济的特殊规律。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Rohlfs (1974) 模型：需求曲线推导</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7</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理论聚焦：消费者按偏好v均匀分布在[0,100]。个人意愿支付 p = v * n_e。均衡下实际规模等于预期...</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结论：Rohlfs (1974) 模型：需求曲线推导揭示了网络经济下需求侧规模经济的特殊规律。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倒U形需求曲线与多重均衡</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8</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理论聚焦：需求曲线呈倒U形（先上升后下降）。在同一价格下存在3个均衡点：归零均衡（无启动）、不稳定中间均衡、稳...</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结论：倒U形需求曲线与多重均衡揭示了网络经济下需求侧规模经济的特殊规律。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关键数量 (Critical Mass) 及其经济含义</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9</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理论聚焦：临界规模/关键数量是实现自我维持增长的最低门槛。用户突破关键数量后，市场需求自我实现暴发式增长。...</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结论：关键数量 (Critical Mass) 及其经济含义揭示了网络经济下需求侧规模经济的特殊规律。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渗透定价策略与临界点突破</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10</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理论聚焦：厂商在前期采取“免费”、“低价”或“高额补贴”策略（如淘宝战胜eBay），旨在快速将规模推过关键数量...</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结论：渗透定价策略与临界点突破揭示了网络经济下需求侧规模经济的特殊规律。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中国移动电话发展的实证案例</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11</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理论聚焦：中国手机用户在突破临界规模后呈现指数级飞跃，网络外部性彻底改变了中国通信产业发展格局。...</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结论：中国移动电话发展的实证案例揭示了网络经济下需求侧规模经济的特殊规律。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平台经济的崛起与双边市场界定</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12</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理论聚焦：平台连接买卖两端/多端，自身不直接生产产品，而是促进双边或多边用户直接交互并完成交易。...</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结论：平台经济的崛起与双边市场界定揭示了网络经济下需求侧规模经济的特殊规律。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双边市场 (Two-Sided Markets) 核心特征</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理论聚焦：Rochet &amp; Tirole (2003) 界定：平台定价结构（非仅总体价格水平）对双边交易总量与...</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结论：双边市场 (Two-Sided Markets) 核心特征揭示了网络经济下需求侧规模经济的特殊规律。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成员外部性与用途外部性</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理论聚焦：成员外部性：加入平台带来的价值；用途外部性：在平台上具体交易产生的交互价值。两者共同驱动双边网络效应...</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结论：成员外部性与用途外部性揭示了网络经济下需求侧规模经济的特殊规律。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平台企业的业务模式与利益平衡</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15</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理论聚焦：平台必须平衡两端用户的利益，通常采取“非对称定价”（倾斜定价）：对弹性大的一方免费/补贴，对弹性小的...</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结论：平台企业的业务模式与利益平衡揭示了网络经济下需求侧规模经济的特殊规律。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多属行为 (Multihoming) 与平台竞争</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理论聚焦：多属行为指用户同时使用多个竞争平台（如同时用美团和饿了么）。单属 vs 多属结构极大地决定了平台垄断...</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结论：多属行为 (Multihoming) 与平台竞争揭示了网络经济下需求侧规模经济的特殊规律。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网络外部性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平台垄断与反垄断监管新挑战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17</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核心理论与模型分析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理论聚焦：强网络外部性极易形成“赢者通吃”垄断，但互联网免费与双边补贴模式使得传统反垄断价格工具失灵。...</a:t>
            </a:r>
          </a:p>
          <a:p>
            <a:pPr>
              <a:spcAft>
                <a:spcPts val="600"/>
              </a:spcAft>
              <a:defRPr sz="1300">
                <a:solidFill>
                  <a:srgbClr val="2C2C2C"/>
                </a:solidFill>
                <a:latin typeface="Microsoft YaHei"/>
              </a:defRPr>
            </a:pPr>
            <a:r>
              <a:t>· 机制分析：网络外部性深刻重塑了市场供求平衡与企业竞争策略。</a:t>
            </a:r>
          </a:p>
          <a:p>
            <a:pPr>
              <a:spcAft>
                <a:spcPts val="600"/>
              </a:spcAft>
              <a:defRPr sz="1300">
                <a:solidFill>
                  <a:srgbClr val="2C2C2C"/>
                </a:solidFill>
                <a:latin typeface="Microsoft YaHei"/>
              </a:defRPr>
            </a:pPr>
            <a:r>
              <a:t>· 实证效应：需求非线性、多重均衡与临界点（关键数量）突破。</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策略启示与市场应用</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企业战略：注重先发优势，通过补贴与平台建设快速越过关键数量。</a:t>
            </a:r>
          </a:p>
          <a:p>
            <a:pPr>
              <a:spcAft>
                <a:spcPts val="600"/>
              </a:spcAft>
              <a:defRPr sz="1300">
                <a:solidFill>
                  <a:srgbClr val="2C2C2C"/>
                </a:solidFill>
                <a:latin typeface="Microsoft YaHei"/>
              </a:defRPr>
            </a:pPr>
            <a:r>
              <a:t>· 竞争格局：强网络效应下市场极易演变为寡头垄断或“独大”格局。</a:t>
            </a:r>
          </a:p>
          <a:p>
            <a:pPr>
              <a:spcAft>
                <a:spcPts val="600"/>
              </a:spcAft>
              <a:defRPr sz="1300">
                <a:solidFill>
                  <a:srgbClr val="2C2C2C"/>
                </a:solidFill>
                <a:latin typeface="Microsoft YaHei"/>
              </a:defRPr>
            </a:pPr>
            <a:r>
              <a:t>· 监管思考：防范平台利用网络效应锁定用户并排除竞争。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结论：平台垄断与反垄断监管新挑战揭示了网络经济下需求侧规模经济的特殊规律。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4572000" cy="731520"/>
          </a:xfrm>
          <a:prstGeom prst="rect">
            <a:avLst/>
          </a:prstGeom>
          <a:noFill/>
        </p:spPr>
        <p:txBody>
          <a:bodyPr wrap="none">
            <a:spAutoFit/>
          </a:bodyPr>
          <a:lstStyle/>
          <a:p>
            <a:pPr>
              <a:defRPr sz="2800" b="1">
                <a:solidFill>
                  <a:srgbClr val="D6EAF8"/>
                </a:solidFill>
                <a:latin typeface="Microsoft YaHei"/>
              </a:defRPr>
            </a:pPr>
            <a:r>
              <a:t>第二节</a:t>
            </a:r>
          </a:p>
        </p:txBody>
      </p:sp>
      <p:sp>
        <p:nvSpPr>
          <p:cNvPr id="4" name="TextBox 3"/>
          <p:cNvSpPr txBox="1"/>
          <p:nvPr/>
        </p:nvSpPr>
        <p:spPr>
          <a:xfrm>
            <a:off x="914400" y="2834640"/>
            <a:ext cx="10058400" cy="1097280"/>
          </a:xfrm>
          <a:prstGeom prst="rect">
            <a:avLst/>
          </a:prstGeom>
          <a:noFill/>
        </p:spPr>
        <p:txBody>
          <a:bodyPr wrap="none">
            <a:spAutoFit/>
          </a:bodyPr>
          <a:lstStyle/>
          <a:p>
            <a:pPr>
              <a:defRPr sz="4400" b="1">
                <a:solidFill>
                  <a:srgbClr val="FFFFFF"/>
                </a:solidFill>
                <a:latin typeface="Microsoft YaHei"/>
              </a:defRPr>
            </a:pPr>
            <a:r>
              <a:t>标准与兼容性</a:t>
            </a:r>
          </a:p>
        </p:txBody>
      </p:sp>
      <p:sp>
        <p:nvSpPr>
          <p:cNvPr id="5" name="TextBox 4"/>
          <p:cNvSpPr txBox="1"/>
          <p:nvPr/>
        </p:nvSpPr>
        <p:spPr>
          <a:xfrm>
            <a:off x="914400" y="4023360"/>
            <a:ext cx="10058400" cy="731520"/>
          </a:xfrm>
          <a:prstGeom prst="rect">
            <a:avLst/>
          </a:prstGeom>
          <a:noFill/>
        </p:spPr>
        <p:txBody>
          <a:bodyPr wrap="none">
            <a:spAutoFit/>
          </a:bodyPr>
          <a:lstStyle/>
          <a:p>
            <a:pPr>
              <a:defRPr sz="1800">
                <a:solidFill>
                  <a:srgbClr val="D6EAF8"/>
                </a:solidFill>
                <a:latin typeface="Microsoft YaHei"/>
              </a:defRPr>
            </a:pPr>
            <a:r>
              <a:t>标准选择博弈 · 路径依赖与锁定 · 过度惰性 · 兼容性策略</a:t>
            </a:r>
          </a:p>
        </p:txBody>
      </p:sp>
      <p:sp>
        <p:nvSpPr>
          <p:cNvPr id="6" name="TextBox 5"/>
          <p:cNvSpPr txBox="1"/>
          <p:nvPr/>
        </p:nvSpPr>
        <p:spPr>
          <a:xfrm>
            <a:off x="914400" y="6217920"/>
            <a:ext cx="731520" cy="320040"/>
          </a:xfrm>
          <a:prstGeom prst="rect">
            <a:avLst/>
          </a:prstGeom>
          <a:noFill/>
        </p:spPr>
        <p:txBody>
          <a:bodyPr wrap="none">
            <a:spAutoFit/>
          </a:bodyPr>
          <a:lstStyle/>
          <a:p>
            <a:pPr>
              <a:defRPr sz="1100">
                <a:solidFill>
                  <a:srgbClr val="D6EAF8"/>
                </a:solidFill>
                <a:latin typeface="Microsoft YaHe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标准的重要性与分类</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19</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核心观点：法定标准（De Jure）由标准组织制定；事实标准（De Facto）由市场竞争自发形成。在网络外部...</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结论：标准的重要性与分类展示了标准竞争中技术、历史与策略的复杂交织。</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标准选择的博弈模型</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20</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 VHS vs Betamax 录像带标准之战。当两家厂商争夺标准时，网络外部性使单一标准均衡成为必...</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结论：标准选择的博弈模型展示了标准竞争中技术、历史与策略的复杂交织。</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标准选择的均衡分析</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21</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核心观点：协调博弈模型显示：市场存在多个严格纯策略纳什均衡（均选A或均选B），极易出现协调失败（Lock-in...</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结论：标准选择的均衡分析展示了标准竞争中技术、历史与策略的复杂交织。</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路径依赖 (Path Dependence) 的概念</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22</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核心观点：历史微小的偶然事件（历史路径）被网络外部性不断放大，最终决定了长期的市场标准格局。...</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结论：路径依赖 (Path Dependence) 的概念展示了标准竞争中技术、历史与策略的复杂交织。</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锁定效应 (Lock-in Effect) 与转移成本</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核心观点：由于用户已建立习惯、购买互补品，更换标准的转移成本（Switching Cost）极高，导致用户被牢...</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结论：锁定效应 (Lock-in Effect) 与转移成本展示了标准竞争中技术、历史与策略的复杂交织。</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经典案例：QWERTY 键盘与 Dvorak 键盘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核心观点：QWERTY 键盘最初为防卡键设计，虽效率低于 Dvorak 键盘，但因强路径依赖与锁定效应一直沿用...</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结论：经典案例：QWERTY 键盘与 Dvorak 键盘展示了标准竞争中技术、历史与策略的复杂交织。</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技术升级与网络外部性阻碍</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25</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核心观点：从旧技术向新技术升级时，网络外部性可能成为创新的障碍，导致市场无法顺利平滑过渡。...</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结论：技术升级与网络外部性阻碍展示了标准竞争中技术、历史与策略的复杂交织。</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过度惰性 (Excess Inertia)</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核心观点：由于协调困难，即使新标准明显优于旧标准，市场消费者与厂商依然因害怕孤立而不敢率先采用新标准。...</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结论：过度惰性 (Excess Inertia)展示了标准竞争中技术、历史与策略的复杂交织。</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过度积极 (Excess Momentum)</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27</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核心观点：当预期被过度炒作时，市场可能过早放弃尚有潜力的旧标准，盲目拥抱未经充分验证的新标准。...</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结论：过度积极 (Excess Momentum)展示了标准竞争中技术、历史与策略的复杂交织。</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兼容性 (Compatibility) 的概念与维度</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28</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核心观点：兼容指不同厂商的产品能否相互连接与替代。分为单向兼容、双向兼容以及系统兼容。...</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结论：兼容性 (Compatibility) 的概念与维度展示了标准竞争中技术、历史与策略的复杂交织。</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兼容性的战略权衡：厂商偏好</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29</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核心观点：主导厂商（在位大企业）倾向于不兼容以保护垄断壁垒；跟随厂商（小企业）强烈渴望兼容以共享网络效应。...</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结论：兼容性的战略权衡：厂商偏好展示了标准竞争中技术、历史与策略的复杂交织。</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转换成本对技术扩散的影响</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30</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核心观点：转换成本由学习成本、签约成本、硬件重置成本构成，极大地延缓了更优技术的扩散速度。...</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结论：转换成本对技术扩散的影响展示了标准竞争中技术、历史与策略的复杂交织。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标准联盟与专利池 (Patent Pools)</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31</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核心观点：企业通过组建交叉许可专利池（如3GPP、IEEE），共同推动行业统一标准的落地与产业化。...</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结论：标准联盟与专利池 (Patent Pools)展示了标准竞争中技术、历史与策略的复杂交织。</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标准与兼容性</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开放标准 vs 封闭标准战略</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32</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标准与博弈分析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核心观点：开放标准降低用户疑虑、快速扩大网络规模；封闭标准追求独占超额利润。厂商须在规模与控制力间权衡。...</a:t>
            </a:r>
          </a:p>
          <a:p>
            <a:pPr>
              <a:spcAft>
                <a:spcPts val="600"/>
              </a:spcAft>
              <a:defRPr sz="1300">
                <a:solidFill>
                  <a:srgbClr val="2C2C2C"/>
                </a:solidFill>
                <a:latin typeface="Microsoft YaHei"/>
              </a:defRPr>
            </a:pPr>
            <a:r>
              <a:t>· 博弈结构：标准竞争是关于网络规模与互补品生态的系统性竞争。</a:t>
            </a:r>
          </a:p>
          <a:p>
            <a:pPr>
              <a:spcAft>
                <a:spcPts val="600"/>
              </a:spcAft>
              <a:defRPr sz="1300">
                <a:solidFill>
                  <a:srgbClr val="2C2C2C"/>
                </a:solidFill>
                <a:latin typeface="Microsoft YaHei"/>
              </a:defRPr>
            </a:pPr>
            <a:r>
              <a:t>· 历史锁定：路径依赖与高转移成本促成了市场的长期锁定。</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商业策略与兼容性决策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厂商战略：主导者捍卫封闭/不兼容，挑战者推动开放/兼容。</a:t>
            </a:r>
          </a:p>
          <a:p>
            <a:pPr>
              <a:spcAft>
                <a:spcPts val="600"/>
              </a:spcAft>
              <a:defRPr sz="1300">
                <a:solidFill>
                  <a:srgbClr val="2C2C2C"/>
                </a:solidFill>
                <a:latin typeface="Microsoft YaHei"/>
              </a:defRPr>
            </a:pPr>
            <a:r>
              <a:t>· 联盟博弈：通过专利池与技术联盟实现标准的快速产业化。</a:t>
            </a:r>
          </a:p>
          <a:p>
            <a:pPr>
              <a:spcAft>
                <a:spcPts val="600"/>
              </a:spcAft>
              <a:defRPr sz="1300">
                <a:solidFill>
                  <a:srgbClr val="2C2C2C"/>
                </a:solidFill>
                <a:latin typeface="Microsoft YaHei"/>
              </a:defRPr>
            </a:pPr>
            <a:r>
              <a:t>· 效率评价：标准竞争不一定导致技术最优者胜出。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结论：开放标准 vs 封闭标准战略展示了标准竞争中技术、历史与策略的复杂交织。</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4572000" cy="731520"/>
          </a:xfrm>
          <a:prstGeom prst="rect">
            <a:avLst/>
          </a:prstGeom>
          <a:noFill/>
        </p:spPr>
        <p:txBody>
          <a:bodyPr wrap="none">
            <a:spAutoFit/>
          </a:bodyPr>
          <a:lstStyle/>
          <a:p>
            <a:pPr>
              <a:defRPr sz="2800" b="1">
                <a:solidFill>
                  <a:srgbClr val="D6EAF8"/>
                </a:solidFill>
                <a:latin typeface="Microsoft YaHei"/>
              </a:defRPr>
            </a:pPr>
            <a:r>
              <a:t>第三节</a:t>
            </a:r>
          </a:p>
        </p:txBody>
      </p:sp>
      <p:sp>
        <p:nvSpPr>
          <p:cNvPr id="4" name="TextBox 3"/>
          <p:cNvSpPr txBox="1"/>
          <p:nvPr/>
        </p:nvSpPr>
        <p:spPr>
          <a:xfrm>
            <a:off x="914400" y="2834640"/>
            <a:ext cx="10058400" cy="1097280"/>
          </a:xfrm>
          <a:prstGeom prst="rect">
            <a:avLst/>
          </a:prstGeom>
          <a:noFill/>
        </p:spPr>
        <p:txBody>
          <a:bodyPr wrap="none">
            <a:spAutoFit/>
          </a:bodyPr>
          <a:lstStyle/>
          <a:p>
            <a:pPr>
              <a:defRPr sz="4400" b="1">
                <a:solidFill>
                  <a:srgbClr val="FFFFFF"/>
                </a:solidFill>
                <a:latin typeface="Microsoft YaHei"/>
              </a:defRPr>
            </a:pPr>
            <a:r>
              <a:t>公共政策</a:t>
            </a:r>
          </a:p>
        </p:txBody>
      </p:sp>
      <p:sp>
        <p:nvSpPr>
          <p:cNvPr id="5" name="TextBox 4"/>
          <p:cNvSpPr txBox="1"/>
          <p:nvPr/>
        </p:nvSpPr>
        <p:spPr>
          <a:xfrm>
            <a:off x="914400" y="4023360"/>
            <a:ext cx="10058400" cy="731520"/>
          </a:xfrm>
          <a:prstGeom prst="rect">
            <a:avLst/>
          </a:prstGeom>
          <a:noFill/>
        </p:spPr>
        <p:txBody>
          <a:bodyPr wrap="none">
            <a:spAutoFit/>
          </a:bodyPr>
          <a:lstStyle/>
          <a:p>
            <a:pPr>
              <a:defRPr sz="1800">
                <a:solidFill>
                  <a:srgbClr val="D6EAF8"/>
                </a:solidFill>
                <a:latin typeface="Microsoft YaHei"/>
              </a:defRPr>
            </a:pPr>
            <a:r>
              <a:t>标准化利弊 · 政府选择难题 · 平台反垄断 · 中国5G实践</a:t>
            </a:r>
          </a:p>
        </p:txBody>
      </p:sp>
      <p:sp>
        <p:nvSpPr>
          <p:cNvPr id="6" name="TextBox 5"/>
          <p:cNvSpPr txBox="1"/>
          <p:nvPr/>
        </p:nvSpPr>
        <p:spPr>
          <a:xfrm>
            <a:off x="914400" y="6217920"/>
            <a:ext cx="731520" cy="320040"/>
          </a:xfrm>
          <a:prstGeom prst="rect">
            <a:avLst/>
          </a:prstGeom>
          <a:noFill/>
        </p:spPr>
        <p:txBody>
          <a:bodyPr wrap="none">
            <a:spAutoFit/>
          </a:bodyPr>
          <a:lstStyle/>
          <a:p>
            <a:pPr>
              <a:defRPr sz="1100">
                <a:solidFill>
                  <a:srgbClr val="D6EAF8"/>
                </a:solidFill>
                <a:latin typeface="Microsoft YaHei"/>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标准化问题：政府介入的利与弊</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政策焦点：欧洲 ETSI 政府主导统一 GSM 标准（快速形成规模）；美国市场主导多标准竞争（促进研发但存在资...</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结论：标准化问题：政府介入的利与弊强调了公共政策在引导标准创新与维护竞争秩序中的平衡智慧。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政府选择标准的难题：日本 MUSE 教训</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35</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政策焦点：政府因信息不对称可能选错方向。日本通产省80年代倾力押注模拟信号 MUSE 高清系统，90年代惨遭数...</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结论：政府选择标准的难题：日本 MUSE 教训强调了公共政策在引导标准创新与维护竞争秩序中的平衡智慧。</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网络外部性下的反垄断：原则与实践</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政策焦点：强网络效应下垄断天然具有自我强化特征。政策原则：在合适的网络规模与适度的竞争强度之间寻找动态平衡。...</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结论：网络外部性下的反垄断：原则与实践强调了公共政策在引导标准创新与维护竞争秩序中的平衡智慧。</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中国 3G/4G/5G 标准竞争与自主创新</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37</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政策焦点：3G时代 TD-SCDMA 突破，4G时代 TD-LTE 全球主导，5G时代华为领衔全球统一标准，成...</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结论：中国 3G/4G/5G 标准竞争与自主创新强调了公共政策在引导标准创新与维护竞争秩序中的平衡智慧。</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腾讯的扩张与垄断：双巨头监管难题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38</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政策焦点：阿里与腾讯两大巨头通过投资生态控制半壁江山。监管难题：既防范滥用支配地位，又维持创新活力。...</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结论：腾讯的扩张与垄断：双巨头监管难题强调了公共政策在引导标准创新与维护竞争秩序中的平衡智慧。</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数字经济下的反垄断政策新挑战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39</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政策焦点：数据要素、算法共谋、生态封锁（如“二选一”）使得传统基于界定相关市场与价格加成的反垄断规则面临重塑。...</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结论：数字经济下的反垄断政策新挑战强调了公共政策在引导标准创新与维护竞争秩序中的平衡智慧。</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公共政策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算法与数据垄断的规制思考</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40</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政策背景与案例分析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政策焦点：强化数据可携带权与互联互通，拆除数据墙，促进平台间良性竞争与消费者福利最大化。...</a:t>
            </a:r>
          </a:p>
          <a:p>
            <a:pPr>
              <a:spcAft>
                <a:spcPts val="600"/>
              </a:spcAft>
              <a:defRPr sz="1300">
                <a:solidFill>
                  <a:srgbClr val="2C2C2C"/>
                </a:solidFill>
                <a:latin typeface="Microsoft YaHei"/>
              </a:defRPr>
            </a:pPr>
            <a:r>
              <a:t>· 政府角色：政府介入标准化面临信息缺失与技术路线风险。</a:t>
            </a:r>
          </a:p>
          <a:p>
            <a:pPr>
              <a:spcAft>
                <a:spcPts val="600"/>
              </a:spcAft>
              <a:defRPr sz="1300">
                <a:solidFill>
                  <a:srgbClr val="2C2C2C"/>
                </a:solidFill>
                <a:latin typeface="Microsoft YaHei"/>
              </a:defRPr>
            </a:pPr>
            <a:r>
              <a:t>· 监管范式：从静态市场份额审查转向动态创新与生态开放审查。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中国实践与全球治理</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产业升级：中国在移动通信标准上实现了从3G突破到5G领跑的跨越。</a:t>
            </a:r>
          </a:p>
          <a:p>
            <a:pPr>
              <a:spcAft>
                <a:spcPts val="600"/>
              </a:spcAft>
              <a:defRPr sz="1300">
                <a:solidFill>
                  <a:srgbClr val="2C2C2C"/>
                </a:solidFill>
                <a:latin typeface="Microsoft YaHei"/>
              </a:defRPr>
            </a:pPr>
            <a:r>
              <a:t>· 平台监管：推进平台间“互联互通”，防止封锁生态与恶意不兼容。</a:t>
            </a:r>
          </a:p>
          <a:p>
            <a:pPr>
              <a:spcAft>
                <a:spcPts val="600"/>
              </a:spcAft>
              <a:defRPr sz="1300">
                <a:solidFill>
                  <a:srgbClr val="2C2C2C"/>
                </a:solidFill>
                <a:latin typeface="Microsoft YaHei"/>
              </a:defRPr>
            </a:pPr>
            <a:r>
              <a:t>· 制度创新：构建适应数字经济特征的现代化反垄断规制体系。</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结论：算法与数据垄断的规制思考强调了公共政策在引导标准创新与维护竞争秩序中的平衡智慧。</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本章小结</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第九章核心知识点回顾</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41</a:t>
            </a:r>
          </a:p>
        </p:txBody>
      </p:sp>
      <p:sp>
        <p:nvSpPr>
          <p:cNvPr id="9" name="Rectangle 8"/>
          <p:cNvSpPr/>
          <p:nvPr/>
        </p:nvSpPr>
        <p:spPr>
          <a:xfrm>
            <a:off x="457200" y="1325880"/>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822960" cy="107899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600200"/>
            <a:ext cx="822960" cy="457200"/>
          </a:xfrm>
          <a:prstGeom prst="rect">
            <a:avLst/>
          </a:prstGeom>
          <a:noFill/>
        </p:spPr>
        <p:txBody>
          <a:bodyPr wrap="none">
            <a:spAutoFit/>
          </a:bodyPr>
          <a:lstStyle/>
          <a:p>
            <a:pPr algn="ctr">
              <a:defRPr sz="2000" b="1">
                <a:solidFill>
                  <a:srgbClr val="FFFFFF"/>
                </a:solidFill>
                <a:latin typeface="Microsoft YaHei"/>
              </a:defRPr>
            </a:pPr>
            <a:r>
              <a:t>01</a:t>
            </a:r>
          </a:p>
        </p:txBody>
      </p:sp>
      <p:sp>
        <p:nvSpPr>
          <p:cNvPr id="12" name="TextBox 11"/>
          <p:cNvSpPr txBox="1"/>
          <p:nvPr/>
        </p:nvSpPr>
        <p:spPr>
          <a:xfrm>
            <a:off x="1463040" y="1399032"/>
            <a:ext cx="3291840" cy="365760"/>
          </a:xfrm>
          <a:prstGeom prst="rect">
            <a:avLst/>
          </a:prstGeom>
          <a:noFill/>
        </p:spPr>
        <p:txBody>
          <a:bodyPr wrap="none">
            <a:spAutoFit/>
          </a:bodyPr>
          <a:lstStyle/>
          <a:p>
            <a:pPr>
              <a:defRPr sz="1350" b="1">
                <a:solidFill>
                  <a:srgbClr val="1B3A5C"/>
                </a:solidFill>
                <a:latin typeface="Microsoft YaHei"/>
              </a:defRPr>
            </a:pPr>
            <a:r>
              <a:t>网络外部性与关键数量</a:t>
            </a:r>
          </a:p>
        </p:txBody>
      </p:sp>
      <p:sp>
        <p:nvSpPr>
          <p:cNvPr id="13" name="TextBox 12"/>
          <p:cNvSpPr txBox="1"/>
          <p:nvPr/>
        </p:nvSpPr>
        <p:spPr>
          <a:xfrm>
            <a:off x="4846320" y="1380744"/>
            <a:ext cx="6675120" cy="960120"/>
          </a:xfrm>
          <a:prstGeom prst="rect">
            <a:avLst/>
          </a:prstGeom>
          <a:noFill/>
        </p:spPr>
        <p:txBody>
          <a:bodyPr wrap="square">
            <a:spAutoFit/>
          </a:bodyPr>
          <a:lstStyle/>
          <a:p>
            <a:pPr>
              <a:defRPr sz="1100">
                <a:solidFill>
                  <a:srgbClr val="2C2C2C"/>
                </a:solidFill>
                <a:latin typeface="Microsoft YaHei"/>
              </a:defRPr>
            </a:pPr>
            <a:r>
              <a:t>消费者预期对需求产生重大影响，任意给定价格下存在多个需求水平；倒U形需求曲线；用户数量超过关键数量后，用户规模迅速上升。</a:t>
            </a:r>
          </a:p>
        </p:txBody>
      </p:sp>
      <p:sp>
        <p:nvSpPr>
          <p:cNvPr id="14" name="Rectangle 13"/>
          <p:cNvSpPr/>
          <p:nvPr/>
        </p:nvSpPr>
        <p:spPr>
          <a:xfrm>
            <a:off x="457200" y="2532887"/>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32887"/>
            <a:ext cx="822960" cy="107899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807207"/>
            <a:ext cx="822960" cy="457200"/>
          </a:xfrm>
          <a:prstGeom prst="rect">
            <a:avLst/>
          </a:prstGeom>
          <a:noFill/>
        </p:spPr>
        <p:txBody>
          <a:bodyPr wrap="none">
            <a:spAutoFit/>
          </a:bodyPr>
          <a:lstStyle/>
          <a:p>
            <a:pPr algn="ctr">
              <a:defRPr sz="2000" b="1">
                <a:solidFill>
                  <a:srgbClr val="FFFFFF"/>
                </a:solidFill>
                <a:latin typeface="Microsoft YaHei"/>
              </a:defRPr>
            </a:pPr>
            <a:r>
              <a:t>02</a:t>
            </a:r>
          </a:p>
        </p:txBody>
      </p:sp>
      <p:sp>
        <p:nvSpPr>
          <p:cNvPr id="17" name="TextBox 16"/>
          <p:cNvSpPr txBox="1"/>
          <p:nvPr/>
        </p:nvSpPr>
        <p:spPr>
          <a:xfrm>
            <a:off x="1463040" y="2606039"/>
            <a:ext cx="3291840" cy="365760"/>
          </a:xfrm>
          <a:prstGeom prst="rect">
            <a:avLst/>
          </a:prstGeom>
          <a:noFill/>
        </p:spPr>
        <p:txBody>
          <a:bodyPr wrap="none">
            <a:spAutoFit/>
          </a:bodyPr>
          <a:lstStyle/>
          <a:p>
            <a:pPr>
              <a:defRPr sz="1350" b="1">
                <a:solidFill>
                  <a:srgbClr val="1B3A5C"/>
                </a:solidFill>
                <a:latin typeface="Microsoft YaHei"/>
              </a:defRPr>
            </a:pPr>
            <a:r>
              <a:t>平台经济</a:t>
            </a:r>
          </a:p>
        </p:txBody>
      </p:sp>
      <p:sp>
        <p:nvSpPr>
          <p:cNvPr id="18" name="TextBox 17"/>
          <p:cNvSpPr txBox="1"/>
          <p:nvPr/>
        </p:nvSpPr>
        <p:spPr>
          <a:xfrm>
            <a:off x="4846320" y="2587751"/>
            <a:ext cx="6675120" cy="960120"/>
          </a:xfrm>
          <a:prstGeom prst="rect">
            <a:avLst/>
          </a:prstGeom>
          <a:noFill/>
        </p:spPr>
        <p:txBody>
          <a:bodyPr wrap="square">
            <a:spAutoFit/>
          </a:bodyPr>
          <a:lstStyle/>
          <a:p>
            <a:pPr>
              <a:defRPr sz="1100">
                <a:solidFill>
                  <a:srgbClr val="2C2C2C"/>
                </a:solidFill>
                <a:latin typeface="Microsoft YaHei"/>
              </a:defRPr>
            </a:pPr>
            <a:r>
              <a:t>平台具有外部性和多属行为两大特征；外部性分为成员外部性与用途外部性；业务模式包括双边客户召集、利益平衡、规模化和流动性。</a:t>
            </a:r>
          </a:p>
        </p:txBody>
      </p:sp>
      <p:sp>
        <p:nvSpPr>
          <p:cNvPr id="19" name="Rectangle 18"/>
          <p:cNvSpPr/>
          <p:nvPr/>
        </p:nvSpPr>
        <p:spPr>
          <a:xfrm>
            <a:off x="457200" y="3739896"/>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739896"/>
            <a:ext cx="822960" cy="107899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14215"/>
            <a:ext cx="822960" cy="457200"/>
          </a:xfrm>
          <a:prstGeom prst="rect">
            <a:avLst/>
          </a:prstGeom>
          <a:noFill/>
        </p:spPr>
        <p:txBody>
          <a:bodyPr wrap="none">
            <a:spAutoFit/>
          </a:bodyPr>
          <a:lstStyle/>
          <a:p>
            <a:pPr algn="ctr">
              <a:defRPr sz="2000" b="1">
                <a:solidFill>
                  <a:srgbClr val="FFFFFF"/>
                </a:solidFill>
                <a:latin typeface="Microsoft YaHei"/>
              </a:defRPr>
            </a:pPr>
            <a:r>
              <a:t>03</a:t>
            </a:r>
          </a:p>
        </p:txBody>
      </p:sp>
      <p:sp>
        <p:nvSpPr>
          <p:cNvPr id="22" name="TextBox 21"/>
          <p:cNvSpPr txBox="1"/>
          <p:nvPr/>
        </p:nvSpPr>
        <p:spPr>
          <a:xfrm>
            <a:off x="1463040" y="3813048"/>
            <a:ext cx="3291840" cy="365760"/>
          </a:xfrm>
          <a:prstGeom prst="rect">
            <a:avLst/>
          </a:prstGeom>
          <a:noFill/>
        </p:spPr>
        <p:txBody>
          <a:bodyPr wrap="none">
            <a:spAutoFit/>
          </a:bodyPr>
          <a:lstStyle/>
          <a:p>
            <a:pPr>
              <a:defRPr sz="1350" b="1">
                <a:solidFill>
                  <a:srgbClr val="1B3A5C"/>
                </a:solidFill>
                <a:latin typeface="Microsoft YaHei"/>
              </a:defRPr>
            </a:pPr>
            <a:r>
              <a:t>标准选择与路径依赖</a:t>
            </a:r>
          </a:p>
        </p:txBody>
      </p:sp>
      <p:sp>
        <p:nvSpPr>
          <p:cNvPr id="23" name="TextBox 22"/>
          <p:cNvSpPr txBox="1"/>
          <p:nvPr/>
        </p:nvSpPr>
        <p:spPr>
          <a:xfrm>
            <a:off x="4846320" y="3794759"/>
            <a:ext cx="6675120" cy="960120"/>
          </a:xfrm>
          <a:prstGeom prst="rect">
            <a:avLst/>
          </a:prstGeom>
          <a:noFill/>
        </p:spPr>
        <p:txBody>
          <a:bodyPr wrap="square">
            <a:spAutoFit/>
          </a:bodyPr>
          <a:lstStyle/>
          <a:p>
            <a:pPr>
              <a:defRPr sz="1100">
                <a:solidFill>
                  <a:srgbClr val="2C2C2C"/>
                </a:solidFill>
                <a:latin typeface="Microsoft YaHei"/>
              </a:defRPr>
            </a:pPr>
            <a:r>
              <a:t>网络外部性意味着多种均衡，产业可能被锁定在某标准之上；标准竞争的获胜者并不总是消费者最偏好或质量最高的技术。</a:t>
            </a:r>
          </a:p>
        </p:txBody>
      </p:sp>
      <p:sp>
        <p:nvSpPr>
          <p:cNvPr id="24" name="Rectangle 23"/>
          <p:cNvSpPr/>
          <p:nvPr/>
        </p:nvSpPr>
        <p:spPr>
          <a:xfrm>
            <a:off x="457200" y="4946903"/>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946903"/>
            <a:ext cx="822960" cy="107899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221223"/>
            <a:ext cx="822960" cy="457200"/>
          </a:xfrm>
          <a:prstGeom prst="rect">
            <a:avLst/>
          </a:prstGeom>
          <a:noFill/>
        </p:spPr>
        <p:txBody>
          <a:bodyPr wrap="none">
            <a:spAutoFit/>
          </a:bodyPr>
          <a:lstStyle/>
          <a:p>
            <a:pPr algn="ctr">
              <a:defRPr sz="2000" b="1">
                <a:solidFill>
                  <a:srgbClr val="FFFFFF"/>
                </a:solidFill>
                <a:latin typeface="Microsoft YaHei"/>
              </a:defRPr>
            </a:pPr>
            <a:r>
              <a:t>04</a:t>
            </a:r>
          </a:p>
        </p:txBody>
      </p:sp>
      <p:sp>
        <p:nvSpPr>
          <p:cNvPr id="27" name="TextBox 26"/>
          <p:cNvSpPr txBox="1"/>
          <p:nvPr/>
        </p:nvSpPr>
        <p:spPr>
          <a:xfrm>
            <a:off x="1463040" y="5020055"/>
            <a:ext cx="3291840" cy="365760"/>
          </a:xfrm>
          <a:prstGeom prst="rect">
            <a:avLst/>
          </a:prstGeom>
          <a:noFill/>
        </p:spPr>
        <p:txBody>
          <a:bodyPr wrap="none">
            <a:spAutoFit/>
          </a:bodyPr>
          <a:lstStyle/>
          <a:p>
            <a:pPr>
              <a:defRPr sz="1350" b="1">
                <a:solidFill>
                  <a:srgbClr val="1B3A5C"/>
                </a:solidFill>
                <a:latin typeface="Microsoft YaHei"/>
              </a:defRPr>
            </a:pPr>
            <a:r>
              <a:t>技术升级与兼容性</a:t>
            </a:r>
          </a:p>
        </p:txBody>
      </p:sp>
      <p:sp>
        <p:nvSpPr>
          <p:cNvPr id="28" name="TextBox 27"/>
          <p:cNvSpPr txBox="1"/>
          <p:nvPr/>
        </p:nvSpPr>
        <p:spPr>
          <a:xfrm>
            <a:off x="4846320" y="5001767"/>
            <a:ext cx="6675120" cy="960120"/>
          </a:xfrm>
          <a:prstGeom prst="rect">
            <a:avLst/>
          </a:prstGeom>
          <a:noFill/>
        </p:spPr>
        <p:txBody>
          <a:bodyPr wrap="square">
            <a:spAutoFit/>
          </a:bodyPr>
          <a:lstStyle/>
          <a:p>
            <a:pPr>
              <a:defRPr sz="1100">
                <a:solidFill>
                  <a:srgbClr val="2C2C2C"/>
                </a:solidFill>
                <a:latin typeface="Microsoft YaHei"/>
              </a:defRPr>
            </a:pPr>
            <a:r>
              <a:t>网络外部性既可能导致过度惰性，也可能导致过度积极；网络外部性高、产品竞争弱或标准竞争强时，厂商更可能选择兼容。</a:t>
            </a:r>
          </a:p>
        </p:txBody>
      </p:sp>
      <p:sp>
        <p:nvSpPr>
          <p:cNvPr id="29" name="TextBox 28"/>
          <p:cNvSpPr txBox="1"/>
          <p:nvPr/>
        </p:nvSpPr>
        <p:spPr>
          <a:xfrm>
            <a:off x="457200" y="6172200"/>
            <a:ext cx="11274552" cy="411480"/>
          </a:xfrm>
          <a:prstGeom prst="rect">
            <a:avLst/>
          </a:prstGeom>
          <a:noFill/>
        </p:spPr>
        <p:txBody>
          <a:bodyPr wrap="square">
            <a:spAutoFit/>
          </a:bodyPr>
          <a:lstStyle/>
          <a:p>
            <a:pPr>
              <a:defRPr sz="1300" b="1">
                <a:solidFill>
                  <a:srgbClr val="C88C1B"/>
                </a:solidFill>
                <a:latin typeface="Microsoft YaHei"/>
              </a:defRPr>
            </a:pPr>
            <a:r>
              <a:t>政策层面：政府介入标准选择对社会福利的影响存在不确定性；反垄断政策需同时考虑网络外部性对消费者福利和竞争的影响。</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思考题</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第九章 练习题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42</a:t>
            </a:r>
          </a:p>
        </p:txBody>
      </p:sp>
      <p:sp>
        <p:nvSpPr>
          <p:cNvPr id="9" name="TextBox 8"/>
          <p:cNvSpPr txBox="1"/>
          <p:nvPr/>
        </p:nvSpPr>
        <p:spPr>
          <a:xfrm>
            <a:off x="457200" y="1325880"/>
            <a:ext cx="5669280" cy="502920"/>
          </a:xfrm>
          <a:prstGeom prst="rect">
            <a:avLst/>
          </a:prstGeom>
          <a:noFill/>
        </p:spPr>
        <p:txBody>
          <a:bodyPr wrap="square">
            <a:spAutoFit/>
          </a:bodyPr>
          <a:lstStyle/>
          <a:p>
            <a:pPr>
              <a:defRPr sz="1100">
                <a:solidFill>
                  <a:srgbClr val="2C2C2C"/>
                </a:solidFill>
                <a:latin typeface="Microsoft YaHei"/>
              </a:defRPr>
            </a:pPr>
            <a:r>
              <a:t>1. 什么是网络外部性？直接网络外部性与间接网络外部性有何区别？各举一例。</a:t>
            </a:r>
          </a:p>
        </p:txBody>
      </p:sp>
      <p:sp>
        <p:nvSpPr>
          <p:cNvPr id="10" name="TextBox 9"/>
          <p:cNvSpPr txBox="1"/>
          <p:nvPr/>
        </p:nvSpPr>
        <p:spPr>
          <a:xfrm>
            <a:off x="457200" y="1874519"/>
            <a:ext cx="5669280" cy="502920"/>
          </a:xfrm>
          <a:prstGeom prst="rect">
            <a:avLst/>
          </a:prstGeom>
          <a:noFill/>
        </p:spPr>
        <p:txBody>
          <a:bodyPr wrap="square">
            <a:spAutoFit/>
          </a:bodyPr>
          <a:lstStyle/>
          <a:p>
            <a:pPr>
              <a:defRPr sz="1100">
                <a:solidFill>
                  <a:srgbClr val="2C2C2C"/>
                </a:solidFill>
                <a:latin typeface="Microsoft YaHei"/>
              </a:defRPr>
            </a:pPr>
            <a:r>
              <a:t>2. 运用Rohlfs模型说明：为什么网络外部性下同一价格可能对应多个需求水平？</a:t>
            </a:r>
          </a:p>
        </p:txBody>
      </p:sp>
      <p:sp>
        <p:nvSpPr>
          <p:cNvPr id="11" name="TextBox 10"/>
          <p:cNvSpPr txBox="1"/>
          <p:nvPr/>
        </p:nvSpPr>
        <p:spPr>
          <a:xfrm>
            <a:off x="457200" y="2423160"/>
            <a:ext cx="5669280" cy="502920"/>
          </a:xfrm>
          <a:prstGeom prst="rect">
            <a:avLst/>
          </a:prstGeom>
          <a:noFill/>
        </p:spPr>
        <p:txBody>
          <a:bodyPr wrap="square">
            <a:spAutoFit/>
          </a:bodyPr>
          <a:lstStyle/>
          <a:p>
            <a:pPr>
              <a:defRPr sz="1100">
                <a:solidFill>
                  <a:srgbClr val="2C2C2C"/>
                </a:solidFill>
                <a:latin typeface="Microsoft YaHei"/>
              </a:defRPr>
            </a:pPr>
            <a:r>
              <a:t>3. 什么是关键数量？其存在对企业的定价与渗透策略有何含义？</a:t>
            </a:r>
          </a:p>
        </p:txBody>
      </p:sp>
      <p:sp>
        <p:nvSpPr>
          <p:cNvPr id="12" name="TextBox 11"/>
          <p:cNvSpPr txBox="1"/>
          <p:nvPr/>
        </p:nvSpPr>
        <p:spPr>
          <a:xfrm>
            <a:off x="457200" y="2971800"/>
            <a:ext cx="5669280" cy="502920"/>
          </a:xfrm>
          <a:prstGeom prst="rect">
            <a:avLst/>
          </a:prstGeom>
          <a:noFill/>
        </p:spPr>
        <p:txBody>
          <a:bodyPr wrap="square">
            <a:spAutoFit/>
          </a:bodyPr>
          <a:lstStyle/>
          <a:p>
            <a:pPr>
              <a:defRPr sz="1100">
                <a:solidFill>
                  <a:srgbClr val="2C2C2C"/>
                </a:solidFill>
                <a:latin typeface="Microsoft YaHei"/>
              </a:defRPr>
            </a:pPr>
            <a:r>
              <a:t>4. 结合图9-2分析中国手机市场在哪一年前后达到关键数量，并解释原因。</a:t>
            </a:r>
          </a:p>
        </p:txBody>
      </p:sp>
      <p:sp>
        <p:nvSpPr>
          <p:cNvPr id="13" name="TextBox 12"/>
          <p:cNvSpPr txBox="1"/>
          <p:nvPr/>
        </p:nvSpPr>
        <p:spPr>
          <a:xfrm>
            <a:off x="457200" y="3520439"/>
            <a:ext cx="5669280" cy="502920"/>
          </a:xfrm>
          <a:prstGeom prst="rect">
            <a:avLst/>
          </a:prstGeom>
          <a:noFill/>
        </p:spPr>
        <p:txBody>
          <a:bodyPr wrap="square">
            <a:spAutoFit/>
          </a:bodyPr>
          <a:lstStyle/>
          <a:p>
            <a:pPr>
              <a:defRPr sz="1100">
                <a:solidFill>
                  <a:srgbClr val="2C2C2C"/>
                </a:solidFill>
                <a:latin typeface="Microsoft YaHei"/>
              </a:defRPr>
            </a:pPr>
            <a:r>
              <a:t>5. 淘宝“免费”策略为什么能够战胜eBay的收费模式？用网络外部性解释。</a:t>
            </a:r>
          </a:p>
        </p:txBody>
      </p:sp>
      <p:sp>
        <p:nvSpPr>
          <p:cNvPr id="14" name="TextBox 13"/>
          <p:cNvSpPr txBox="1"/>
          <p:nvPr/>
        </p:nvSpPr>
        <p:spPr>
          <a:xfrm>
            <a:off x="457200" y="4069080"/>
            <a:ext cx="5669280" cy="502920"/>
          </a:xfrm>
          <a:prstGeom prst="rect">
            <a:avLst/>
          </a:prstGeom>
          <a:noFill/>
        </p:spPr>
        <p:txBody>
          <a:bodyPr wrap="square">
            <a:spAutoFit/>
          </a:bodyPr>
          <a:lstStyle/>
          <a:p>
            <a:pPr>
              <a:defRPr sz="1100">
                <a:solidFill>
                  <a:srgbClr val="2C2C2C"/>
                </a:solidFill>
                <a:latin typeface="Microsoft YaHei"/>
              </a:defRPr>
            </a:pPr>
            <a:r>
              <a:t>6. 什么是双边市场？Rochet和Tirole如何区分单边市场与双边市场？</a:t>
            </a:r>
          </a:p>
        </p:txBody>
      </p:sp>
      <p:sp>
        <p:nvSpPr>
          <p:cNvPr id="15" name="TextBox 14"/>
          <p:cNvSpPr txBox="1"/>
          <p:nvPr/>
        </p:nvSpPr>
        <p:spPr>
          <a:xfrm>
            <a:off x="457200" y="4617720"/>
            <a:ext cx="5669280" cy="502920"/>
          </a:xfrm>
          <a:prstGeom prst="rect">
            <a:avLst/>
          </a:prstGeom>
          <a:noFill/>
        </p:spPr>
        <p:txBody>
          <a:bodyPr wrap="square">
            <a:spAutoFit/>
          </a:bodyPr>
          <a:lstStyle/>
          <a:p>
            <a:pPr>
              <a:defRPr sz="1100">
                <a:solidFill>
                  <a:srgbClr val="2C2C2C"/>
                </a:solidFill>
                <a:latin typeface="Microsoft YaHei"/>
              </a:defRPr>
            </a:pPr>
            <a:r>
              <a:t>7. 平台经济的两大特征是什么？成员外部性与用途外部性有何区别？</a:t>
            </a:r>
          </a:p>
        </p:txBody>
      </p:sp>
      <p:sp>
        <p:nvSpPr>
          <p:cNvPr id="16" name="TextBox 15"/>
          <p:cNvSpPr txBox="1"/>
          <p:nvPr/>
        </p:nvSpPr>
        <p:spPr>
          <a:xfrm>
            <a:off x="457200" y="5166360"/>
            <a:ext cx="5669280" cy="502920"/>
          </a:xfrm>
          <a:prstGeom prst="rect">
            <a:avLst/>
          </a:prstGeom>
          <a:noFill/>
        </p:spPr>
        <p:txBody>
          <a:bodyPr wrap="square">
            <a:spAutoFit/>
          </a:bodyPr>
          <a:lstStyle/>
          <a:p>
            <a:pPr>
              <a:defRPr sz="1100">
                <a:solidFill>
                  <a:srgbClr val="2C2C2C"/>
                </a:solidFill>
                <a:latin typeface="Microsoft YaHei"/>
              </a:defRPr>
            </a:pPr>
            <a:r>
              <a:t>8. 什么是多属行为？买方多属与卖方多属分别出现在什么市场状态下？</a:t>
            </a:r>
          </a:p>
        </p:txBody>
      </p:sp>
      <p:sp>
        <p:nvSpPr>
          <p:cNvPr id="17" name="TextBox 16"/>
          <p:cNvSpPr txBox="1"/>
          <p:nvPr/>
        </p:nvSpPr>
        <p:spPr>
          <a:xfrm>
            <a:off x="457200" y="5715000"/>
            <a:ext cx="5669280" cy="502920"/>
          </a:xfrm>
          <a:prstGeom prst="rect">
            <a:avLst/>
          </a:prstGeom>
          <a:noFill/>
        </p:spPr>
        <p:txBody>
          <a:bodyPr wrap="square">
            <a:spAutoFit/>
          </a:bodyPr>
          <a:lstStyle/>
          <a:p>
            <a:pPr>
              <a:defRPr sz="1100">
                <a:solidFill>
                  <a:srgbClr val="2C2C2C"/>
                </a:solidFill>
                <a:latin typeface="Microsoft YaHei"/>
              </a:defRPr>
            </a:pPr>
            <a:r>
              <a:t>9. 推导标准选择模型中单一标准成为均衡的条件，并解释其经济含义。</a:t>
            </a:r>
          </a:p>
        </p:txBody>
      </p:sp>
      <p:sp>
        <p:nvSpPr>
          <p:cNvPr id="18" name="TextBox 17"/>
          <p:cNvSpPr txBox="1"/>
          <p:nvPr/>
        </p:nvSpPr>
        <p:spPr>
          <a:xfrm>
            <a:off x="6263640" y="1325880"/>
            <a:ext cx="5669280" cy="502920"/>
          </a:xfrm>
          <a:prstGeom prst="rect">
            <a:avLst/>
          </a:prstGeom>
          <a:noFill/>
        </p:spPr>
        <p:txBody>
          <a:bodyPr wrap="square">
            <a:spAutoFit/>
          </a:bodyPr>
          <a:lstStyle/>
          <a:p>
            <a:pPr>
              <a:defRPr sz="1100">
                <a:solidFill>
                  <a:srgbClr val="2C2C2C"/>
                </a:solidFill>
                <a:latin typeface="Microsoft YaHei"/>
              </a:defRPr>
            </a:pPr>
            <a:r>
              <a:t>10. 什么是路径依赖？为什么市场可能锁定在一个次优标准之上？</a:t>
            </a:r>
          </a:p>
        </p:txBody>
      </p:sp>
      <p:sp>
        <p:nvSpPr>
          <p:cNvPr id="19" name="TextBox 18"/>
          <p:cNvSpPr txBox="1"/>
          <p:nvPr/>
        </p:nvSpPr>
        <p:spPr>
          <a:xfrm>
            <a:off x="6263640" y="1874519"/>
            <a:ext cx="5669280" cy="502920"/>
          </a:xfrm>
          <a:prstGeom prst="rect">
            <a:avLst/>
          </a:prstGeom>
          <a:noFill/>
        </p:spPr>
        <p:txBody>
          <a:bodyPr wrap="square">
            <a:spAutoFit/>
          </a:bodyPr>
          <a:lstStyle/>
          <a:p>
            <a:pPr>
              <a:defRPr sz="1100">
                <a:solidFill>
                  <a:srgbClr val="2C2C2C"/>
                </a:solidFill>
                <a:latin typeface="Microsoft YaHei"/>
              </a:defRPr>
            </a:pPr>
            <a:r>
              <a:t>11. 什么是过度惰性与过度积极？它们为何会出现在具有网络外部性的市场中？</a:t>
            </a:r>
          </a:p>
        </p:txBody>
      </p:sp>
      <p:sp>
        <p:nvSpPr>
          <p:cNvPr id="20" name="TextBox 19"/>
          <p:cNvSpPr txBox="1"/>
          <p:nvPr/>
        </p:nvSpPr>
        <p:spPr>
          <a:xfrm>
            <a:off x="6263640" y="2423160"/>
            <a:ext cx="5669280" cy="502920"/>
          </a:xfrm>
          <a:prstGeom prst="rect">
            <a:avLst/>
          </a:prstGeom>
          <a:noFill/>
        </p:spPr>
        <p:txBody>
          <a:bodyPr wrap="square">
            <a:spAutoFit/>
          </a:bodyPr>
          <a:lstStyle/>
          <a:p>
            <a:pPr>
              <a:defRPr sz="1100">
                <a:solidFill>
                  <a:srgbClr val="2C2C2C"/>
                </a:solidFill>
                <a:latin typeface="Microsoft YaHei"/>
              </a:defRPr>
            </a:pPr>
            <a:r>
              <a:t>12. 结合图9-4说明年轻消费者在何种条件下会选择新技术。</a:t>
            </a:r>
          </a:p>
        </p:txBody>
      </p:sp>
      <p:sp>
        <p:nvSpPr>
          <p:cNvPr id="21" name="TextBox 20"/>
          <p:cNvSpPr txBox="1"/>
          <p:nvPr/>
        </p:nvSpPr>
        <p:spPr>
          <a:xfrm>
            <a:off x="6263640" y="2971800"/>
            <a:ext cx="5669280" cy="502920"/>
          </a:xfrm>
          <a:prstGeom prst="rect">
            <a:avLst/>
          </a:prstGeom>
          <a:noFill/>
        </p:spPr>
        <p:txBody>
          <a:bodyPr wrap="square">
            <a:spAutoFit/>
          </a:bodyPr>
          <a:lstStyle/>
          <a:p>
            <a:pPr>
              <a:defRPr sz="1100">
                <a:solidFill>
                  <a:srgbClr val="2C2C2C"/>
                </a:solidFill>
                <a:latin typeface="Microsoft YaHei"/>
              </a:defRPr>
            </a:pPr>
            <a:r>
              <a:t>13. 从消费者和厂商两个角度分析兼容性的利弊。</a:t>
            </a:r>
          </a:p>
        </p:txBody>
      </p:sp>
      <p:sp>
        <p:nvSpPr>
          <p:cNvPr id="22" name="TextBox 21"/>
          <p:cNvSpPr txBox="1"/>
          <p:nvPr/>
        </p:nvSpPr>
        <p:spPr>
          <a:xfrm>
            <a:off x="6263640" y="3520439"/>
            <a:ext cx="5669280" cy="502920"/>
          </a:xfrm>
          <a:prstGeom prst="rect">
            <a:avLst/>
          </a:prstGeom>
          <a:noFill/>
        </p:spPr>
        <p:txBody>
          <a:bodyPr wrap="square">
            <a:spAutoFit/>
          </a:bodyPr>
          <a:lstStyle/>
          <a:p>
            <a:pPr>
              <a:defRPr sz="1100">
                <a:solidFill>
                  <a:srgbClr val="2C2C2C"/>
                </a:solidFill>
                <a:latin typeface="Microsoft YaHei"/>
              </a:defRPr>
            </a:pPr>
            <a:r>
              <a:t>14. 厂商在什么条件下更愿意选择相互兼容的标准？为什么？</a:t>
            </a:r>
          </a:p>
        </p:txBody>
      </p:sp>
      <p:sp>
        <p:nvSpPr>
          <p:cNvPr id="23" name="TextBox 22"/>
          <p:cNvSpPr txBox="1"/>
          <p:nvPr/>
        </p:nvSpPr>
        <p:spPr>
          <a:xfrm>
            <a:off x="6263640" y="4069080"/>
            <a:ext cx="5669280" cy="502920"/>
          </a:xfrm>
          <a:prstGeom prst="rect">
            <a:avLst/>
          </a:prstGeom>
          <a:noFill/>
        </p:spPr>
        <p:txBody>
          <a:bodyPr wrap="square">
            <a:spAutoFit/>
          </a:bodyPr>
          <a:lstStyle/>
          <a:p>
            <a:pPr>
              <a:defRPr sz="1100">
                <a:solidFill>
                  <a:srgbClr val="2C2C2C"/>
                </a:solidFill>
                <a:latin typeface="Microsoft YaHei"/>
              </a:defRPr>
            </a:pPr>
            <a:r>
              <a:t>15. 比较欧洲GSM与美国多种标准并存的发展路径，评价政府介入标准化的利弊。</a:t>
            </a:r>
          </a:p>
        </p:txBody>
      </p:sp>
      <p:sp>
        <p:nvSpPr>
          <p:cNvPr id="24" name="TextBox 23"/>
          <p:cNvSpPr txBox="1"/>
          <p:nvPr/>
        </p:nvSpPr>
        <p:spPr>
          <a:xfrm>
            <a:off x="6263640" y="4617720"/>
            <a:ext cx="5669280" cy="502920"/>
          </a:xfrm>
          <a:prstGeom prst="rect">
            <a:avLst/>
          </a:prstGeom>
          <a:noFill/>
        </p:spPr>
        <p:txBody>
          <a:bodyPr wrap="square">
            <a:spAutoFit/>
          </a:bodyPr>
          <a:lstStyle/>
          <a:p>
            <a:pPr>
              <a:defRPr sz="1100">
                <a:solidFill>
                  <a:srgbClr val="2C2C2C"/>
                </a:solidFill>
                <a:latin typeface="Microsoft YaHei"/>
              </a:defRPr>
            </a:pPr>
            <a:r>
              <a:t>16. 日本MUSE标准的失败给政府标准选择政策带来什么启示？</a:t>
            </a:r>
          </a:p>
        </p:txBody>
      </p:sp>
      <p:sp>
        <p:nvSpPr>
          <p:cNvPr id="25" name="TextBox 24"/>
          <p:cNvSpPr txBox="1"/>
          <p:nvPr/>
        </p:nvSpPr>
        <p:spPr>
          <a:xfrm>
            <a:off x="6263640" y="5166360"/>
            <a:ext cx="5669280" cy="502920"/>
          </a:xfrm>
          <a:prstGeom prst="rect">
            <a:avLst/>
          </a:prstGeom>
          <a:noFill/>
        </p:spPr>
        <p:txBody>
          <a:bodyPr wrap="square">
            <a:spAutoFit/>
          </a:bodyPr>
          <a:lstStyle/>
          <a:p>
            <a:pPr>
              <a:defRPr sz="1100">
                <a:solidFill>
                  <a:srgbClr val="2C2C2C"/>
                </a:solidFill>
                <a:latin typeface="Microsoft YaHei"/>
              </a:defRPr>
            </a:pPr>
            <a:r>
              <a:t>17. 网络外部性下的垄断有何特殊性？反垄断政策应遵循什么原则？</a:t>
            </a:r>
          </a:p>
        </p:txBody>
      </p:sp>
      <p:sp>
        <p:nvSpPr>
          <p:cNvPr id="26" name="TextBox 25"/>
          <p:cNvSpPr txBox="1"/>
          <p:nvPr/>
        </p:nvSpPr>
        <p:spPr>
          <a:xfrm>
            <a:off x="6263640" y="5715000"/>
            <a:ext cx="5669280" cy="502920"/>
          </a:xfrm>
          <a:prstGeom prst="rect">
            <a:avLst/>
          </a:prstGeom>
          <a:noFill/>
        </p:spPr>
        <p:txBody>
          <a:bodyPr wrap="square">
            <a:spAutoFit/>
          </a:bodyPr>
          <a:lstStyle/>
          <a:p>
            <a:pPr>
              <a:defRPr sz="1100">
                <a:solidFill>
                  <a:srgbClr val="2C2C2C"/>
                </a:solidFill>
                <a:latin typeface="Microsoft YaHei"/>
              </a:defRPr>
            </a:pPr>
            <a:r>
              <a:t>18. 结合中国TD标准的3G/4G/5G历程，评价我国的标准竞争政策。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