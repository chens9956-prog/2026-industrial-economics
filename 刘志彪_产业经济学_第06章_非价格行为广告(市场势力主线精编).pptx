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2895" cy="13716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A4F"/>
                </a:solidFill>
                <a:latin typeface="微软雅黑"/>
              </a:defRPr>
            </a:pPr>
            <a:r>
              <a:t>产业经济学 · 核心教材精讲</a:t>
            </a:r>
          </a:p>
          <a:p>
            <a:pPr>
              <a:spcBef>
                <a:spcPts val="1000"/>
              </a:spcBef>
              <a:defRPr sz="3000" b="1">
                <a:solidFill>
                  <a:srgbClr val="1B4965"/>
                </a:solidFill>
                <a:latin typeface="微软雅黑"/>
              </a:defRPr>
            </a:pPr>
            <a:r>
              <a:t>第六章  非价格行为：广告</a:t>
            </a:r>
          </a:p>
          <a:p>
            <a:pPr>
              <a:spcBef>
                <a:spcPts val="1500"/>
              </a:spcBef>
              <a:defRPr sz="1800" b="1">
                <a:solidFill>
                  <a:srgbClr val="C58A21"/>
                </a:solidFill>
                <a:latin typeface="微软雅黑"/>
              </a:defRPr>
            </a:pPr>
            <a:r>
              <a:t>【核心主线】：改变需求弹性、拉高进入壁垒与巩固市场势力</a:t>
            </a:r>
          </a:p>
          <a:p>
            <a:pPr>
              <a:spcBef>
                <a:spcPts val="2500"/>
              </a:spcBef>
              <a:defRPr sz="1400">
                <a:solidFill>
                  <a:srgbClr val="64748B"/>
                </a:solidFill>
                <a:latin typeface="宋体"/>
              </a:defRPr>
            </a:pPr>
            <a:r>
              <a:t>教材依据：刘志彪《产业经济学》（第3版·高等教育/机械工业出版社）</a:t>
            </a:r>
            <a:br/>
            <a:r>
              <a:t>制作风格：自然清新 · 排版高尚大气 · 浅色系精品课件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第六章  非价格行为：广告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本章目录与市场势力（Market Power）主线映射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2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413455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0476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第一节 广告分类与影响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劝说性 vs 信息性广告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广告通过改变需求弹性增强市场势力。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54480"/>
            <a:ext cx="3413455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30476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第二节 广告与信号传递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Dorfman-Steiner 条件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推导最优广告预算与垄断加价率的均衡。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3413455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37360"/>
            <a:ext cx="30476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第三节 市场效应与进入壁垒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内生沉没成本与品牌护城河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广告拉高进入门槛，巩固现有巨头市场势力。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第六章  非价格行为：广告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第一节 广告的经济学分类与两大核心功能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3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信息性广告 (Informative Advertising)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功能：</a:t>
            </a:r>
            <a:r>
              <a:rPr sz="1250">
                <a:solidFill>
                  <a:srgbClr val="1E293B"/>
                </a:solidFill>
                <a:latin typeface="宋体"/>
              </a:rPr>
              <a:t>向买家告知产品存在、价格、功能及购买渠道。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市场效应：</a:t>
            </a:r>
            <a:r>
              <a:rPr sz="1250">
                <a:solidFill>
                  <a:srgbClr val="1E293B"/>
                </a:solidFill>
                <a:latin typeface="宋体"/>
              </a:rPr>
              <a:t>降低搜索成本，增强市场透明度，促进竞争，降低市场势力。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劝说性广告 (Persuasive Advertising)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功能：</a:t>
            </a:r>
            <a:r>
              <a:rPr sz="1250">
                <a:solidFill>
                  <a:srgbClr val="1E293B"/>
                </a:solidFill>
                <a:latin typeface="宋体"/>
              </a:rPr>
              <a:t>改变买家偏好，建立主观品牌忠诚与心理依赖。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市场效应：</a:t>
            </a:r>
            <a:r>
              <a:rPr sz="1250">
                <a:solidFill>
                  <a:srgbClr val="1E293B"/>
                </a:solidFill>
                <a:latin typeface="宋体"/>
              </a:rPr>
              <a:t>降低需求价格弹性，使需求曲线右移且更陡峭，增强市场势力！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第六章  非价格行为：广告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第一节 广告对需求弹性与定价权的改变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4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需求曲线形态塑造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右移效应：</a:t>
            </a:r>
            <a:r>
              <a:rPr sz="1250">
                <a:solidFill>
                  <a:srgbClr val="1E293B"/>
                </a:solidFill>
                <a:latin typeface="宋体"/>
              </a:rPr>
              <a:t>在相同价格下，劝说性广告拉动更大的购买需求量。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陡峭化效应：</a:t>
            </a:r>
            <a:r>
              <a:rPr sz="1250">
                <a:solidFill>
                  <a:srgbClr val="1E293B"/>
                </a:solidFill>
                <a:latin typeface="宋体"/>
              </a:rPr>
              <a:t>降低需求弹性 (|e| 变小)，使企业可以定出更高的垄断高价。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搜寻品与体验品差异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搜寻品 (Search Goods)：</a:t>
            </a:r>
            <a:r>
              <a:rPr sz="1250">
                <a:solidFill>
                  <a:srgbClr val="1E293B"/>
                </a:solidFill>
                <a:latin typeface="宋体"/>
              </a:rPr>
              <a:t>购买前可检验质量（如服装），信息性广告为主。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体验品 (Experience Goods)：</a:t>
            </a:r>
            <a:r>
              <a:rPr sz="1250">
                <a:solidFill>
                  <a:srgbClr val="1E293B"/>
                </a:solidFill>
                <a:latin typeface="宋体"/>
              </a:rPr>
              <a:t>使用后才知质量（如化妆品、药品），劝说性广告为主。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第六章  非价格行为：广告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第二节 多夫曼-斯泰纳（Dorfman-Steiner）最优条件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5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厂商利润最大化模型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目标函数：</a:t>
            </a:r>
            <a:r>
              <a:rPr sz="1250">
                <a:solidFill>
                  <a:srgbClr val="1E293B"/>
                </a:solidFill>
                <a:latin typeface="宋体"/>
              </a:rPr>
              <a:t>max_{P, A} pi = P * Q(P, A) - C(Q) - A。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决策变量：</a:t>
            </a:r>
            <a:r>
              <a:rPr sz="1250">
                <a:solidFill>
                  <a:srgbClr val="1E293B"/>
                </a:solidFill>
                <a:latin typeface="宋体"/>
              </a:rPr>
              <a:t>价格 P 与 广告支出 A。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Dorfman-Steiner 核心定理推导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公式表达：</a:t>
            </a:r>
            <a:r>
              <a:rPr sz="1250">
                <a:solidFill>
                  <a:srgbClr val="1E293B"/>
                </a:solidFill>
                <a:latin typeface="宋体"/>
              </a:rPr>
              <a:t>A / (P * Q) = e_A / e_P。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经济含义：</a:t>
            </a:r>
            <a:r>
              <a:rPr sz="1250">
                <a:solidFill>
                  <a:srgbClr val="1E293B"/>
                </a:solidFill>
                <a:latin typeface="宋体"/>
              </a:rPr>
              <a:t>最优广告销售额比率等于广告需求弹性与价格需求弹性之比！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主线联系：</a:t>
            </a:r>
            <a:r>
              <a:rPr sz="1250">
                <a:solidFill>
                  <a:srgbClr val="1E293B"/>
                </a:solidFill>
                <a:latin typeface="宋体"/>
              </a:rPr>
              <a:t>市场势力越强（价格弹性 e_P 越小），企业最优广告密集度越高！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第六章  非价格行为：广告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第二节 广告作为质量信号（Signaling Model）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6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信息不对称与高额广告投入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逻辑：</a:t>
            </a:r>
            <a:r>
              <a:rPr sz="1250">
                <a:solidFill>
                  <a:srgbClr val="1E293B"/>
                </a:solidFill>
                <a:latin typeface="宋体"/>
              </a:rPr>
              <a:t>高质量厂商敢于花大钱打广告（钱被视作“烧掉的沉没成本”）。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信号机制：</a:t>
            </a:r>
            <a:r>
              <a:rPr sz="1250">
                <a:solidFill>
                  <a:srgbClr val="1E293B"/>
                </a:solidFill>
                <a:latin typeface="宋体"/>
              </a:rPr>
              <a:t>消费者推论：只有依靠重复购买才能赚回广告费的高质量企业才敢如此烧钱。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明星代言与超级碗广告效益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实务现象：</a:t>
            </a:r>
            <a:r>
              <a:rPr sz="1250">
                <a:solidFill>
                  <a:srgbClr val="1E293B"/>
                </a:solidFill>
                <a:latin typeface="宋体"/>
              </a:rPr>
              <a:t>天价代言费本身就是向市场传递“企业实力雄厚、产品有保障”的强信号。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第六章  非价格行为：广告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体验品 (Experience Goods) 广告与重复购买博弈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7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体验品特征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特点：</a:t>
            </a:r>
            <a:r>
              <a:rPr sz="1250">
                <a:solidFill>
                  <a:srgbClr val="1E293B"/>
                </a:solidFill>
                <a:latin typeface="宋体"/>
              </a:rPr>
              <a:t>买家在购买前无法确知真实质量，极易发生柠檬市场（Lemons Problem）。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重复购买机制与租金维护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租金流：</a:t>
            </a:r>
            <a:r>
              <a:rPr sz="1250">
                <a:solidFill>
                  <a:srgbClr val="1E293B"/>
                </a:solidFill>
                <a:latin typeface="宋体"/>
              </a:rPr>
              <a:t>高质企业通过广告吸引试用，通过重复购买赚取长期高价租金。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第六章  非价格行为：广告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第三节 广告形成的内生沉没成本与进入壁垒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8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萨顿（Sutton）内生沉没成本理论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外生 vs 内生：</a:t>
            </a:r>
            <a:r>
              <a:rPr sz="1250">
                <a:solidFill>
                  <a:srgbClr val="1E293B"/>
                </a:solidFill>
                <a:latin typeface="宋体"/>
              </a:rPr>
              <a:t>厂房设备为外生沉没成本；广告与 R&amp;D 为内生沉没成本。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集中度下限：</a:t>
            </a:r>
            <a:r>
              <a:rPr sz="1250">
                <a:solidFill>
                  <a:srgbClr val="1E293B"/>
                </a:solidFill>
                <a:latin typeface="宋体"/>
              </a:rPr>
              <a:t>在劝说性广告产业中，即使市场规模无限扩大，集中度也不会降为零！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策略性阻止进入手段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拉高进入门槛：</a:t>
            </a:r>
            <a:r>
              <a:rPr sz="1250">
                <a:solidFill>
                  <a:srgbClr val="1E293B"/>
                </a:solidFill>
                <a:latin typeface="宋体"/>
              </a:rPr>
              <a:t>在先巨头建立庞大品牌壁垒，新进入者必须匹配天价广告费方能被市场感知。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第六章  非价格行为：广告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广告与市场集中度的双向因果关系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9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倒 U 型假说 (Inverted-U Hypothesis)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完全竞争：</a:t>
            </a:r>
            <a:r>
              <a:rPr sz="1250">
                <a:solidFill>
                  <a:srgbClr val="1E293B"/>
                </a:solidFill>
                <a:latin typeface="宋体"/>
              </a:rPr>
              <a:t>厂商无数无定价权，广告投入为零。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完全垄断：</a:t>
            </a:r>
            <a:r>
              <a:rPr sz="1250">
                <a:solidFill>
                  <a:srgbClr val="1E293B"/>
                </a:solidFill>
                <a:latin typeface="宋体"/>
              </a:rPr>
              <a:t>无竞争对手威胁，广告投入适度。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寡头垄断：</a:t>
            </a:r>
            <a:r>
              <a:rPr sz="1250">
                <a:solidFill>
                  <a:srgbClr val="1E293B"/>
                </a:solidFill>
                <a:latin typeface="宋体"/>
              </a:rPr>
              <a:t>广告投入达到顶峰！企业通过广告战激烈角逐市场份额。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广告战（Advertising Wars）的博弈论困境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囚徒困境：</a:t>
            </a:r>
            <a:r>
              <a:rPr sz="1250">
                <a:solidFill>
                  <a:srgbClr val="1E293B"/>
                </a:solidFill>
                <a:latin typeface="宋体"/>
              </a:rPr>
              <a:t>双方均打广告相互抵消，利润下降；但不打广告会被对手蚕食。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第六章  非价格行为：广告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劝说性广告对社会福利的双重效应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10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正向社会福利效应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传播信息：</a:t>
            </a:r>
            <a:r>
              <a:rPr sz="1250">
                <a:solidFill>
                  <a:srgbClr val="1E293B"/>
                </a:solidFill>
                <a:latin typeface="宋体"/>
              </a:rPr>
              <a:t>降低搜索成本，引导消费升级。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资助媒介：</a:t>
            </a:r>
            <a:r>
              <a:rPr sz="1250">
                <a:solidFill>
                  <a:srgbClr val="1E293B"/>
                </a:solidFill>
                <a:latin typeface="宋体"/>
              </a:rPr>
              <a:t>为新闻、广播、免费数字平台提供资金补贴。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负向无谓损失与社会浪费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过度投入：</a:t>
            </a:r>
            <a:r>
              <a:rPr sz="1250">
                <a:solidFill>
                  <a:srgbClr val="1E293B"/>
                </a:solidFill>
                <a:latin typeface="宋体"/>
              </a:rPr>
              <a:t>劝说性广告造成虚假偏好，诱导过度消费。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固化垄断：</a:t>
            </a:r>
            <a:r>
              <a:rPr sz="1250">
                <a:solidFill>
                  <a:srgbClr val="1E293B"/>
                </a:solidFill>
                <a:latin typeface="宋体"/>
              </a:rPr>
              <a:t>帮助在先垄断者阻碍有效竞争，扩大 Deadweight Loss。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第六章  非价格行为：广告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数字时代的计算广告与计算推荐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11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定向精准广告 (Targeted Advertising)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技术变革：</a:t>
            </a:r>
            <a:r>
              <a:rPr sz="1250">
                <a:solidFill>
                  <a:srgbClr val="1E293B"/>
                </a:solidFill>
                <a:latin typeface="宋体"/>
              </a:rPr>
              <a:t>从传统广播式大投转向基于算法和用户画像的千人千面精准推送。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效率提升：</a:t>
            </a:r>
            <a:r>
              <a:rPr sz="1250">
                <a:solidFill>
                  <a:srgbClr val="1E293B"/>
                </a:solidFill>
                <a:latin typeface="宋体"/>
              </a:rPr>
              <a:t>显著提高广告转化率 (CTR)，降低无效广告浪费。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平台数据壁垒与广告垄断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闭环生态：</a:t>
            </a:r>
            <a:r>
              <a:rPr sz="1250">
                <a:solidFill>
                  <a:srgbClr val="1E293B"/>
                </a:solidFill>
                <a:latin typeface="宋体"/>
              </a:rPr>
              <a:t>谷歌、Meta、字节等巨头掌控海量数据，形成数字广告双寡头垄断。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第六章  非价格行为：广告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社媒种草与短视频带货广告的微观影响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12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KOL 种草与软广隐蔽化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现象：</a:t>
            </a:r>
            <a:r>
              <a:rPr sz="1250">
                <a:solidFill>
                  <a:srgbClr val="1E293B"/>
                </a:solidFill>
                <a:latin typeface="宋体"/>
              </a:rPr>
              <a:t>将劝说性广告包装成第三方真实测评（种草）。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市场效应：</a:t>
            </a:r>
            <a:r>
              <a:rPr sz="1250">
                <a:solidFill>
                  <a:srgbClr val="1E293B"/>
                </a:solidFill>
                <a:latin typeface="宋体"/>
              </a:rPr>
              <a:t>更高效地侵蚀消费者剩余，强化新品牌在特定微领域的垄断加价。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竞价排名与流量税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平台提成：</a:t>
            </a:r>
            <a:r>
              <a:rPr sz="1250">
                <a:solidFill>
                  <a:srgbClr val="1E293B"/>
                </a:solidFill>
                <a:latin typeface="宋体"/>
              </a:rPr>
              <a:t>商家为获得流量支付高额竞价费，沦为给平台打工。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第六章  非价格行为：广告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中国快消品与互联网平台广告竞争案例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13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脑白金与元气森林的广告洗脑战略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营销模式：</a:t>
            </a:r>
            <a:r>
              <a:rPr sz="1250">
                <a:solidFill>
                  <a:srgbClr val="1E293B"/>
                </a:solidFill>
                <a:latin typeface="宋体"/>
              </a:rPr>
              <a:t>通过高频劝说性广告快速占据脑海定位，建立强品牌垄断加价空间。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电商平台与直播带货广告流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流量即广告：</a:t>
            </a:r>
            <a:r>
              <a:rPr sz="1250">
                <a:solidFill>
                  <a:srgbClr val="1E293B"/>
                </a:solidFill>
                <a:latin typeface="宋体"/>
              </a:rPr>
              <a:t>商家为获得买量推荐支付高额竞价排名费与带货佣金。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第六章  非价格行为：广告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广告类型、作用机制与市场势力影响对比矩阵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14 / 16 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广告类型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核心功能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对需求弹性的影响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对集中度的影响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对市场势力的作用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信息性广告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提供客观信息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变大 (|e| 变大)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降低集中度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促进竞争，削弱市场势力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劝说性广告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塑造主观偏好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变小 (|e| 变小)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提高集中度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建立护城河，增强市场势力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信号性广告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传递质量信号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建立信任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强化优质企业集中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帮助高质量企业获取溢价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定向计算广告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算法精准匹配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个性化分割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进一步向平台集中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巩固数据平台统治地位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第六章  非价格行为：广告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 15 节 延伸视角｜广告与需求弹性与市场势力深度研讨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15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市场势力（Market Power）拓展分析 15-A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理论深化：</a:t>
            </a:r>
            <a:r>
              <a:rPr sz="1250">
                <a:solidFill>
                  <a:srgbClr val="1E293B"/>
                </a:solidFill>
                <a:latin typeface="宋体"/>
              </a:rPr>
              <a:t>围绕《产业经济学》（第3版）第6章的核心机制进行博弈与福利深化。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现实映射：</a:t>
            </a:r>
            <a:r>
              <a:rPr sz="1250">
                <a:solidFill>
                  <a:srgbClr val="1E293B"/>
                </a:solidFill>
                <a:latin typeface="宋体"/>
              </a:rPr>
              <a:t>考察市场结构变迁对企业定价、规模扩张与行业效益的传导机制。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反垄断与微观规制视角 15-B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政策导向：</a:t>
            </a:r>
            <a:r>
              <a:rPr sz="1250">
                <a:solidFill>
                  <a:srgbClr val="1E293B"/>
                </a:solidFill>
                <a:latin typeface="宋体"/>
              </a:rPr>
              <a:t>评估政府行政干预与竞争政策在防范市场势力滥用中的边界。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治理创新：</a:t>
            </a:r>
            <a:r>
              <a:rPr sz="1250">
                <a:solidFill>
                  <a:srgbClr val="1E293B"/>
                </a:solidFill>
                <a:latin typeface="宋体"/>
              </a:rPr>
              <a:t>推动竞争政策基础地位与全国统一大市场建设的协同。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第六章  非价格行为：广告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思考与研讨｜虚假广告与数字广告垄断规制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16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竞价排名与广告/搜索界限模糊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现象：</a:t>
            </a:r>
            <a:r>
              <a:rPr sz="1250">
                <a:solidFill>
                  <a:srgbClr val="1E293B"/>
                </a:solidFill>
                <a:latin typeface="宋体"/>
              </a:rPr>
              <a:t>搜索引擎将广告混同于自然搜索结果。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思考：</a:t>
            </a:r>
            <a:r>
              <a:rPr sz="1250">
                <a:solidFill>
                  <a:srgbClr val="1E293B"/>
                </a:solidFill>
                <a:latin typeface="宋体"/>
              </a:rPr>
              <a:t>这是否构成了欺诈与滥用市场支配地位？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隐私保护与定向广告限制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趋势：</a:t>
            </a:r>
            <a:r>
              <a:rPr sz="1250">
                <a:solidFill>
                  <a:srgbClr val="1E293B"/>
                </a:solidFill>
                <a:latin typeface="宋体"/>
              </a:rPr>
              <a:t>苹果 iOS 限制跨应用追踪，GDPR 加强隐私保护。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思考：</a:t>
            </a:r>
            <a:r>
              <a:rPr sz="1250">
                <a:solidFill>
                  <a:srgbClr val="1E293B"/>
                </a:solidFill>
                <a:latin typeface="宋体"/>
              </a:rPr>
              <a:t>隐私法规如何重塑数字广告市场的竞争格局？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