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914400"/>
            <a:ext cx="10362895" cy="13716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48495" cy="3657600"/>
          </a:xfrm>
          <a:prstGeom prst="rect">
            <a:avLst/>
          </a:prstGeom>
          <a:noFill/>
        </p:spPr>
        <p:txBody>
          <a:bodyPr wrap="square">
            <a:spAutoFit/>
          </a:bodyPr>
          <a:lstStyle/>
          <a:p>
            <a:pPr>
              <a:defRPr sz="1800" b="1">
                <a:solidFill>
                  <a:srgbClr val="2D6A4F"/>
                </a:solidFill>
                <a:latin typeface="微软雅黑"/>
              </a:defRPr>
            </a:pPr>
            <a:r>
              <a:t>产业经济学 · 核心教材精讲</a:t>
            </a:r>
          </a:p>
          <a:p>
            <a:pPr>
              <a:spcBef>
                <a:spcPts val="1000"/>
              </a:spcBef>
              <a:defRPr sz="3000" b="1">
                <a:solidFill>
                  <a:srgbClr val="1B4965"/>
                </a:solidFill>
                <a:latin typeface="微软雅黑"/>
              </a:defRPr>
            </a:pPr>
            <a:r>
              <a:t>第十五章  产业集聚与产业转移</a:t>
            </a:r>
          </a:p>
          <a:p>
            <a:pPr>
              <a:spcBef>
                <a:spcPts val="1500"/>
              </a:spcBef>
              <a:defRPr sz="1800" b="1">
                <a:solidFill>
                  <a:srgbClr val="C58A21"/>
                </a:solidFill>
                <a:latin typeface="微软雅黑"/>
              </a:defRPr>
            </a:pPr>
            <a:r>
              <a:t>【核心主线】：产业控制力的空间载体与集聚溢出效应</a:t>
            </a:r>
          </a:p>
          <a:p>
            <a:pPr>
              <a:spcBef>
                <a:spcPts val="2500"/>
              </a:spcBef>
              <a:defRPr sz="1400">
                <a:solidFill>
                  <a:srgbClr val="64748B"/>
                </a:solidFill>
                <a:latin typeface="宋体"/>
              </a:defRPr>
            </a:pPr>
            <a:r>
              <a:t>教材依据：刘志彪《产业经济学》（第3版·高等教育/机械工业出版社）</a:t>
            </a:r>
            <a:br/>
            <a:r>
              <a:t>制作风格：自然清新 · 排版高尚大气 · 浅色系精品课件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本章目录与产业控制力主线映射</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2 / 16 页</a:t>
            </a:r>
          </a:p>
        </p:txBody>
      </p:sp>
      <p:sp>
        <p:nvSpPr>
          <p:cNvPr id="6" name="Rounded Rectangle 5"/>
          <p:cNvSpPr/>
          <p:nvPr/>
        </p:nvSpPr>
        <p:spPr>
          <a:xfrm>
            <a:off x="7315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3413455"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3047695" cy="4297680"/>
          </a:xfrm>
          <a:prstGeom prst="rect">
            <a:avLst/>
          </a:prstGeom>
          <a:noFill/>
        </p:spPr>
        <p:txBody>
          <a:bodyPr wrap="square">
            <a:spAutoFit/>
          </a:bodyPr>
          <a:lstStyle/>
          <a:p>
            <a:pPr>
              <a:spcAft>
                <a:spcPts val="800"/>
              </a:spcAft>
              <a:defRPr sz="1500" b="1">
                <a:solidFill>
                  <a:srgbClr val="1B4965"/>
                </a:solidFill>
                <a:latin typeface="微软雅黑"/>
              </a:defRPr>
            </a:pPr>
            <a:r>
              <a:t>第一节 产业集聚与马歇尔效应</a:t>
            </a:r>
          </a:p>
          <a:p>
            <a:pPr>
              <a:spcAft>
                <a:spcPts val="600"/>
              </a:spcAft>
            </a:pPr>
            <a:r>
              <a:rPr b="1" sz="1250">
                <a:solidFill>
                  <a:srgbClr val="1E293B"/>
                </a:solidFill>
                <a:latin typeface="微软雅黑"/>
              </a:rPr>
              <a:t>核心内容：</a:t>
            </a:r>
            <a:r>
              <a:rPr sz="1250">
                <a:solidFill>
                  <a:srgbClr val="1E293B"/>
                </a:solidFill>
                <a:latin typeface="宋体"/>
              </a:rPr>
              <a:t>集聚外部性与知识溢出</a:t>
            </a:r>
          </a:p>
          <a:p>
            <a:pPr>
              <a:spcAft>
                <a:spcPts val="600"/>
              </a:spcAft>
            </a:pPr>
            <a:r>
              <a:rPr b="1" sz="1250">
                <a:solidFill>
                  <a:srgbClr val="1E293B"/>
                </a:solidFill>
                <a:latin typeface="微软雅黑"/>
              </a:rPr>
              <a:t>主线映射：</a:t>
            </a:r>
            <a:r>
              <a:rPr sz="1250">
                <a:solidFill>
                  <a:srgbClr val="1E293B"/>
                </a:solidFill>
                <a:latin typeface="宋体"/>
              </a:rPr>
              <a:t>地理集聚是提升产业整体控制力的空间载体。</a:t>
            </a:r>
          </a:p>
        </p:txBody>
      </p:sp>
      <p:sp>
        <p:nvSpPr>
          <p:cNvPr id="9" name="Rounded Rectangle 8"/>
          <p:cNvSpPr/>
          <p:nvPr/>
        </p:nvSpPr>
        <p:spPr>
          <a:xfrm>
            <a:off x="43891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341345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737360"/>
            <a:ext cx="3047695" cy="4297680"/>
          </a:xfrm>
          <a:prstGeom prst="rect">
            <a:avLst/>
          </a:prstGeom>
          <a:noFill/>
        </p:spPr>
        <p:txBody>
          <a:bodyPr wrap="square">
            <a:spAutoFit/>
          </a:bodyPr>
          <a:lstStyle/>
          <a:p>
            <a:pPr>
              <a:spcAft>
                <a:spcPts val="800"/>
              </a:spcAft>
              <a:defRPr sz="1500" b="1">
                <a:solidFill>
                  <a:srgbClr val="2D6A4F"/>
                </a:solidFill>
                <a:latin typeface="微软雅黑"/>
              </a:defRPr>
            </a:pPr>
            <a:r>
              <a:t>第二节 新经济地理与产业转移</a:t>
            </a:r>
          </a:p>
          <a:p>
            <a:pPr>
              <a:spcAft>
                <a:spcPts val="600"/>
              </a:spcAft>
            </a:pPr>
            <a:r>
              <a:rPr b="1" sz="1250">
                <a:solidFill>
                  <a:srgbClr val="1E293B"/>
                </a:solidFill>
                <a:latin typeface="微软雅黑"/>
              </a:rPr>
              <a:t>核心内容：</a:t>
            </a:r>
            <a:r>
              <a:rPr sz="1250">
                <a:solidFill>
                  <a:srgbClr val="1E293B"/>
                </a:solidFill>
                <a:latin typeface="宋体"/>
              </a:rPr>
              <a:t>向心力/离心力与梯度转移</a:t>
            </a:r>
          </a:p>
          <a:p>
            <a:pPr>
              <a:spcAft>
                <a:spcPts val="600"/>
              </a:spcAft>
            </a:pPr>
            <a:r>
              <a:rPr b="1" sz="1250">
                <a:solidFill>
                  <a:srgbClr val="1E293B"/>
                </a:solidFill>
                <a:latin typeface="微软雅黑"/>
              </a:rPr>
              <a:t>主线映射：</a:t>
            </a:r>
            <a:r>
              <a:rPr sz="1250">
                <a:solidFill>
                  <a:srgbClr val="1E293B"/>
                </a:solidFill>
                <a:latin typeface="宋体"/>
              </a:rPr>
              <a:t>揭示产业在空间维度的重组与扩散规律。</a:t>
            </a:r>
          </a:p>
        </p:txBody>
      </p:sp>
      <p:sp>
        <p:nvSpPr>
          <p:cNvPr id="12" name="Rounded Rectangle 11"/>
          <p:cNvSpPr/>
          <p:nvPr/>
        </p:nvSpPr>
        <p:spPr>
          <a:xfrm>
            <a:off x="80467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554480"/>
            <a:ext cx="3413455"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737360"/>
            <a:ext cx="3047695" cy="4297680"/>
          </a:xfrm>
          <a:prstGeom prst="rect">
            <a:avLst/>
          </a:prstGeom>
          <a:noFill/>
        </p:spPr>
        <p:txBody>
          <a:bodyPr wrap="square">
            <a:spAutoFit/>
          </a:bodyPr>
          <a:lstStyle/>
          <a:p>
            <a:pPr>
              <a:spcAft>
                <a:spcPts val="800"/>
              </a:spcAft>
              <a:defRPr sz="1500" b="1">
                <a:solidFill>
                  <a:srgbClr val="C58A21"/>
                </a:solidFill>
                <a:latin typeface="微软雅黑"/>
              </a:defRPr>
            </a:pPr>
            <a:r>
              <a:t>第三节 产业集群与区域控制力</a:t>
            </a:r>
          </a:p>
          <a:p>
            <a:pPr>
              <a:spcAft>
                <a:spcPts val="600"/>
              </a:spcAft>
            </a:pPr>
            <a:r>
              <a:rPr b="1" sz="1250">
                <a:solidFill>
                  <a:srgbClr val="1E293B"/>
                </a:solidFill>
                <a:latin typeface="微软雅黑"/>
              </a:rPr>
              <a:t>核心内容：</a:t>
            </a:r>
            <a:r>
              <a:rPr sz="1250">
                <a:solidFill>
                  <a:srgbClr val="1E293B"/>
                </a:solidFill>
                <a:latin typeface="宋体"/>
              </a:rPr>
              <a:t>专业化集群与网络协同</a:t>
            </a:r>
          </a:p>
          <a:p>
            <a:pPr>
              <a:spcAft>
                <a:spcPts val="600"/>
              </a:spcAft>
            </a:pPr>
            <a:r>
              <a:rPr b="1" sz="1250">
                <a:solidFill>
                  <a:srgbClr val="1E293B"/>
                </a:solidFill>
                <a:latin typeface="微软雅黑"/>
              </a:rPr>
              <a:t>主线映射：</a:t>
            </a:r>
            <a:r>
              <a:rPr sz="1250">
                <a:solidFill>
                  <a:srgbClr val="1E293B"/>
                </a:solidFill>
                <a:latin typeface="宋体"/>
              </a:rPr>
              <a:t>打造具备国际竞争力的产业集群防护网。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第一节 产业集聚 (Industrial Agglomeration) 概念</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产业集聚定义</a:t>
            </a:r>
          </a:p>
          <a:p>
            <a:pPr>
              <a:spcAft>
                <a:spcPts val="600"/>
              </a:spcAft>
            </a:pPr>
            <a:r>
              <a:rPr b="1" sz="1250">
                <a:solidFill>
                  <a:srgbClr val="1E293B"/>
                </a:solidFill>
                <a:latin typeface="微软雅黑"/>
              </a:rPr>
              <a:t>定义：</a:t>
            </a:r>
            <a:r>
              <a:rPr sz="1250">
                <a:solidFill>
                  <a:srgbClr val="1E293B"/>
                </a:solidFill>
                <a:latin typeface="宋体"/>
              </a:rPr>
              <a:t>同一产业及相关支撑企业在特定地理空间上的高度集中现象（如硅谷、东莞电子集群）。</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马歇尔（Marshall, 1890）三大集聚外部性</a:t>
            </a:r>
          </a:p>
          <a:p>
            <a:pPr>
              <a:spcAft>
                <a:spcPts val="600"/>
              </a:spcAft>
            </a:pPr>
            <a:r>
              <a:rPr b="1" sz="1250">
                <a:solidFill>
                  <a:srgbClr val="1E293B"/>
                </a:solidFill>
                <a:latin typeface="微软雅黑"/>
              </a:rPr>
              <a:t>专业化投入品共享：</a:t>
            </a:r>
            <a:r>
              <a:rPr sz="1250">
                <a:solidFill>
                  <a:srgbClr val="1E293B"/>
                </a:solidFill>
                <a:latin typeface="宋体"/>
              </a:rPr>
              <a:t>吸引大量专业供应商，降低采购与运输成本。</a:t>
            </a:r>
          </a:p>
          <a:p>
            <a:pPr>
              <a:spcAft>
                <a:spcPts val="600"/>
              </a:spcAft>
            </a:pPr>
            <a:r>
              <a:rPr b="1" sz="1250">
                <a:solidFill>
                  <a:srgbClr val="1E293B"/>
                </a:solidFill>
                <a:latin typeface="微软雅黑"/>
              </a:rPr>
              <a:t>劳动力池效应 (Labor Pooling)：</a:t>
            </a:r>
            <a:r>
              <a:rPr sz="1250">
                <a:solidFill>
                  <a:srgbClr val="1E293B"/>
                </a:solidFill>
                <a:latin typeface="宋体"/>
              </a:rPr>
              <a:t>形成深厚的专业人才库，降低企业招聘与匹配成本。</a:t>
            </a:r>
          </a:p>
          <a:p>
            <a:pPr>
              <a:spcAft>
                <a:spcPts val="600"/>
              </a:spcAft>
            </a:pPr>
            <a:r>
              <a:rPr b="1" sz="1250">
                <a:solidFill>
                  <a:srgbClr val="1E293B"/>
                </a:solidFill>
                <a:latin typeface="微软雅黑"/>
              </a:rPr>
              <a:t>知识与技术溢出：</a:t>
            </a:r>
            <a:r>
              <a:rPr sz="1250">
                <a:solidFill>
                  <a:srgbClr val="1E293B"/>
                </a:solidFill>
                <a:latin typeface="宋体"/>
              </a:rPr>
              <a:t>“空气中弥漫着创新的秘密”，促进非正式信息交流与技术扩散。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第一节 马歇尔外部性 vs 雅各布斯外部性</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4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马歇尔-阿罗-罗默 (MAR) 专业化外部性</a:t>
            </a:r>
          </a:p>
          <a:p>
            <a:pPr>
              <a:spcAft>
                <a:spcPts val="600"/>
              </a:spcAft>
            </a:pPr>
            <a:r>
              <a:rPr b="1" sz="1250">
                <a:solidFill>
                  <a:srgbClr val="1E293B"/>
                </a:solidFill>
                <a:latin typeface="微软雅黑"/>
              </a:rPr>
              <a:t>特征：</a:t>
            </a:r>
            <a:r>
              <a:rPr sz="1250">
                <a:solidFill>
                  <a:srgbClr val="1E293B"/>
                </a:solidFill>
                <a:latin typeface="宋体"/>
              </a:rPr>
              <a:t>强调同一行业内部企业集聚带来的知识溢出与规模效益。</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雅各布斯 (Jacobs, 1969) 多元化外部性</a:t>
            </a:r>
          </a:p>
          <a:p>
            <a:pPr>
              <a:spcAft>
                <a:spcPts val="600"/>
              </a:spcAft>
            </a:pPr>
            <a:r>
              <a:rPr b="1" sz="1250">
                <a:solidFill>
                  <a:srgbClr val="1E293B"/>
                </a:solidFill>
                <a:latin typeface="微软雅黑"/>
              </a:rPr>
              <a:t>特征：</a:t>
            </a:r>
            <a:r>
              <a:rPr sz="1250">
                <a:solidFill>
                  <a:srgbClr val="1E293B"/>
                </a:solidFill>
                <a:latin typeface="宋体"/>
              </a:rPr>
              <a:t>强调不同行业在城市空间的多样性碰撞，最能激发颠覆性创新！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新经济地理学（Krugman NEG）空间模型</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5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克鲁格曼（Krugman, 1991）核心-边缘模型</a:t>
            </a:r>
          </a:p>
          <a:p>
            <a:pPr>
              <a:spcAft>
                <a:spcPts val="600"/>
              </a:spcAft>
            </a:pPr>
            <a:r>
              <a:rPr b="1" sz="1250">
                <a:solidFill>
                  <a:srgbClr val="1E293B"/>
                </a:solidFill>
                <a:latin typeface="微软雅黑"/>
              </a:rPr>
              <a:t>向心力 (Agglomeration Forces)：</a:t>
            </a:r>
            <a:r>
              <a:rPr sz="1250">
                <a:solidFill>
                  <a:srgbClr val="1E293B"/>
                </a:solidFill>
                <a:latin typeface="宋体"/>
              </a:rPr>
              <a:t>市场规模效应（前向/后向联系）、降低运输成本。</a:t>
            </a:r>
          </a:p>
          <a:p>
            <a:pPr>
              <a:spcAft>
                <a:spcPts val="600"/>
              </a:spcAft>
            </a:pPr>
            <a:r>
              <a:rPr b="1" sz="1250">
                <a:solidFill>
                  <a:srgbClr val="1E293B"/>
                </a:solidFill>
                <a:latin typeface="微软雅黑"/>
              </a:rPr>
              <a:t>离心力 (Dispersion Forces)：</a:t>
            </a:r>
            <a:r>
              <a:rPr sz="1250">
                <a:solidFill>
                  <a:srgbClr val="1E293B"/>
                </a:solidFill>
                <a:latin typeface="宋体"/>
              </a:rPr>
              <a:t>要素价格上涨（地价、工资）、拥挤效应、市场竞争加剧。</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临界点突破与突变</a:t>
            </a:r>
          </a:p>
          <a:p>
            <a:pPr>
              <a:spcAft>
                <a:spcPts val="600"/>
              </a:spcAft>
            </a:pPr>
            <a:r>
              <a:rPr b="1" sz="1250">
                <a:solidFill>
                  <a:srgbClr val="1E293B"/>
                </a:solidFill>
                <a:latin typeface="微软雅黑"/>
              </a:rPr>
              <a:t>演进：</a:t>
            </a:r>
            <a:r>
              <a:rPr sz="1250">
                <a:solidFill>
                  <a:srgbClr val="1E293B"/>
                </a:solidFill>
                <a:latin typeface="宋体"/>
              </a:rPr>
              <a:t>当运输成本降至特定临界值以下时，产业自发向核心区爆发式集聚！</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产业集聚度的衡量指标：区位商与基尼系数</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区位商 (Location Quotient, LQ)</a:t>
            </a:r>
          </a:p>
          <a:p>
            <a:pPr>
              <a:spcAft>
                <a:spcPts val="600"/>
              </a:spcAft>
            </a:pPr>
            <a:r>
              <a:rPr b="1" sz="1250">
                <a:solidFill>
                  <a:srgbClr val="1E293B"/>
                </a:solidFill>
                <a:latin typeface="微软雅黑"/>
              </a:rPr>
              <a:t>公式：</a:t>
            </a:r>
            <a:r>
              <a:rPr sz="1250">
                <a:solidFill>
                  <a:srgbClr val="1E293B"/>
                </a:solidFill>
                <a:latin typeface="宋体"/>
              </a:rPr>
              <a:t>LQ = (e_{ij} / e_j) / (E_i / E)。</a:t>
            </a:r>
          </a:p>
          <a:p>
            <a:pPr>
              <a:spcAft>
                <a:spcPts val="600"/>
              </a:spcAft>
            </a:pPr>
            <a:r>
              <a:rPr b="1" sz="1250">
                <a:solidFill>
                  <a:srgbClr val="1E293B"/>
                </a:solidFill>
                <a:latin typeface="微软雅黑"/>
              </a:rPr>
              <a:t>含义：</a:t>
            </a:r>
            <a:r>
              <a:rPr sz="1250">
                <a:solidFill>
                  <a:srgbClr val="1E293B"/>
                </a:solidFill>
                <a:latin typeface="宋体"/>
              </a:rPr>
              <a:t>LQ &gt; 1 表示行业 i 在区域 j 具备专业化集聚优势；LQ &gt; 1.5 存在高度集中。</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空间基尼系数 (Spatial Gini Coefficient)</a:t>
            </a:r>
          </a:p>
          <a:p>
            <a:pPr>
              <a:spcAft>
                <a:spcPts val="600"/>
              </a:spcAft>
            </a:pPr>
            <a:r>
              <a:rPr b="1" sz="1250">
                <a:solidFill>
                  <a:srgbClr val="1E293B"/>
                </a:solidFill>
                <a:latin typeface="微软雅黑"/>
              </a:rPr>
              <a:t>含义：</a:t>
            </a:r>
            <a:r>
              <a:rPr sz="1250">
                <a:solidFill>
                  <a:srgbClr val="1E293B"/>
                </a:solidFill>
                <a:latin typeface="宋体"/>
              </a:rPr>
              <a:t>衡量特定产业在全域空间分布的不均匀程度（G 越接近 1 越集中）。</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产业转移 (Industrial Relocation) 理论</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7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梯度转移理论（Flying Geese / 雁行模式）</a:t>
            </a:r>
          </a:p>
          <a:p>
            <a:pPr>
              <a:spcAft>
                <a:spcPts val="600"/>
              </a:spcAft>
            </a:pPr>
            <a:r>
              <a:rPr b="1" sz="1250">
                <a:solidFill>
                  <a:srgbClr val="1E293B"/>
                </a:solidFill>
                <a:latin typeface="微软雅黑"/>
              </a:rPr>
              <a:t>赤松要模型：</a:t>
            </a:r>
            <a:r>
              <a:rPr sz="1250">
                <a:solidFill>
                  <a:srgbClr val="1E293B"/>
                </a:solidFill>
                <a:latin typeface="宋体"/>
              </a:rPr>
              <a:t>产业顺应比较优势变化，由高梯度发达国家/地区向低梯度地区阶梯式转移。</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小岛清（Kojima）边际产业扩张理论</a:t>
            </a:r>
          </a:p>
          <a:p>
            <a:pPr>
              <a:spcAft>
                <a:spcPts val="600"/>
              </a:spcAft>
            </a:pPr>
            <a:r>
              <a:rPr b="1" sz="1250">
                <a:solidFill>
                  <a:srgbClr val="1E293B"/>
                </a:solidFill>
                <a:latin typeface="微软雅黑"/>
              </a:rPr>
              <a:t>海外投资：</a:t>
            </a:r>
            <a:r>
              <a:rPr sz="1250">
                <a:solidFill>
                  <a:srgbClr val="1E293B"/>
                </a:solidFill>
                <a:latin typeface="宋体"/>
              </a:rPr>
              <a:t>母国应首先将本国已处于比较劣势的“边际产业”向东道国转移，实现双赢。</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产业转移的驱动机制与推拉力</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8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转出地推力 (Push Forces)</a:t>
            </a:r>
          </a:p>
          <a:p>
            <a:pPr>
              <a:spcAft>
                <a:spcPts val="600"/>
              </a:spcAft>
            </a:pPr>
            <a:r>
              <a:rPr b="1" sz="1250">
                <a:solidFill>
                  <a:srgbClr val="1E293B"/>
                </a:solidFill>
                <a:latin typeface="微软雅黑"/>
              </a:rPr>
              <a:t>成本上升：</a:t>
            </a:r>
            <a:r>
              <a:rPr sz="1250">
                <a:solidFill>
                  <a:srgbClr val="1E293B"/>
                </a:solidFill>
                <a:latin typeface="宋体"/>
              </a:rPr>
              <a:t>土地、劳动力、环保成本剧增，拥挤效应显现。</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转入地拉力 (Pull Forces)</a:t>
            </a:r>
          </a:p>
          <a:p>
            <a:pPr>
              <a:spcAft>
                <a:spcPts val="600"/>
              </a:spcAft>
            </a:pPr>
            <a:r>
              <a:rPr b="1" sz="1250">
                <a:solidFill>
                  <a:srgbClr val="1E293B"/>
                </a:solidFill>
                <a:latin typeface="微软雅黑"/>
              </a:rPr>
              <a:t>优势：</a:t>
            </a:r>
            <a:r>
              <a:rPr sz="1250">
                <a:solidFill>
                  <a:srgbClr val="1E293B"/>
                </a:solidFill>
                <a:latin typeface="宋体"/>
              </a:rPr>
              <a:t>廉价要素、广阔潜在市场、优惠政策与基础设施完善。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产业集聚向产业集群（Industrial Cluster）演进</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9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波特（Porter）产业集群钻石模型</a:t>
            </a:r>
          </a:p>
          <a:p>
            <a:pPr>
              <a:spcAft>
                <a:spcPts val="600"/>
              </a:spcAft>
            </a:pPr>
            <a:r>
              <a:rPr b="1" sz="1250">
                <a:solidFill>
                  <a:srgbClr val="1E293B"/>
                </a:solidFill>
                <a:latin typeface="微软雅黑"/>
              </a:rPr>
              <a:t>四大关键要素：</a:t>
            </a:r>
            <a:r>
              <a:rPr sz="1250">
                <a:solidFill>
                  <a:srgbClr val="1E293B"/>
                </a:solidFill>
                <a:latin typeface="宋体"/>
              </a:rPr>
              <a:t>生产要素、需求条件、相关及支撑产业、企业战略与竞争。</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从地理集聚到网络协同</a:t>
            </a:r>
          </a:p>
          <a:p>
            <a:pPr>
              <a:spcAft>
                <a:spcPts val="600"/>
              </a:spcAft>
            </a:pPr>
            <a:r>
              <a:rPr b="1" sz="1250">
                <a:solidFill>
                  <a:srgbClr val="1E293B"/>
                </a:solidFill>
                <a:latin typeface="微软雅黑"/>
              </a:rPr>
              <a:t>升级：</a:t>
            </a:r>
            <a:r>
              <a:rPr sz="1250">
                <a:solidFill>
                  <a:srgbClr val="1E293B"/>
                </a:solidFill>
                <a:latin typeface="宋体"/>
              </a:rPr>
              <a:t>简单的地理扎堆缺乏网络纽带；高阶集群依赖强信任、协作与创新网络！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中国沿海产业集聚与向中西部梯度转移实践</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10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珠三角与长三角产业集聚奇迹</a:t>
            </a:r>
          </a:p>
          <a:p>
            <a:pPr>
              <a:spcAft>
                <a:spcPts val="600"/>
              </a:spcAft>
            </a:pPr>
            <a:r>
              <a:rPr b="1" sz="1250">
                <a:solidFill>
                  <a:srgbClr val="1E293B"/>
                </a:solidFill>
                <a:latin typeface="微软雅黑"/>
              </a:rPr>
              <a:t>成就：</a:t>
            </a:r>
            <a:r>
              <a:rPr sz="1250">
                <a:solidFill>
                  <a:srgbClr val="1E293B"/>
                </a:solidFill>
                <a:latin typeface="宋体"/>
              </a:rPr>
              <a:t>形成世界级电子信息、纺织、家电产业集群（如“一镇一品”）。</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“腾笼换鸟”与中西部承接产业转移</a:t>
            </a:r>
          </a:p>
          <a:p>
            <a:pPr>
              <a:spcAft>
                <a:spcPts val="600"/>
              </a:spcAft>
            </a:pPr>
            <a:r>
              <a:rPr b="1" sz="1250">
                <a:solidFill>
                  <a:srgbClr val="1E293B"/>
                </a:solidFill>
                <a:latin typeface="微软雅黑"/>
              </a:rPr>
              <a:t>实践：</a:t>
            </a:r>
            <a:r>
              <a:rPr sz="1250">
                <a:solidFill>
                  <a:srgbClr val="1E293B"/>
                </a:solidFill>
                <a:latin typeface="宋体"/>
              </a:rPr>
              <a:t>沿海发展高精尖与现代服务业；中西部（四川、河南、湖北）承接电子组装与装备制造。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产业集聚与区域产业链控制力的巩固机制</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11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集聚带来的产业链粘性 (Sticky Places)</a:t>
            </a:r>
          </a:p>
          <a:p>
            <a:pPr>
              <a:spcAft>
                <a:spcPts val="600"/>
              </a:spcAft>
            </a:pPr>
            <a:r>
              <a:rPr b="1" sz="1250">
                <a:solidFill>
                  <a:srgbClr val="1E293B"/>
                </a:solidFill>
                <a:latin typeface="微软雅黑"/>
              </a:rPr>
              <a:t>防流失壁垒：</a:t>
            </a:r>
            <a:r>
              <a:rPr sz="1250">
                <a:solidFill>
                  <a:srgbClr val="1E293B"/>
                </a:solidFill>
                <a:latin typeface="宋体"/>
              </a:rPr>
              <a:t>高度成熟的配套网络使得个别要素成本上涨不足以引发全产业链外迁。</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强化区域整体竞争优势</a:t>
            </a:r>
          </a:p>
          <a:p>
            <a:pPr>
              <a:spcAft>
                <a:spcPts val="600"/>
              </a:spcAft>
            </a:pPr>
            <a:r>
              <a:rPr b="1" sz="1250">
                <a:solidFill>
                  <a:srgbClr val="1E293B"/>
                </a:solidFill>
                <a:latin typeface="微软雅黑"/>
              </a:rPr>
              <a:t>集群品牌：</a:t>
            </a:r>
            <a:r>
              <a:rPr sz="1250">
                <a:solidFill>
                  <a:srgbClr val="1E293B"/>
                </a:solidFill>
                <a:latin typeface="宋体"/>
              </a:rPr>
              <a:t>以区域品牌（如“绍兴纺织”、“胜芳家具”）提升国际议价权。</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数字化与远程办公对空间集聚与转移的重塑</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12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数字技术的去中心化效应</a:t>
            </a:r>
          </a:p>
          <a:p>
            <a:pPr>
              <a:spcAft>
                <a:spcPts val="600"/>
              </a:spcAft>
            </a:pPr>
            <a:r>
              <a:rPr b="1" sz="1250">
                <a:solidFill>
                  <a:srgbClr val="1E293B"/>
                </a:solidFill>
                <a:latin typeface="微软雅黑"/>
              </a:rPr>
              <a:t>协同变迁：</a:t>
            </a:r>
            <a:r>
              <a:rPr sz="1250">
                <a:solidFill>
                  <a:srgbClr val="1E293B"/>
                </a:solidFill>
                <a:latin typeface="宋体"/>
              </a:rPr>
              <a:t>远程办公、云端协同降低了部分服务与研发对地理紧密接触的依赖。</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数字枢纽的新型集聚</a:t>
            </a:r>
          </a:p>
          <a:p>
            <a:pPr>
              <a:spcAft>
                <a:spcPts val="600"/>
              </a:spcAft>
            </a:pPr>
            <a:r>
              <a:rPr b="1" sz="1250">
                <a:solidFill>
                  <a:srgbClr val="1E293B"/>
                </a:solidFill>
                <a:latin typeface="微软雅黑"/>
              </a:rPr>
              <a:t>新集聚：</a:t>
            </a:r>
            <a:r>
              <a:rPr sz="1250">
                <a:solidFill>
                  <a:srgbClr val="1E293B"/>
                </a:solidFill>
                <a:latin typeface="宋体"/>
              </a:rPr>
              <a:t>算力中心、数据中心在能源丰富的中西部（贵州、内蒙古“东数西算”）形成新集聚。</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第15章 延伸视角｜空间集聚与产业控制力深度研讨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理论深化：空间经济学机制扩展</a:t>
            </a:r>
          </a:p>
          <a:p>
            <a:pPr>
              <a:spcAft>
                <a:spcPts val="600"/>
              </a:spcAft>
            </a:pPr>
            <a:r>
              <a:rPr b="1" sz="1250">
                <a:solidFill>
                  <a:srgbClr val="1E293B"/>
                </a:solidFill>
                <a:latin typeface="微软雅黑"/>
              </a:rPr>
              <a:t>理论深化：</a:t>
            </a:r>
            <a:r>
              <a:rPr sz="1250">
                <a:solidFill>
                  <a:srgbClr val="1E293B"/>
                </a:solidFill>
                <a:latin typeface="宋体"/>
              </a:rPr>
              <a:t>围绕《产业经济学》（第3版）第15章的核心机制进行博弈与福利深化。</a:t>
            </a:r>
          </a:p>
          <a:p>
            <a:pPr>
              <a:spcAft>
                <a:spcPts val="600"/>
              </a:spcAft>
            </a:pPr>
            <a:r>
              <a:rPr b="1" sz="1250">
                <a:solidFill>
                  <a:srgbClr val="1E293B"/>
                </a:solidFill>
                <a:latin typeface="微软雅黑"/>
              </a:rPr>
              <a:t>现实映射：</a:t>
            </a:r>
            <a:r>
              <a:rPr sz="1250">
                <a:solidFill>
                  <a:srgbClr val="1E293B"/>
                </a:solidFill>
                <a:latin typeface="宋体"/>
              </a:rPr>
              <a:t>考察市场结构变迁对企业定价、规模扩张与行业效益的传导机制。</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反垄断与微观规制视角</a:t>
            </a:r>
          </a:p>
          <a:p>
            <a:pPr>
              <a:spcAft>
                <a:spcPts val="600"/>
              </a:spcAft>
            </a:pPr>
            <a:r>
              <a:rPr b="1" sz="1250">
                <a:solidFill>
                  <a:srgbClr val="1E293B"/>
                </a:solidFill>
                <a:latin typeface="微软雅黑"/>
              </a:rPr>
              <a:t>政策导向：</a:t>
            </a:r>
            <a:r>
              <a:rPr sz="1250">
                <a:solidFill>
                  <a:srgbClr val="1E293B"/>
                </a:solidFill>
                <a:latin typeface="宋体"/>
              </a:rPr>
              <a:t>评估政府行政干预与竞争政策在防范市场势力滥用中的边界。</a:t>
            </a:r>
          </a:p>
          <a:p>
            <a:pPr>
              <a:spcAft>
                <a:spcPts val="600"/>
              </a:spcAft>
            </a:pPr>
            <a:r>
              <a:rPr b="1" sz="1250">
                <a:solidFill>
                  <a:srgbClr val="1E293B"/>
                </a:solidFill>
                <a:latin typeface="微软雅黑"/>
              </a:rPr>
              <a:t>治理创新：</a:t>
            </a:r>
            <a:r>
              <a:rPr sz="1250">
                <a:solidFill>
                  <a:srgbClr val="1E293B"/>
                </a:solidFill>
                <a:latin typeface="宋体"/>
              </a:rPr>
              <a:t>推动竞争政策基础地位与全国统一大市场建设的协同。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集聚与转移理论、驱动机制与控制力矩阵</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14 / 16 页</a:t>
            </a:r>
          </a:p>
        </p:txBody>
      </p:sp>
      <p:graphicFrame>
        <p:nvGraphicFramePr>
          <p:cNvPr id="6" name="Table 5"/>
          <p:cNvGraphicFramePr>
            <a:graphicFrameLocks noGrp="1"/>
          </p:cNvGraphicFramePr>
          <p:nvPr/>
        </p:nvGraphicFramePr>
        <p:xfrm>
          <a:off x="731520" y="1554480"/>
          <a:ext cx="10728655" cy="457200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914400">
                <a:tc>
                  <a:txBody>
                    <a:bodyPr/>
                    <a:lstStyle/>
                    <a:p>
                      <a:pPr algn="ctr">
                        <a:defRPr sz="1300" b="1">
                          <a:solidFill>
                            <a:srgbClr val="FFFFFF"/>
                          </a:solidFill>
                          <a:latin typeface="微软雅黑"/>
                        </a:defRPr>
                      </a:pPr>
                      <a:r>
                        <a:t>理论 / 模型</a:t>
                      </a:r>
                    </a:p>
                  </a:txBody>
                  <a:tcPr>
                    <a:solidFill>
                      <a:srgbClr val="1B4965"/>
                    </a:solidFill>
                  </a:tcPr>
                </a:tc>
                <a:tc>
                  <a:txBody>
                    <a:bodyPr/>
                    <a:lstStyle/>
                    <a:p>
                      <a:pPr algn="ctr">
                        <a:defRPr sz="1300" b="1">
                          <a:solidFill>
                            <a:srgbClr val="FFFFFF"/>
                          </a:solidFill>
                          <a:latin typeface="微软雅黑"/>
                        </a:defRPr>
                      </a:pPr>
                      <a:r>
                        <a:t>代表学者</a:t>
                      </a:r>
                    </a:p>
                  </a:txBody>
                  <a:tcPr>
                    <a:solidFill>
                      <a:srgbClr val="1B4965"/>
                    </a:solidFill>
                  </a:tcPr>
                </a:tc>
                <a:tc>
                  <a:txBody>
                    <a:bodyPr/>
                    <a:lstStyle/>
                    <a:p>
                      <a:pPr algn="ctr">
                        <a:defRPr sz="1300" b="1">
                          <a:solidFill>
                            <a:srgbClr val="FFFFFF"/>
                          </a:solidFill>
                          <a:latin typeface="微软雅黑"/>
                        </a:defRPr>
                      </a:pPr>
                      <a:r>
                        <a:t>核心作用力</a:t>
                      </a:r>
                    </a:p>
                  </a:txBody>
                  <a:tcPr>
                    <a:solidFill>
                      <a:srgbClr val="1B4965"/>
                    </a:solidFill>
                  </a:tcPr>
                </a:tc>
                <a:tc>
                  <a:txBody>
                    <a:bodyPr/>
                    <a:lstStyle/>
                    <a:p>
                      <a:pPr algn="ctr">
                        <a:defRPr sz="1300" b="1">
                          <a:solidFill>
                            <a:srgbClr val="FFFFFF"/>
                          </a:solidFill>
                          <a:latin typeface="微软雅黑"/>
                        </a:defRPr>
                      </a:pPr>
                      <a:r>
                        <a:t>测量指标</a:t>
                      </a:r>
                    </a:p>
                  </a:txBody>
                  <a:tcPr>
                    <a:solidFill>
                      <a:srgbClr val="1B4965"/>
                    </a:solidFill>
                  </a:tcPr>
                </a:tc>
                <a:tc>
                  <a:txBody>
                    <a:bodyPr/>
                    <a:lstStyle/>
                    <a:p>
                      <a:pPr algn="ctr">
                        <a:defRPr sz="1300" b="1">
                          <a:solidFill>
                            <a:srgbClr val="FFFFFF"/>
                          </a:solidFill>
                          <a:latin typeface="微软雅黑"/>
                        </a:defRPr>
                      </a:pPr>
                      <a:r>
                        <a:t>对产业控制力的影响</a:t>
                      </a:r>
                    </a:p>
                  </a:txBody>
                  <a:tcPr>
                    <a:solidFill>
                      <a:srgbClr val="1B4965"/>
                    </a:solidFill>
                  </a:tcPr>
                </a:tc>
              </a:tr>
              <a:tr h="914400">
                <a:tc>
                  <a:txBody>
                    <a:bodyPr/>
                    <a:lstStyle/>
                    <a:p>
                      <a:pPr>
                        <a:defRPr sz="1100">
                          <a:solidFill>
                            <a:srgbClr val="1E293B"/>
                          </a:solidFill>
                          <a:latin typeface="宋体"/>
                        </a:defRPr>
                      </a:pPr>
                      <a:r>
                        <a:t>马歇尔外部性</a:t>
                      </a:r>
                    </a:p>
                  </a:txBody>
                  <a:tcPr>
                    <a:solidFill>
                      <a:srgbClr val="FFFFFF"/>
                    </a:solidFill>
                  </a:tcPr>
                </a:tc>
                <a:tc>
                  <a:txBody>
                    <a:bodyPr/>
                    <a:lstStyle/>
                    <a:p>
                      <a:pPr>
                        <a:defRPr sz="1100">
                          <a:solidFill>
                            <a:srgbClr val="1E293B"/>
                          </a:solidFill>
                          <a:latin typeface="宋体"/>
                        </a:defRPr>
                      </a:pPr>
                      <a:r>
                        <a:t>Marshall</a:t>
                      </a:r>
                    </a:p>
                  </a:txBody>
                  <a:tcPr>
                    <a:solidFill>
                      <a:srgbClr val="FFFFFF"/>
                    </a:solidFill>
                  </a:tcPr>
                </a:tc>
                <a:tc>
                  <a:txBody>
                    <a:bodyPr/>
                    <a:lstStyle/>
                    <a:p>
                      <a:pPr>
                        <a:defRPr sz="1100">
                          <a:solidFill>
                            <a:srgbClr val="1E293B"/>
                          </a:solidFill>
                          <a:latin typeface="宋体"/>
                        </a:defRPr>
                      </a:pPr>
                      <a:r>
                        <a:t>劳动力池、中间品、知识溢出</a:t>
                      </a:r>
                    </a:p>
                  </a:txBody>
                  <a:tcPr>
                    <a:solidFill>
                      <a:srgbClr val="FFFFFF"/>
                    </a:solidFill>
                  </a:tcPr>
                </a:tc>
                <a:tc>
                  <a:txBody>
                    <a:bodyPr/>
                    <a:lstStyle/>
                    <a:p>
                      <a:pPr>
                        <a:defRPr sz="1100">
                          <a:solidFill>
                            <a:srgbClr val="1E293B"/>
                          </a:solidFill>
                          <a:latin typeface="宋体"/>
                        </a:defRPr>
                      </a:pPr>
                      <a:r>
                        <a:t>区位商 (LQ &gt; 1)</a:t>
                      </a:r>
                    </a:p>
                  </a:txBody>
                  <a:tcPr>
                    <a:solidFill>
                      <a:srgbClr val="FFFFFF"/>
                    </a:solidFill>
                  </a:tcPr>
                </a:tc>
                <a:tc>
                  <a:txBody>
                    <a:bodyPr/>
                    <a:lstStyle/>
                    <a:p>
                      <a:pPr>
                        <a:defRPr sz="1100">
                          <a:solidFill>
                            <a:srgbClr val="1E293B"/>
                          </a:solidFill>
                          <a:latin typeface="宋体"/>
                        </a:defRPr>
                      </a:pPr>
                      <a:r>
                        <a:t>降低微观成本，形成集群护城河</a:t>
                      </a:r>
                    </a:p>
                  </a:txBody>
                  <a:tcPr>
                    <a:solidFill>
                      <a:srgbClr val="FFFFFF"/>
                    </a:solidFill>
                  </a:tcPr>
                </a:tc>
              </a:tr>
              <a:tr h="914400">
                <a:tc>
                  <a:txBody>
                    <a:bodyPr/>
                    <a:lstStyle/>
                    <a:p>
                      <a:pPr>
                        <a:defRPr sz="1100">
                          <a:solidFill>
                            <a:srgbClr val="1E293B"/>
                          </a:solidFill>
                          <a:latin typeface="宋体"/>
                        </a:defRPr>
                      </a:pPr>
                      <a:r>
                        <a:t>雅各布斯外部性</a:t>
                      </a:r>
                    </a:p>
                  </a:txBody>
                  <a:tcPr>
                    <a:solidFill>
                      <a:srgbClr val="F1F5F9"/>
                    </a:solidFill>
                  </a:tcPr>
                </a:tc>
                <a:tc>
                  <a:txBody>
                    <a:bodyPr/>
                    <a:lstStyle/>
                    <a:p>
                      <a:pPr>
                        <a:defRPr sz="1100">
                          <a:solidFill>
                            <a:srgbClr val="1E293B"/>
                          </a:solidFill>
                          <a:latin typeface="宋体"/>
                        </a:defRPr>
                      </a:pPr>
                      <a:r>
                        <a:t>Jacobs</a:t>
                      </a:r>
                    </a:p>
                  </a:txBody>
                  <a:tcPr>
                    <a:solidFill>
                      <a:srgbClr val="F1F5F9"/>
                    </a:solidFill>
                  </a:tcPr>
                </a:tc>
                <a:tc>
                  <a:txBody>
                    <a:bodyPr/>
                    <a:lstStyle/>
                    <a:p>
                      <a:pPr>
                        <a:defRPr sz="1100">
                          <a:solidFill>
                            <a:srgbClr val="1E293B"/>
                          </a:solidFill>
                          <a:latin typeface="宋体"/>
                        </a:defRPr>
                      </a:pPr>
                      <a:r>
                        <a:t>跨行业多样性碰撞</a:t>
                      </a:r>
                    </a:p>
                  </a:txBody>
                  <a:tcPr>
                    <a:solidFill>
                      <a:srgbClr val="F1F5F9"/>
                    </a:solidFill>
                  </a:tcPr>
                </a:tc>
                <a:tc>
                  <a:txBody>
                    <a:bodyPr/>
                    <a:lstStyle/>
                    <a:p>
                      <a:pPr>
                        <a:defRPr sz="1100">
                          <a:solidFill>
                            <a:srgbClr val="1E293B"/>
                          </a:solidFill>
                          <a:latin typeface="宋体"/>
                        </a:defRPr>
                      </a:pPr>
                      <a:r>
                        <a:t>城市多元化指数</a:t>
                      </a:r>
                    </a:p>
                  </a:txBody>
                  <a:tcPr>
                    <a:solidFill>
                      <a:srgbClr val="F1F5F9"/>
                    </a:solidFill>
                  </a:tcPr>
                </a:tc>
                <a:tc>
                  <a:txBody>
                    <a:bodyPr/>
                    <a:lstStyle/>
                    <a:p>
                      <a:pPr>
                        <a:defRPr sz="1100">
                          <a:solidFill>
                            <a:srgbClr val="1E293B"/>
                          </a:solidFill>
                          <a:latin typeface="宋体"/>
                        </a:defRPr>
                      </a:pPr>
                      <a:r>
                        <a:t>激发颠覆性创新，引领新兴产业</a:t>
                      </a:r>
                    </a:p>
                  </a:txBody>
                  <a:tcPr>
                    <a:solidFill>
                      <a:srgbClr val="F1F5F9"/>
                    </a:solidFill>
                  </a:tcPr>
                </a:tc>
              </a:tr>
              <a:tr h="914400">
                <a:tc>
                  <a:txBody>
                    <a:bodyPr/>
                    <a:lstStyle/>
                    <a:p>
                      <a:pPr>
                        <a:defRPr sz="1100">
                          <a:solidFill>
                            <a:srgbClr val="1E293B"/>
                          </a:solidFill>
                          <a:latin typeface="宋体"/>
                        </a:defRPr>
                      </a:pPr>
                      <a:r>
                        <a:t>新经济地理学</a:t>
                      </a:r>
                    </a:p>
                  </a:txBody>
                  <a:tcPr>
                    <a:solidFill>
                      <a:srgbClr val="FFFFFF"/>
                    </a:solidFill>
                  </a:tcPr>
                </a:tc>
                <a:tc>
                  <a:txBody>
                    <a:bodyPr/>
                    <a:lstStyle/>
                    <a:p>
                      <a:pPr>
                        <a:defRPr sz="1100">
                          <a:solidFill>
                            <a:srgbClr val="1E293B"/>
                          </a:solidFill>
                          <a:latin typeface="宋体"/>
                        </a:defRPr>
                      </a:pPr>
                      <a:r>
                        <a:t>Krugman</a:t>
                      </a:r>
                    </a:p>
                  </a:txBody>
                  <a:tcPr>
                    <a:solidFill>
                      <a:srgbClr val="FFFFFF"/>
                    </a:solidFill>
                  </a:tcPr>
                </a:tc>
                <a:tc>
                  <a:txBody>
                    <a:bodyPr/>
                    <a:lstStyle/>
                    <a:p>
                      <a:pPr>
                        <a:defRPr sz="1100">
                          <a:solidFill>
                            <a:srgbClr val="1E293B"/>
                          </a:solidFill>
                          <a:latin typeface="宋体"/>
                        </a:defRPr>
                      </a:pPr>
                      <a:r>
                        <a:t>向心力 vs 离心力博弈</a:t>
                      </a:r>
                    </a:p>
                  </a:txBody>
                  <a:tcPr>
                    <a:solidFill>
                      <a:srgbClr val="FFFFFF"/>
                    </a:solidFill>
                  </a:tcPr>
                </a:tc>
                <a:tc>
                  <a:txBody>
                    <a:bodyPr/>
                    <a:lstStyle/>
                    <a:p>
                      <a:pPr>
                        <a:defRPr sz="1100">
                          <a:solidFill>
                            <a:srgbClr val="1E293B"/>
                          </a:solidFill>
                          <a:latin typeface="宋体"/>
                        </a:defRPr>
                      </a:pPr>
                      <a:r>
                        <a:t>空间基尼系数 G</a:t>
                      </a:r>
                    </a:p>
                  </a:txBody>
                  <a:tcPr>
                    <a:solidFill>
                      <a:srgbClr val="FFFFFF"/>
                    </a:solidFill>
                  </a:tcPr>
                </a:tc>
                <a:tc>
                  <a:txBody>
                    <a:bodyPr/>
                    <a:lstStyle/>
                    <a:p>
                      <a:pPr>
                        <a:defRPr sz="1100">
                          <a:solidFill>
                            <a:srgbClr val="1E293B"/>
                          </a:solidFill>
                          <a:latin typeface="宋体"/>
                        </a:defRPr>
                      </a:pPr>
                      <a:r>
                        <a:t>解释核心-边缘格局与爆发式集聚</a:t>
                      </a:r>
                    </a:p>
                  </a:txBody>
                  <a:tcPr>
                    <a:solidFill>
                      <a:srgbClr val="FFFFFF"/>
                    </a:solidFill>
                  </a:tcPr>
                </a:tc>
              </a:tr>
              <a:tr h="914400">
                <a:tc>
                  <a:txBody>
                    <a:bodyPr/>
                    <a:lstStyle/>
                    <a:p>
                      <a:pPr>
                        <a:defRPr sz="1100">
                          <a:solidFill>
                            <a:srgbClr val="1E293B"/>
                          </a:solidFill>
                          <a:latin typeface="宋体"/>
                        </a:defRPr>
                      </a:pPr>
                      <a:r>
                        <a:t>雁行 / 边际产业</a:t>
                      </a:r>
                    </a:p>
                  </a:txBody>
                  <a:tcPr>
                    <a:solidFill>
                      <a:srgbClr val="F1F5F9"/>
                    </a:solidFill>
                  </a:tcPr>
                </a:tc>
                <a:tc>
                  <a:txBody>
                    <a:bodyPr/>
                    <a:lstStyle/>
                    <a:p>
                      <a:pPr>
                        <a:defRPr sz="1100">
                          <a:solidFill>
                            <a:srgbClr val="1E293B"/>
                          </a:solidFill>
                          <a:latin typeface="宋体"/>
                        </a:defRPr>
                      </a:pPr>
                      <a:r>
                        <a:t>赤松要 / 小岛清</a:t>
                      </a:r>
                    </a:p>
                  </a:txBody>
                  <a:tcPr>
                    <a:solidFill>
                      <a:srgbClr val="F1F5F9"/>
                    </a:solidFill>
                  </a:tcPr>
                </a:tc>
                <a:tc>
                  <a:txBody>
                    <a:bodyPr/>
                    <a:lstStyle/>
                    <a:p>
                      <a:pPr>
                        <a:defRPr sz="1100">
                          <a:solidFill>
                            <a:srgbClr val="1E293B"/>
                          </a:solidFill>
                          <a:latin typeface="宋体"/>
                        </a:defRPr>
                      </a:pPr>
                      <a:r>
                        <a:t>比较优势动态演变与推拉力</a:t>
                      </a:r>
                    </a:p>
                  </a:txBody>
                  <a:tcPr>
                    <a:solidFill>
                      <a:srgbClr val="F1F5F9"/>
                    </a:solidFill>
                  </a:tcPr>
                </a:tc>
                <a:tc>
                  <a:txBody>
                    <a:bodyPr/>
                    <a:lstStyle/>
                    <a:p>
                      <a:pPr>
                        <a:defRPr sz="1100">
                          <a:solidFill>
                            <a:srgbClr val="1E293B"/>
                          </a:solidFill>
                          <a:latin typeface="宋体"/>
                        </a:defRPr>
                      </a:pPr>
                      <a:r>
                        <a:t>产业外迁率与 FDI</a:t>
                      </a:r>
                    </a:p>
                  </a:txBody>
                  <a:tcPr>
                    <a:solidFill>
                      <a:srgbClr val="F1F5F9"/>
                    </a:solidFill>
                  </a:tcPr>
                </a:tc>
                <a:tc>
                  <a:txBody>
                    <a:bodyPr/>
                    <a:lstStyle/>
                    <a:p>
                      <a:pPr>
                        <a:defRPr sz="1100">
                          <a:solidFill>
                            <a:srgbClr val="1E293B"/>
                          </a:solidFill>
                          <a:latin typeface="宋体"/>
                        </a:defRPr>
                      </a:pPr>
                      <a:r>
                        <a:t>实现区域间梯次接续与产业延展</a:t>
                      </a:r>
                    </a:p>
                  </a:txBody>
                  <a:tcPr>
                    <a:solidFill>
                      <a:srgbClr val="F1F5F9"/>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思考与研讨｜如何防止东部产业过快向东南亚转移</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15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防范产业链断裂与外迁风险</a:t>
            </a:r>
          </a:p>
          <a:p>
            <a:pPr>
              <a:spcAft>
                <a:spcPts val="600"/>
              </a:spcAft>
            </a:pPr>
            <a:r>
              <a:rPr b="1" sz="1250">
                <a:solidFill>
                  <a:srgbClr val="1E293B"/>
                </a:solidFill>
                <a:latin typeface="微软雅黑"/>
              </a:rPr>
              <a:t>背景：</a:t>
            </a:r>
            <a:r>
              <a:rPr sz="1250">
                <a:solidFill>
                  <a:srgbClr val="1E293B"/>
                </a:solidFill>
                <a:latin typeface="宋体"/>
              </a:rPr>
              <a:t>面临关税与成本压力，部分订单向越南、印度转移。</a:t>
            </a:r>
          </a:p>
          <a:p>
            <a:pPr>
              <a:spcAft>
                <a:spcPts val="600"/>
              </a:spcAft>
            </a:pPr>
            <a:r>
              <a:rPr b="1" sz="1250">
                <a:solidFill>
                  <a:srgbClr val="1E293B"/>
                </a:solidFill>
                <a:latin typeface="微软雅黑"/>
              </a:rPr>
              <a:t>思考：</a:t>
            </a:r>
            <a:r>
              <a:rPr sz="1250">
                <a:solidFill>
                  <a:srgbClr val="1E293B"/>
                </a:solidFill>
                <a:latin typeface="宋体"/>
              </a:rPr>
              <a:t>如何通过引导产业向我国中西部转移来保留全产业链完整性？</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打造具有国际竞争力的世界级先进制造业集群</a:t>
            </a:r>
          </a:p>
          <a:p>
            <a:pPr>
              <a:spcAft>
                <a:spcPts val="600"/>
              </a:spcAft>
            </a:pPr>
            <a:r>
              <a:rPr b="1" sz="1250">
                <a:solidFill>
                  <a:srgbClr val="1E293B"/>
                </a:solidFill>
                <a:latin typeface="微软雅黑"/>
              </a:rPr>
              <a:t>思考：</a:t>
            </a:r>
            <a:r>
              <a:rPr sz="1250">
                <a:solidFill>
                  <a:srgbClr val="1E293B"/>
                </a:solidFill>
                <a:latin typeface="宋体"/>
              </a:rPr>
              <a:t>如何在长三角、粤港澳大湾区提升集群的网络协同与软环境竞争力？</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第十五章  产业集聚与产业转移</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延伸探讨｜第十五章  产业集聚与产业转移在现代产业体系中的战略拓展 (15)</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产业链控制力与竞争力评估</a:t>
            </a:r>
          </a:p>
          <a:p>
            <a:pPr>
              <a:spcAft>
                <a:spcPts val="600"/>
              </a:spcAft>
            </a:pPr>
            <a:r>
              <a:rPr b="1" sz="1250">
                <a:solidFill>
                  <a:srgbClr val="1E293B"/>
                </a:solidFill>
                <a:latin typeface="微软雅黑"/>
              </a:rPr>
              <a:t>理论深化：</a:t>
            </a:r>
            <a:r>
              <a:rPr sz="1250">
                <a:solidFill>
                  <a:srgbClr val="1E293B"/>
                </a:solidFill>
                <a:latin typeface="宋体"/>
              </a:rPr>
              <a:t>深入评估该维度对区域与国家产业安全、技术自主及竞争优势的传导机制。</a:t>
            </a:r>
          </a:p>
          <a:p>
            <a:pPr>
              <a:spcAft>
                <a:spcPts val="600"/>
              </a:spcAft>
            </a:pPr>
            <a:r>
              <a:rPr b="1" sz="1250">
                <a:solidFill>
                  <a:srgbClr val="1E293B"/>
                </a:solidFill>
                <a:latin typeface="微软雅黑"/>
              </a:rPr>
              <a:t>战略方向：</a:t>
            </a:r>
            <a:r>
              <a:rPr sz="1250">
                <a:solidFill>
                  <a:srgbClr val="1E293B"/>
                </a:solidFill>
                <a:latin typeface="宋体"/>
              </a:rPr>
              <a:t>围绕现代化产业体系建设，推动要素高效配置与产业链韧性提升。</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反垄断与竞争政策协同</a:t>
            </a:r>
          </a:p>
          <a:p>
            <a:pPr>
              <a:spcAft>
                <a:spcPts val="600"/>
              </a:spcAft>
            </a:pPr>
            <a:r>
              <a:rPr b="1" sz="1250">
                <a:solidFill>
                  <a:srgbClr val="1E293B"/>
                </a:solidFill>
                <a:latin typeface="微软雅黑"/>
              </a:rPr>
              <a:t>政策协调：</a:t>
            </a:r>
            <a:r>
              <a:rPr sz="1250">
                <a:solidFill>
                  <a:srgbClr val="1E293B"/>
                </a:solidFill>
                <a:latin typeface="宋体"/>
              </a:rPr>
              <a:t>强化竞争政策的基础性地位，规范市场秩序，防范资本无序扩张与行政保护。</a:t>
            </a:r>
          </a:p>
          <a:p>
            <a:pPr>
              <a:spcAft>
                <a:spcPts val="600"/>
              </a:spcAft>
            </a:pPr>
            <a:r>
              <a:rPr b="1" sz="1250">
                <a:solidFill>
                  <a:srgbClr val="1E293B"/>
                </a:solidFill>
                <a:latin typeface="微软雅黑"/>
              </a:rPr>
              <a:t>未来展望：</a:t>
            </a:r>
            <a:r>
              <a:rPr sz="1250">
                <a:solidFill>
                  <a:srgbClr val="1E293B"/>
                </a:solidFill>
                <a:latin typeface="宋体"/>
              </a:rPr>
              <a:t>在超大规模国内市场中构建创新导向的全国统一大市场。</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