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4572000"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0" y="0"/>
            <a:ext cx="54864" cy="685800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0"/>
            <a:ext cx="3200400" cy="1097280"/>
          </a:xfrm>
          <a:prstGeom prst="rect">
            <a:avLst/>
          </a:prstGeom>
          <a:noFill/>
        </p:spPr>
        <p:txBody>
          <a:bodyPr wrap="none">
            <a:spAutoFit/>
          </a:bodyPr>
          <a:lstStyle/>
          <a:p>
            <a:pPr>
              <a:defRPr sz="5400" b="1">
                <a:solidFill>
                  <a:srgbClr val="FFFFFF"/>
                </a:solidFill>
                <a:latin typeface="Microsoft YaHei"/>
              </a:defRPr>
            </a:pPr>
            <a:r>
              <a:t>CH 10</a:t>
            </a:r>
          </a:p>
        </p:txBody>
      </p:sp>
      <p:sp>
        <p:nvSpPr>
          <p:cNvPr id="5" name="Rectangle 4"/>
          <p:cNvSpPr/>
          <p:nvPr/>
        </p:nvSpPr>
        <p:spPr>
          <a:xfrm>
            <a:off x="777240" y="2743200"/>
            <a:ext cx="1371600" cy="457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926080"/>
            <a:ext cx="3200400" cy="457200"/>
          </a:xfrm>
          <a:prstGeom prst="rect">
            <a:avLst/>
          </a:prstGeom>
          <a:noFill/>
        </p:spPr>
        <p:txBody>
          <a:bodyPr wrap="none">
            <a:spAutoFit/>
          </a:bodyPr>
          <a:lstStyle/>
          <a:p>
            <a:pPr>
              <a:defRPr sz="2000">
                <a:solidFill>
                  <a:srgbClr val="D6EAF8"/>
                </a:solidFill>
                <a:latin typeface="Microsoft YaHei"/>
              </a:defRPr>
            </a:pPr>
            <a:r>
              <a:t>产业经济学</a:t>
            </a:r>
          </a:p>
        </p:txBody>
      </p:sp>
      <p:sp>
        <p:nvSpPr>
          <p:cNvPr id="7" name="TextBox 6"/>
          <p:cNvSpPr txBox="1"/>
          <p:nvPr/>
        </p:nvSpPr>
        <p:spPr>
          <a:xfrm>
            <a:off x="731520" y="3291840"/>
            <a:ext cx="3200400" cy="365760"/>
          </a:xfrm>
          <a:prstGeom prst="rect">
            <a:avLst/>
          </a:prstGeom>
          <a:noFill/>
        </p:spPr>
        <p:txBody>
          <a:bodyPr wrap="none">
            <a:spAutoFit/>
          </a:bodyPr>
          <a:lstStyle/>
          <a:p>
            <a:pPr>
              <a:defRPr sz="1400">
                <a:solidFill>
                  <a:srgbClr val="9DC3E6"/>
                </a:solidFill>
                <a:latin typeface="Microsoft YaHei"/>
              </a:defRPr>
            </a:pPr>
            <a:r>
              <a:t>刘志彪 主编（第3版）</a:t>
            </a:r>
          </a:p>
        </p:txBody>
      </p:sp>
      <p:sp>
        <p:nvSpPr>
          <p:cNvPr id="8" name="TextBox 7"/>
          <p:cNvSpPr txBox="1"/>
          <p:nvPr/>
        </p:nvSpPr>
        <p:spPr>
          <a:xfrm>
            <a:off x="5303520" y="1828800"/>
            <a:ext cx="6217920" cy="914400"/>
          </a:xfrm>
          <a:prstGeom prst="rect">
            <a:avLst/>
          </a:prstGeom>
          <a:noFill/>
        </p:spPr>
        <p:txBody>
          <a:bodyPr wrap="none">
            <a:spAutoFit/>
          </a:bodyPr>
          <a:lstStyle/>
          <a:p>
            <a:pPr>
              <a:defRPr sz="2200" b="1">
                <a:solidFill>
                  <a:srgbClr val="2E86C1"/>
                </a:solidFill>
                <a:latin typeface="Microsoft YaHei"/>
              </a:defRPr>
            </a:pPr>
            <a:r>
              <a:t>第十章</a:t>
            </a:r>
          </a:p>
        </p:txBody>
      </p:sp>
      <p:sp>
        <p:nvSpPr>
          <p:cNvPr id="9" name="TextBox 8"/>
          <p:cNvSpPr txBox="1"/>
          <p:nvPr/>
        </p:nvSpPr>
        <p:spPr>
          <a:xfrm>
            <a:off x="5303520" y="2377440"/>
            <a:ext cx="6217920" cy="1463040"/>
          </a:xfrm>
          <a:prstGeom prst="rect">
            <a:avLst/>
          </a:prstGeom>
          <a:noFill/>
        </p:spPr>
        <p:txBody>
          <a:bodyPr wrap="none">
            <a:spAutoFit/>
          </a:bodyPr>
          <a:lstStyle/>
          <a:p>
            <a:pPr>
              <a:defRPr sz="3200" b="1">
                <a:solidFill>
                  <a:srgbClr val="1B3A5C"/>
                </a:solidFill>
                <a:latin typeface="Microsoft YaHei"/>
              </a:defRPr>
            </a:pPr>
            <a:r>
              <a:t>反垄断：竞争政策与管制政策</a:t>
            </a:r>
          </a:p>
        </p:txBody>
      </p:sp>
      <p:sp>
        <p:nvSpPr>
          <p:cNvPr id="10" name="Rectangle 9"/>
          <p:cNvSpPr/>
          <p:nvPr/>
        </p:nvSpPr>
        <p:spPr>
          <a:xfrm>
            <a:off x="5349240" y="3383280"/>
            <a:ext cx="1828800" cy="457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03520" y="3657600"/>
            <a:ext cx="6126480" cy="2560320"/>
          </a:xfrm>
          <a:prstGeom prst="rect">
            <a:avLst/>
          </a:prstGeom>
          <a:noFill/>
        </p:spPr>
        <p:txBody>
          <a:bodyPr wrap="square">
            <a:spAutoFit/>
          </a:bodyPr>
          <a:lstStyle/>
          <a:p>
            <a:pPr>
              <a:spcAft>
                <a:spcPts val="800"/>
              </a:spcAft>
              <a:defRPr sz="1400">
                <a:solidFill>
                  <a:srgbClr val="6B6B6B"/>
                </a:solidFill>
                <a:latin typeface="Microsoft YaHei"/>
              </a:defRPr>
            </a:pPr>
            <a:r>
              <a:t>- 欧美国家的反垄断法（美托拉斯体系与欧盟四领域）</a:t>
            </a:r>
          </a:p>
          <a:p>
            <a:pPr>
              <a:spcAft>
                <a:spcPts val="800"/>
              </a:spcAft>
              <a:defRPr sz="1400">
                <a:solidFill>
                  <a:srgbClr val="6B6B6B"/>
                </a:solidFill>
                <a:latin typeface="Microsoft YaHei"/>
              </a:defRPr>
            </a:pPr>
            <a:r>
              <a:t>- 我国的竞争政策（产业政策转向与2022反垄断法）</a:t>
            </a:r>
          </a:p>
          <a:p>
            <a:pPr>
              <a:spcAft>
                <a:spcPts val="800"/>
              </a:spcAft>
              <a:defRPr sz="1400">
                <a:solidFill>
                  <a:srgbClr val="6B6B6B"/>
                </a:solidFill>
                <a:latin typeface="Microsoft YaHei"/>
              </a:defRPr>
            </a:pPr>
            <a:r>
              <a:t>- 管制政策（自然垄断困境、价格管制与竞标模式）</a:t>
            </a:r>
          </a:p>
          <a:p>
            <a:pPr>
              <a:spcAft>
                <a:spcPts val="800"/>
              </a:spcAft>
              <a:defRPr sz="1400">
                <a:solidFill>
                  <a:srgbClr val="6B6B6B"/>
                </a:solidFill>
                <a:latin typeface="Microsoft YaHei"/>
              </a:defRPr>
            </a:pPr>
            <a:r>
              <a:t>- 规制副作用与提升管制质量（规制俘获与国际竞争力）</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
            <a:ext cx="5486400" cy="320040"/>
          </a:xfrm>
          <a:prstGeom prst="rect">
            <a:avLst/>
          </a:prstGeom>
          <a:noFill/>
        </p:spPr>
        <p:txBody>
          <a:bodyPr wrap="square">
            <a:spAutoFit/>
          </a:bodyPr>
          <a:lstStyle/>
          <a:p>
            <a:pPr>
              <a:defRPr sz="1200" b="1">
                <a:solidFill>
                  <a:srgbClr val="2E86C1"/>
                </a:solidFill>
                <a:latin typeface="Microsoft YaHei"/>
              </a:defRPr>
            </a:pPr>
            <a:r>
              <a:t>本章概览</a:t>
            </a:r>
          </a:p>
        </p:txBody>
      </p:sp>
      <p:sp>
        <p:nvSpPr>
          <p:cNvPr id="5" name="TextBox 4"/>
          <p:cNvSpPr txBox="1"/>
          <p:nvPr/>
        </p:nvSpPr>
        <p:spPr>
          <a:xfrm>
            <a:off x="457200" y="502920"/>
            <a:ext cx="10515600" cy="548640"/>
          </a:xfrm>
          <a:prstGeom prst="rect">
            <a:avLst/>
          </a:prstGeom>
          <a:noFill/>
        </p:spPr>
        <p:txBody>
          <a:bodyPr wrap="square">
            <a:spAutoFit/>
          </a:bodyPr>
          <a:lstStyle/>
          <a:p>
            <a:pPr>
              <a:defRPr sz="2600" b="1">
                <a:solidFill>
                  <a:srgbClr val="1B3A5C"/>
                </a:solidFill>
                <a:latin typeface="Microsoft YaHei"/>
              </a:defRPr>
            </a:pPr>
            <a:r>
              <a:t>知识结构与逻辑框架</a:t>
            </a:r>
          </a:p>
        </p:txBody>
      </p:sp>
      <p:sp>
        <p:nvSpPr>
          <p:cNvPr id="6" name="Rectangle 5"/>
          <p:cNvSpPr/>
          <p:nvPr/>
        </p:nvSpPr>
        <p:spPr>
          <a:xfrm>
            <a:off x="457200" y="1078992"/>
            <a:ext cx="1097280" cy="3657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a:spAutoFit/>
          </a:bodyPr>
          <a:lstStyle/>
          <a:p>
            <a:pPr>
              <a:defRPr sz="1000">
                <a:solidFill>
                  <a:srgbClr val="6B6B6B"/>
                </a:solidFill>
                <a:latin typeface="Microsoft YaHei"/>
              </a:defRPr>
            </a:pPr>
            <a:r>
              <a:t>产业经济学 · 刘志彪（第3版）</a:t>
            </a:r>
          </a:p>
        </p:txBody>
      </p:sp>
      <p:sp>
        <p:nvSpPr>
          <p:cNvPr id="8" name="TextBox 7"/>
          <p:cNvSpPr txBox="1"/>
          <p:nvPr/>
        </p:nvSpPr>
        <p:spPr>
          <a:xfrm>
            <a:off x="11155680" y="6400800"/>
            <a:ext cx="731520" cy="320040"/>
          </a:xfrm>
          <a:prstGeom prst="rect">
            <a:avLst/>
          </a:prstGeom>
          <a:noFill/>
        </p:spPr>
        <p:txBody>
          <a:bodyPr wrap="none">
            <a:spAutoFit/>
          </a:bodyPr>
          <a:lstStyle/>
          <a:p>
            <a:pPr algn="r">
              <a:defRPr sz="1100">
                <a:solidFill>
                  <a:srgbClr val="6B6B6B"/>
                </a:solidFill>
                <a:latin typeface="Microsoft YaHei"/>
              </a:defRPr>
            </a:pPr>
            <a:r>
              <a:t>2</a:t>
            </a:r>
          </a:p>
        </p:txBody>
      </p:sp>
      <p:sp>
        <p:nvSpPr>
          <p:cNvPr id="9" name="Rectangle 8"/>
          <p:cNvSpPr/>
          <p:nvPr/>
        </p:nvSpPr>
        <p:spPr>
          <a:xfrm>
            <a:off x="457200" y="1371600"/>
            <a:ext cx="3611880" cy="4114800"/>
          </a:xfrm>
          <a:prstGeom prst="rect">
            <a:avLst/>
          </a:prstGeom>
          <a:solidFill>
            <a:srgbClr val="F5F7FA"/>
          </a:solidFill>
          <a:ln>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71600"/>
            <a:ext cx="3611880" cy="109728"/>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645920"/>
            <a:ext cx="3200400" cy="640080"/>
          </a:xfrm>
          <a:prstGeom prst="rect">
            <a:avLst/>
          </a:prstGeom>
          <a:noFill/>
        </p:spPr>
        <p:txBody>
          <a:bodyPr wrap="none">
            <a:spAutoFit/>
          </a:bodyPr>
          <a:lstStyle/>
          <a:p>
            <a:pPr>
              <a:defRPr sz="3400" b="1">
                <a:solidFill>
                  <a:srgbClr val="1B3A5C"/>
                </a:solidFill>
                <a:latin typeface="Microsoft YaHei"/>
              </a:defRPr>
            </a:pPr>
            <a:r>
              <a:t>01</a:t>
            </a:r>
          </a:p>
        </p:txBody>
      </p:sp>
      <p:sp>
        <p:nvSpPr>
          <p:cNvPr id="12" name="TextBox 11"/>
          <p:cNvSpPr txBox="1"/>
          <p:nvPr/>
        </p:nvSpPr>
        <p:spPr>
          <a:xfrm>
            <a:off x="640080" y="2377440"/>
            <a:ext cx="3200400" cy="457200"/>
          </a:xfrm>
          <a:prstGeom prst="rect">
            <a:avLst/>
          </a:prstGeom>
          <a:noFill/>
        </p:spPr>
        <p:txBody>
          <a:bodyPr wrap="none">
            <a:spAutoFit/>
          </a:bodyPr>
          <a:lstStyle/>
          <a:p>
            <a:pPr>
              <a:defRPr sz="1600" b="1">
                <a:solidFill>
                  <a:srgbClr val="1B3A5C"/>
                </a:solidFill>
                <a:latin typeface="Microsoft YaHei"/>
              </a:defRPr>
            </a:pPr>
            <a:r>
              <a:t>欧美反垄断法</a:t>
            </a:r>
          </a:p>
        </p:txBody>
      </p:sp>
      <p:sp>
        <p:nvSpPr>
          <p:cNvPr id="13" name="TextBox 12"/>
          <p:cNvSpPr txBox="1"/>
          <p:nvPr/>
        </p:nvSpPr>
        <p:spPr>
          <a:xfrm>
            <a:off x="640080" y="3017520"/>
            <a:ext cx="3200400" cy="2011680"/>
          </a:xfrm>
          <a:prstGeom prst="rect">
            <a:avLst/>
          </a:prstGeom>
          <a:noFill/>
        </p:spPr>
        <p:txBody>
          <a:bodyPr wrap="square">
            <a:spAutoFit/>
          </a:bodyPr>
          <a:lstStyle/>
          <a:p>
            <a:pPr>
              <a:spcAft>
                <a:spcPts val="400"/>
              </a:spcAft>
              <a:defRPr sz="1200">
                <a:solidFill>
                  <a:srgbClr val="6B6B6B"/>
                </a:solidFill>
                <a:latin typeface="Microsoft YaHei"/>
              </a:defRPr>
            </a:pPr>
            <a:r>
              <a:t>· 美国反托拉斯法（三大法案）</a:t>
            </a:r>
          </a:p>
          <a:p>
            <a:pPr>
              <a:spcAft>
                <a:spcPts val="400"/>
              </a:spcAft>
              <a:defRPr sz="1200">
                <a:solidFill>
                  <a:srgbClr val="6B6B6B"/>
                </a:solidFill>
                <a:latin typeface="Microsoft YaHei"/>
              </a:defRPr>
            </a:pPr>
            <a:r>
              <a:t>· 横向竞争限制与纵向约束</a:t>
            </a:r>
          </a:p>
          <a:p>
            <a:pPr>
              <a:spcAft>
                <a:spcPts val="400"/>
              </a:spcAft>
              <a:defRPr sz="1200">
                <a:solidFill>
                  <a:srgbClr val="6B6B6B"/>
                </a:solidFill>
                <a:latin typeface="Microsoft YaHei"/>
              </a:defRPr>
            </a:pPr>
            <a:r>
              <a:t>· 欧盟四大领域与豁免规则</a:t>
            </a:r>
          </a:p>
          <a:p>
            <a:pPr>
              <a:spcAft>
                <a:spcPts val="400"/>
              </a:spcAft>
              <a:defRPr sz="1200">
                <a:solidFill>
                  <a:srgbClr val="6B6B6B"/>
                </a:solidFill>
                <a:latin typeface="Microsoft YaHei"/>
              </a:defRPr>
            </a:pPr>
            <a:r>
              <a:t>· 本身违法 vs 合理推定</a:t>
            </a:r>
          </a:p>
        </p:txBody>
      </p:sp>
      <p:sp>
        <p:nvSpPr>
          <p:cNvPr id="14" name="TextBox 13"/>
          <p:cNvSpPr txBox="1"/>
          <p:nvPr/>
        </p:nvSpPr>
        <p:spPr>
          <a:xfrm>
            <a:off x="640080" y="4937760"/>
            <a:ext cx="3200400" cy="365760"/>
          </a:xfrm>
          <a:prstGeom prst="rect">
            <a:avLst/>
          </a:prstGeom>
          <a:noFill/>
        </p:spPr>
        <p:txBody>
          <a:bodyPr wrap="none">
            <a:spAutoFit/>
          </a:bodyPr>
          <a:lstStyle/>
          <a:p>
            <a:pPr>
              <a:defRPr sz="1100" b="1">
                <a:solidFill>
                  <a:srgbClr val="1B3A5C"/>
                </a:solidFill>
                <a:latin typeface="Microsoft YaHei"/>
              </a:defRPr>
            </a:pPr>
            <a:r>
              <a:t>「欧美经验」</a:t>
            </a:r>
          </a:p>
        </p:txBody>
      </p:sp>
      <p:sp>
        <p:nvSpPr>
          <p:cNvPr id="15" name="Rectangle 14"/>
          <p:cNvSpPr/>
          <p:nvPr/>
        </p:nvSpPr>
        <p:spPr>
          <a:xfrm>
            <a:off x="4215384" y="1371600"/>
            <a:ext cx="3611880" cy="4114800"/>
          </a:xfrm>
          <a:prstGeom prst="rect">
            <a:avLst/>
          </a:prstGeom>
          <a:solidFill>
            <a:srgbClr val="F5F7FA"/>
          </a:solidFill>
          <a:ln>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215384" y="1371600"/>
            <a:ext cx="3611880" cy="10972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98264" y="1645920"/>
            <a:ext cx="3200400" cy="640080"/>
          </a:xfrm>
          <a:prstGeom prst="rect">
            <a:avLst/>
          </a:prstGeom>
          <a:noFill/>
        </p:spPr>
        <p:txBody>
          <a:bodyPr wrap="none">
            <a:spAutoFit/>
          </a:bodyPr>
          <a:lstStyle/>
          <a:p>
            <a:pPr>
              <a:defRPr sz="3400" b="1">
                <a:solidFill>
                  <a:srgbClr val="2E86C1"/>
                </a:solidFill>
                <a:latin typeface="Microsoft YaHei"/>
              </a:defRPr>
            </a:pPr>
            <a:r>
              <a:t>02</a:t>
            </a:r>
          </a:p>
        </p:txBody>
      </p:sp>
      <p:sp>
        <p:nvSpPr>
          <p:cNvPr id="18" name="TextBox 17"/>
          <p:cNvSpPr txBox="1"/>
          <p:nvPr/>
        </p:nvSpPr>
        <p:spPr>
          <a:xfrm>
            <a:off x="4398264" y="2377440"/>
            <a:ext cx="3200400" cy="457200"/>
          </a:xfrm>
          <a:prstGeom prst="rect">
            <a:avLst/>
          </a:prstGeom>
          <a:noFill/>
        </p:spPr>
        <p:txBody>
          <a:bodyPr wrap="none">
            <a:spAutoFit/>
          </a:bodyPr>
          <a:lstStyle/>
          <a:p>
            <a:pPr>
              <a:defRPr sz="1600" b="1">
                <a:solidFill>
                  <a:srgbClr val="1B3A5C"/>
                </a:solidFill>
                <a:latin typeface="Microsoft YaHei"/>
              </a:defRPr>
            </a:pPr>
            <a:r>
              <a:t>我国竞争政策</a:t>
            </a:r>
          </a:p>
        </p:txBody>
      </p:sp>
      <p:sp>
        <p:nvSpPr>
          <p:cNvPr id="19" name="TextBox 18"/>
          <p:cNvSpPr txBox="1"/>
          <p:nvPr/>
        </p:nvSpPr>
        <p:spPr>
          <a:xfrm>
            <a:off x="4398264" y="3017520"/>
            <a:ext cx="3200400" cy="2011680"/>
          </a:xfrm>
          <a:prstGeom prst="rect">
            <a:avLst/>
          </a:prstGeom>
          <a:noFill/>
        </p:spPr>
        <p:txBody>
          <a:bodyPr wrap="square">
            <a:spAutoFit/>
          </a:bodyPr>
          <a:lstStyle/>
          <a:p>
            <a:pPr>
              <a:spcAft>
                <a:spcPts val="400"/>
              </a:spcAft>
              <a:defRPr sz="1200">
                <a:solidFill>
                  <a:srgbClr val="6B6B6B"/>
                </a:solidFill>
                <a:latin typeface="Microsoft YaHei"/>
              </a:defRPr>
            </a:pPr>
            <a:r>
              <a:t>· 从产业政策向竞争政策转变</a:t>
            </a:r>
          </a:p>
          <a:p>
            <a:pPr>
              <a:spcAft>
                <a:spcPts val="400"/>
              </a:spcAft>
              <a:defRPr sz="1200">
                <a:solidFill>
                  <a:srgbClr val="6B6B6B"/>
                </a:solidFill>
                <a:latin typeface="Microsoft YaHei"/>
              </a:defRPr>
            </a:pPr>
            <a:r>
              <a:t>· 化解产能过剩与公平竞争</a:t>
            </a:r>
          </a:p>
          <a:p>
            <a:pPr>
              <a:spcAft>
                <a:spcPts val="400"/>
              </a:spcAft>
              <a:defRPr sz="1200">
                <a:solidFill>
                  <a:srgbClr val="6B6B6B"/>
                </a:solidFill>
                <a:latin typeface="Microsoft YaHei"/>
              </a:defRPr>
            </a:pPr>
            <a:r>
              <a:t>· 2022修正《反垄断法》四大行为</a:t>
            </a:r>
          </a:p>
          <a:p>
            <a:pPr>
              <a:spcAft>
                <a:spcPts val="400"/>
              </a:spcAft>
              <a:defRPr sz="1200">
                <a:solidFill>
                  <a:srgbClr val="6B6B6B"/>
                </a:solidFill>
                <a:latin typeface="Microsoft YaHei"/>
              </a:defRPr>
            </a:pPr>
            <a:r>
              <a:t>· 执法机构演变与WTO规则</a:t>
            </a:r>
          </a:p>
        </p:txBody>
      </p:sp>
      <p:sp>
        <p:nvSpPr>
          <p:cNvPr id="20" name="TextBox 19"/>
          <p:cNvSpPr txBox="1"/>
          <p:nvPr/>
        </p:nvSpPr>
        <p:spPr>
          <a:xfrm>
            <a:off x="4398264" y="4937760"/>
            <a:ext cx="3200400" cy="365760"/>
          </a:xfrm>
          <a:prstGeom prst="rect">
            <a:avLst/>
          </a:prstGeom>
          <a:noFill/>
        </p:spPr>
        <p:txBody>
          <a:bodyPr wrap="none">
            <a:spAutoFit/>
          </a:bodyPr>
          <a:lstStyle/>
          <a:p>
            <a:pPr>
              <a:defRPr sz="1100" b="1">
                <a:solidFill>
                  <a:srgbClr val="2E86C1"/>
                </a:solidFill>
                <a:latin typeface="Microsoft YaHei"/>
              </a:defRPr>
            </a:pPr>
            <a:r>
              <a:t>「中国实践」</a:t>
            </a:r>
          </a:p>
        </p:txBody>
      </p:sp>
      <p:sp>
        <p:nvSpPr>
          <p:cNvPr id="21" name="Rectangle 20"/>
          <p:cNvSpPr/>
          <p:nvPr/>
        </p:nvSpPr>
        <p:spPr>
          <a:xfrm>
            <a:off x="7973568" y="1371600"/>
            <a:ext cx="3611880" cy="4114800"/>
          </a:xfrm>
          <a:prstGeom prst="rect">
            <a:avLst/>
          </a:prstGeom>
          <a:solidFill>
            <a:srgbClr val="F5F7FA"/>
          </a:solidFill>
          <a:ln>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973568" y="1371600"/>
            <a:ext cx="3611880" cy="109728"/>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56448" y="1645920"/>
            <a:ext cx="3200400" cy="640080"/>
          </a:xfrm>
          <a:prstGeom prst="rect">
            <a:avLst/>
          </a:prstGeom>
          <a:noFill/>
        </p:spPr>
        <p:txBody>
          <a:bodyPr wrap="none">
            <a:spAutoFit/>
          </a:bodyPr>
          <a:lstStyle/>
          <a:p>
            <a:pPr>
              <a:defRPr sz="3400" b="1">
                <a:solidFill>
                  <a:srgbClr val="1A8C5D"/>
                </a:solidFill>
                <a:latin typeface="Microsoft YaHei"/>
              </a:defRPr>
            </a:pPr>
            <a:r>
              <a:t>03</a:t>
            </a:r>
          </a:p>
        </p:txBody>
      </p:sp>
      <p:sp>
        <p:nvSpPr>
          <p:cNvPr id="24" name="TextBox 23"/>
          <p:cNvSpPr txBox="1"/>
          <p:nvPr/>
        </p:nvSpPr>
        <p:spPr>
          <a:xfrm>
            <a:off x="8156448" y="2377440"/>
            <a:ext cx="3200400" cy="457200"/>
          </a:xfrm>
          <a:prstGeom prst="rect">
            <a:avLst/>
          </a:prstGeom>
          <a:noFill/>
        </p:spPr>
        <p:txBody>
          <a:bodyPr wrap="none">
            <a:spAutoFit/>
          </a:bodyPr>
          <a:lstStyle/>
          <a:p>
            <a:pPr>
              <a:defRPr sz="1600" b="1">
                <a:solidFill>
                  <a:srgbClr val="1B3A5C"/>
                </a:solidFill>
                <a:latin typeface="Microsoft YaHei"/>
              </a:defRPr>
            </a:pPr>
            <a:r>
              <a:t>管制政策</a:t>
            </a:r>
          </a:p>
        </p:txBody>
      </p:sp>
      <p:sp>
        <p:nvSpPr>
          <p:cNvPr id="25" name="TextBox 24"/>
          <p:cNvSpPr txBox="1"/>
          <p:nvPr/>
        </p:nvSpPr>
        <p:spPr>
          <a:xfrm>
            <a:off x="8156448" y="3017520"/>
            <a:ext cx="3200400" cy="2011680"/>
          </a:xfrm>
          <a:prstGeom prst="rect">
            <a:avLst/>
          </a:prstGeom>
          <a:noFill/>
        </p:spPr>
        <p:txBody>
          <a:bodyPr wrap="square">
            <a:spAutoFit/>
          </a:bodyPr>
          <a:lstStyle/>
          <a:p>
            <a:pPr>
              <a:spcAft>
                <a:spcPts val="400"/>
              </a:spcAft>
              <a:defRPr sz="1200">
                <a:solidFill>
                  <a:srgbClr val="6B6B6B"/>
                </a:solidFill>
                <a:latin typeface="Microsoft YaHei"/>
              </a:defRPr>
            </a:pPr>
            <a:r>
              <a:t>· 自然垄断与两难困境</a:t>
            </a:r>
          </a:p>
          <a:p>
            <a:pPr>
              <a:spcAft>
                <a:spcPts val="400"/>
              </a:spcAft>
              <a:defRPr sz="1200">
                <a:solidFill>
                  <a:srgbClr val="6B6B6B"/>
                </a:solidFill>
                <a:latin typeface="Microsoft YaHei"/>
              </a:defRPr>
            </a:pPr>
            <a:r>
              <a:t>· 四大价格管制模式（MC/AC/两部制/拉姆齐）</a:t>
            </a:r>
          </a:p>
          <a:p>
            <a:pPr>
              <a:spcAft>
                <a:spcPts val="400"/>
              </a:spcAft>
              <a:defRPr sz="1200">
                <a:solidFill>
                  <a:srgbClr val="6B6B6B"/>
                </a:solidFill>
                <a:latin typeface="Microsoft YaHei"/>
              </a:defRPr>
            </a:pPr>
            <a:r>
              <a:t>· 特许经营权竞标与公有企业</a:t>
            </a:r>
          </a:p>
          <a:p>
            <a:pPr>
              <a:spcAft>
                <a:spcPts val="400"/>
              </a:spcAft>
              <a:defRPr sz="1200">
                <a:solidFill>
                  <a:srgbClr val="6B6B6B"/>
                </a:solidFill>
                <a:latin typeface="Microsoft YaHei"/>
              </a:defRPr>
            </a:pPr>
            <a:r>
              <a:t>· 避免规制俘获与政府失灵</a:t>
            </a:r>
          </a:p>
        </p:txBody>
      </p:sp>
      <p:sp>
        <p:nvSpPr>
          <p:cNvPr id="26" name="TextBox 25"/>
          <p:cNvSpPr txBox="1"/>
          <p:nvPr/>
        </p:nvSpPr>
        <p:spPr>
          <a:xfrm>
            <a:off x="8156448" y="4937760"/>
            <a:ext cx="3200400" cy="365760"/>
          </a:xfrm>
          <a:prstGeom prst="rect">
            <a:avLst/>
          </a:prstGeom>
          <a:noFill/>
        </p:spPr>
        <p:txBody>
          <a:bodyPr wrap="none">
            <a:spAutoFit/>
          </a:bodyPr>
          <a:lstStyle/>
          <a:p>
            <a:pPr>
              <a:defRPr sz="1100" b="1">
                <a:solidFill>
                  <a:srgbClr val="1A8C5D"/>
                </a:solidFill>
                <a:latin typeface="Microsoft YaHei"/>
              </a:defRPr>
            </a:pPr>
            <a:r>
              <a:t>「经济管制」</a:t>
            </a:r>
          </a:p>
        </p:txBody>
      </p:sp>
      <p:sp>
        <p:nvSpPr>
          <p:cNvPr id="27" name="TextBox 26"/>
          <p:cNvSpPr txBox="1"/>
          <p:nvPr/>
        </p:nvSpPr>
        <p:spPr>
          <a:xfrm>
            <a:off x="457200" y="5806440"/>
            <a:ext cx="11274552" cy="411480"/>
          </a:xfrm>
          <a:prstGeom prst="rect">
            <a:avLst/>
          </a:prstGeom>
          <a:noFill/>
        </p:spPr>
        <p:txBody>
          <a:bodyPr wrap="square">
            <a:spAutoFit/>
          </a:bodyPr>
          <a:lstStyle/>
          <a:p>
            <a:pPr>
              <a:defRPr sz="1300" b="1">
                <a:solidFill>
                  <a:srgbClr val="2E86C1"/>
                </a:solidFill>
                <a:latin typeface="Microsoft YaHei"/>
              </a:defRPr>
            </a:pPr>
            <a:r>
              <a:t>核心逻辑：自由市场存在垄断失灵（是什么） → 执法规制垄断协议与集中（怎么管） → 治理自然垄断并优化规制质量（怎么办）</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
            <a:ext cx="5486400" cy="320040"/>
          </a:xfrm>
          <a:prstGeom prst="rect">
            <a:avLst/>
          </a:prstGeom>
          <a:noFill/>
        </p:spPr>
        <p:txBody>
          <a:bodyPr wrap="square">
            <a:spAutoFit/>
          </a:bodyPr>
          <a:lstStyle/>
          <a:p>
            <a:pPr>
              <a:defRPr sz="1200" b="1">
                <a:solidFill>
                  <a:srgbClr val="2E86C1"/>
                </a:solidFill>
                <a:latin typeface="Microsoft YaHei"/>
              </a:defRPr>
            </a:pPr>
            <a:r>
              <a:t>引言</a:t>
            </a:r>
          </a:p>
        </p:txBody>
      </p:sp>
      <p:sp>
        <p:nvSpPr>
          <p:cNvPr id="5" name="TextBox 4"/>
          <p:cNvSpPr txBox="1"/>
          <p:nvPr/>
        </p:nvSpPr>
        <p:spPr>
          <a:xfrm>
            <a:off x="457200" y="502920"/>
            <a:ext cx="10515600" cy="548640"/>
          </a:xfrm>
          <a:prstGeom prst="rect">
            <a:avLst/>
          </a:prstGeom>
          <a:noFill/>
        </p:spPr>
        <p:txBody>
          <a:bodyPr wrap="square">
            <a:spAutoFit/>
          </a:bodyPr>
          <a:lstStyle/>
          <a:p>
            <a:pPr>
              <a:defRPr sz="2600" b="1">
                <a:solidFill>
                  <a:srgbClr val="1B3A5C"/>
                </a:solidFill>
                <a:latin typeface="Microsoft YaHei"/>
              </a:defRPr>
            </a:pPr>
            <a:r>
              <a:t>反垄断法：自由市场经济的“经济宪法”</a:t>
            </a:r>
          </a:p>
        </p:txBody>
      </p:sp>
      <p:sp>
        <p:nvSpPr>
          <p:cNvPr id="6" name="Rectangle 5"/>
          <p:cNvSpPr/>
          <p:nvPr/>
        </p:nvSpPr>
        <p:spPr>
          <a:xfrm>
            <a:off x="457200" y="1078992"/>
            <a:ext cx="1097280" cy="3657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a:spAutoFit/>
          </a:bodyPr>
          <a:lstStyle/>
          <a:p>
            <a:pPr>
              <a:defRPr sz="1000">
                <a:solidFill>
                  <a:srgbClr val="6B6B6B"/>
                </a:solidFill>
                <a:latin typeface="Microsoft YaHei"/>
              </a:defRPr>
            </a:pPr>
            <a:r>
              <a:t>产业经济学 · 刘志彪（第3版）</a:t>
            </a:r>
          </a:p>
        </p:txBody>
      </p:sp>
      <p:sp>
        <p:nvSpPr>
          <p:cNvPr id="8" name="TextBox 7"/>
          <p:cNvSpPr txBox="1"/>
          <p:nvPr/>
        </p:nvSpPr>
        <p:spPr>
          <a:xfrm>
            <a:off x="11155680" y="6400800"/>
            <a:ext cx="731520" cy="320040"/>
          </a:xfrm>
          <a:prstGeom prst="rect">
            <a:avLst/>
          </a:prstGeom>
          <a:noFill/>
        </p:spPr>
        <p:txBody>
          <a:bodyPr wrap="none">
            <a:spAutoFit/>
          </a:bodyPr>
          <a:lstStyle/>
          <a:p>
            <a:pPr algn="r">
              <a:defRPr sz="1100">
                <a:solidFill>
                  <a:srgbClr val="6B6B6B"/>
                </a:solidFill>
                <a:latin typeface="Microsoft YaHei"/>
              </a:defRPr>
            </a:pPr>
            <a:r>
              <a:t>3</a:t>
            </a:r>
          </a:p>
        </p:txBody>
      </p:sp>
      <p:sp>
        <p:nvSpPr>
          <p:cNvPr id="9" name="Rectangle 8"/>
          <p:cNvSpPr/>
          <p:nvPr/>
        </p:nvSpPr>
        <p:spPr>
          <a:xfrm>
            <a:off x="45720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8640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399032"/>
            <a:ext cx="5120640" cy="365760"/>
          </a:xfrm>
          <a:prstGeom prst="rect">
            <a:avLst/>
          </a:prstGeom>
          <a:noFill/>
        </p:spPr>
        <p:txBody>
          <a:bodyPr wrap="none">
            <a:spAutoFit/>
          </a:bodyPr>
          <a:lstStyle/>
          <a:p>
            <a:pPr>
              <a:defRPr sz="1600" b="1">
                <a:solidFill>
                  <a:srgbClr val="FFFFFF"/>
                </a:solidFill>
                <a:latin typeface="Microsoft YaHei"/>
              </a:defRPr>
            </a:pPr>
            <a:r>
              <a:t>反垄断法的地位与本质</a:t>
            </a:r>
          </a:p>
        </p:txBody>
      </p:sp>
      <p:sp>
        <p:nvSpPr>
          <p:cNvPr id="12" name="TextBox 11"/>
          <p:cNvSpPr txBox="1"/>
          <p:nvPr/>
        </p:nvSpPr>
        <p:spPr>
          <a:xfrm>
            <a:off x="64008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维护竞争：防止企业通过反竞争行为阻碍自由竞争。</a:t>
            </a:r>
          </a:p>
          <a:p>
            <a:pPr>
              <a:spcAft>
                <a:spcPts val="600"/>
              </a:spcAft>
              <a:defRPr sz="1300">
                <a:solidFill>
                  <a:srgbClr val="2C2C2C"/>
                </a:solidFill>
                <a:latin typeface="Microsoft YaHei"/>
              </a:defRPr>
            </a:pPr>
            <a:r>
              <a:t>· 保护福利：限制垄断高价，保障消费者利益与社会福利。</a:t>
            </a:r>
          </a:p>
          <a:p>
            <a:pPr>
              <a:spcAft>
                <a:spcPts val="600"/>
              </a:spcAft>
              <a:defRPr sz="1300">
                <a:solidFill>
                  <a:srgbClr val="2C2C2C"/>
                </a:solidFill>
                <a:latin typeface="Microsoft YaHei"/>
              </a:defRPr>
            </a:pPr>
            <a:r>
              <a:t>· 经济宪法：在市场经济国家具有至高无上的基础性地位。</a:t>
            </a:r>
          </a:p>
          <a:p>
            <a:pPr>
              <a:spcAft>
                <a:spcPts val="600"/>
              </a:spcAft>
              <a:defRPr sz="1300">
                <a:solidFill>
                  <a:srgbClr val="2C2C2C"/>
                </a:solidFill>
                <a:latin typeface="Microsoft YaHei"/>
              </a:defRPr>
            </a:pPr>
            <a:r>
              <a:t>· 反垄断经济学：产业经济学对反竞争行为的微观经济学分析，直接指导司法裁决与监管实践。</a:t>
            </a:r>
          </a:p>
        </p:txBody>
      </p:sp>
      <p:sp>
        <p:nvSpPr>
          <p:cNvPr id="13" name="Rectangle 12"/>
          <p:cNvSpPr/>
          <p:nvPr/>
        </p:nvSpPr>
        <p:spPr>
          <a:xfrm>
            <a:off x="621792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325880"/>
            <a:ext cx="548640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399032"/>
            <a:ext cx="5120640" cy="365760"/>
          </a:xfrm>
          <a:prstGeom prst="rect">
            <a:avLst/>
          </a:prstGeom>
          <a:noFill/>
        </p:spPr>
        <p:txBody>
          <a:bodyPr wrap="none">
            <a:spAutoFit/>
          </a:bodyPr>
          <a:lstStyle/>
          <a:p>
            <a:pPr>
              <a:defRPr sz="1600" b="1">
                <a:solidFill>
                  <a:srgbClr val="FFFFFF"/>
                </a:solidFill>
                <a:latin typeface="Microsoft YaHei"/>
              </a:defRPr>
            </a:pPr>
            <a:r>
              <a:t>我国反垄断执法的新阶段</a:t>
            </a:r>
          </a:p>
        </p:txBody>
      </p:sp>
      <p:sp>
        <p:nvSpPr>
          <p:cNvPr id="16" name="TextBox 15"/>
          <p:cNvSpPr txBox="1"/>
          <p:nvPr/>
        </p:nvSpPr>
        <p:spPr>
          <a:xfrm>
            <a:off x="640080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2008年《反垄断法》正式颁布实施。</a:t>
            </a:r>
          </a:p>
          <a:p>
            <a:pPr>
              <a:spcAft>
                <a:spcPts val="600"/>
              </a:spcAft>
              <a:defRPr sz="1300">
                <a:solidFill>
                  <a:srgbClr val="2C2C2C"/>
                </a:solidFill>
                <a:latin typeface="Microsoft YaHei"/>
              </a:defRPr>
            </a:pPr>
            <a:r>
              <a:t>· 2013年起对多个重点行业启动常态化反垄断调查。</a:t>
            </a:r>
          </a:p>
          <a:p>
            <a:pPr>
              <a:spcAft>
                <a:spcPts val="600"/>
              </a:spcAft>
              <a:defRPr sz="1300">
                <a:solidFill>
                  <a:srgbClr val="2C2C2C"/>
                </a:solidFill>
                <a:latin typeface="Microsoft YaHei"/>
              </a:defRPr>
            </a:pPr>
            <a:r>
              <a:t>· 党的二十大部署：加强反垄断、破除地方保护和行政性垄断。</a:t>
            </a:r>
          </a:p>
          <a:p>
            <a:pPr>
              <a:spcAft>
                <a:spcPts val="600"/>
              </a:spcAft>
              <a:defRPr sz="1300">
                <a:solidFill>
                  <a:srgbClr val="2C2C2C"/>
                </a:solidFill>
                <a:latin typeface="Microsoft YaHei"/>
              </a:defRPr>
            </a:pPr>
            <a:r>
              <a:t>· 2023年民生领域反垄断执法专项行动：聚焦医药、公用事业等民生痛点。</a:t>
            </a:r>
          </a:p>
        </p:txBody>
      </p:sp>
      <p:sp>
        <p:nvSpPr>
          <p:cNvPr id="17" name="TextBox 16"/>
          <p:cNvSpPr txBox="1"/>
          <p:nvPr/>
        </p:nvSpPr>
        <p:spPr>
          <a:xfrm>
            <a:off x="457200" y="5897880"/>
            <a:ext cx="11274552" cy="411480"/>
          </a:xfrm>
          <a:prstGeom prst="rect">
            <a:avLst/>
          </a:prstGeom>
          <a:noFill/>
        </p:spPr>
        <p:txBody>
          <a:bodyPr wrap="square">
            <a:spAutoFit/>
          </a:bodyPr>
          <a:lstStyle/>
          <a:p>
            <a:pPr>
              <a:defRPr sz="1300" b="1">
                <a:solidFill>
                  <a:srgbClr val="C88C1B"/>
                </a:solidFill>
                <a:latin typeface="Microsoft YaHei"/>
              </a:defRPr>
            </a:pPr>
            <a:r>
              <a:t>反垄断法是维护市场竞争合理秩序、保障社会福利、确立竞争政策基础地位的核心手段。</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
            <a:ext cx="5486400" cy="320040"/>
          </a:xfrm>
          <a:prstGeom prst="rect">
            <a:avLst/>
          </a:prstGeom>
          <a:noFill/>
        </p:spPr>
        <p:txBody>
          <a:bodyPr wrap="square">
            <a:spAutoFit/>
          </a:bodyPr>
          <a:lstStyle/>
          <a:p>
            <a:pPr>
              <a:defRPr sz="1200" b="1">
                <a:solidFill>
                  <a:srgbClr val="2E86C1"/>
                </a:solidFill>
                <a:latin typeface="Microsoft YaHei"/>
              </a:defRPr>
            </a:pPr>
            <a:r>
              <a:t>案例专栏 10-1</a:t>
            </a:r>
          </a:p>
        </p:txBody>
      </p:sp>
      <p:sp>
        <p:nvSpPr>
          <p:cNvPr id="5" name="TextBox 4"/>
          <p:cNvSpPr txBox="1"/>
          <p:nvPr/>
        </p:nvSpPr>
        <p:spPr>
          <a:xfrm>
            <a:off x="457200" y="502920"/>
            <a:ext cx="10515600" cy="548640"/>
          </a:xfrm>
          <a:prstGeom prst="rect">
            <a:avLst/>
          </a:prstGeom>
          <a:noFill/>
        </p:spPr>
        <p:txBody>
          <a:bodyPr wrap="square">
            <a:spAutoFit/>
          </a:bodyPr>
          <a:lstStyle/>
          <a:p>
            <a:pPr>
              <a:defRPr sz="2600" b="1">
                <a:solidFill>
                  <a:srgbClr val="1B3A5C"/>
                </a:solidFill>
                <a:latin typeface="Microsoft YaHei"/>
              </a:defRPr>
            </a:pPr>
            <a:r>
              <a:t>民生领域反垄断：远大医药与武汉汇海原料药垄断案</a:t>
            </a:r>
          </a:p>
        </p:txBody>
      </p:sp>
      <p:sp>
        <p:nvSpPr>
          <p:cNvPr id="6" name="Rectangle 5"/>
          <p:cNvSpPr/>
          <p:nvPr/>
        </p:nvSpPr>
        <p:spPr>
          <a:xfrm>
            <a:off x="457200" y="1078992"/>
            <a:ext cx="1097280" cy="3657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a:spAutoFit/>
          </a:bodyPr>
          <a:lstStyle/>
          <a:p>
            <a:pPr>
              <a:defRPr sz="1000">
                <a:solidFill>
                  <a:srgbClr val="6B6B6B"/>
                </a:solidFill>
                <a:latin typeface="Microsoft YaHei"/>
              </a:defRPr>
            </a:pPr>
            <a:r>
              <a:t>产业经济学 · 刘志彪（第3版）</a:t>
            </a:r>
          </a:p>
        </p:txBody>
      </p:sp>
      <p:sp>
        <p:nvSpPr>
          <p:cNvPr id="8" name="TextBox 7"/>
          <p:cNvSpPr txBox="1"/>
          <p:nvPr/>
        </p:nvSpPr>
        <p:spPr>
          <a:xfrm>
            <a:off x="11155680" y="6400800"/>
            <a:ext cx="731520" cy="320040"/>
          </a:xfrm>
          <a:prstGeom prst="rect">
            <a:avLst/>
          </a:prstGeom>
          <a:noFill/>
        </p:spPr>
        <p:txBody>
          <a:bodyPr wrap="none">
            <a:spAutoFit/>
          </a:bodyPr>
          <a:lstStyle/>
          <a:p>
            <a:pPr algn="r">
              <a:defRPr sz="1100">
                <a:solidFill>
                  <a:srgbClr val="6B6B6B"/>
                </a:solidFill>
                <a:latin typeface="Microsoft YaHei"/>
              </a:defRPr>
            </a:pPr>
            <a:r>
              <a:t>4</a:t>
            </a:r>
          </a:p>
        </p:txBody>
      </p:sp>
      <p:sp>
        <p:nvSpPr>
          <p:cNvPr id="9" name="Rectangle 8"/>
          <p:cNvSpPr/>
          <p:nvPr/>
        </p:nvSpPr>
        <p:spPr>
          <a:xfrm>
            <a:off x="45720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86400" cy="502920"/>
          </a:xfrm>
          <a:prstGeom prst="rect">
            <a:avLst/>
          </a:prstGeom>
          <a:solidFill>
            <a:srgbClr val="C84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399032"/>
            <a:ext cx="5120640" cy="365760"/>
          </a:xfrm>
          <a:prstGeom prst="rect">
            <a:avLst/>
          </a:prstGeom>
          <a:noFill/>
        </p:spPr>
        <p:txBody>
          <a:bodyPr wrap="none">
            <a:spAutoFit/>
          </a:bodyPr>
          <a:lstStyle/>
          <a:p>
            <a:pPr>
              <a:defRPr sz="1600" b="1">
                <a:solidFill>
                  <a:srgbClr val="FFFFFF"/>
                </a:solidFill>
                <a:latin typeface="Microsoft YaHei"/>
              </a:defRPr>
            </a:pPr>
            <a:r>
              <a:t>案情事实与处罚结果（2023年5月）</a:t>
            </a:r>
          </a:p>
        </p:txBody>
      </p:sp>
      <p:sp>
        <p:nvSpPr>
          <p:cNvPr id="12" name="TextBox 11"/>
          <p:cNvSpPr txBox="1"/>
          <p:nvPr/>
        </p:nvSpPr>
        <p:spPr>
          <a:xfrm>
            <a:off x="64008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涉案商品：去甲肾上腺素与肾上腺素原料药（国家急抢救必备药）。</a:t>
            </a:r>
          </a:p>
          <a:p>
            <a:pPr>
              <a:spcAft>
                <a:spcPts val="600"/>
              </a:spcAft>
              <a:defRPr sz="1300">
                <a:solidFill>
                  <a:srgbClr val="2C2C2C"/>
                </a:solidFill>
                <a:latin typeface="Microsoft YaHei"/>
              </a:defRPr>
            </a:pPr>
            <a:r>
              <a:t>· 违法行为一（垄断协议）：达成并实施销售原料药协议，约定武汉汇海停止销售，由远大医药给予补偿。</a:t>
            </a:r>
          </a:p>
          <a:p>
            <a:pPr>
              <a:spcAft>
                <a:spcPts val="600"/>
              </a:spcAft>
              <a:defRPr sz="1300">
                <a:solidFill>
                  <a:srgbClr val="2C2C2C"/>
                </a:solidFill>
                <a:latin typeface="Microsoft YaHei"/>
              </a:defRPr>
            </a:pPr>
            <a:r>
              <a:t>· 违法行为二（滥用支配地位）：要求制剂企业低价销售制剂、返利及限制销售区域/价格。</a:t>
            </a:r>
          </a:p>
          <a:p>
            <a:pPr>
              <a:spcAft>
                <a:spcPts val="600"/>
              </a:spcAft>
              <a:defRPr sz="1300">
                <a:solidFill>
                  <a:srgbClr val="2C2C2C"/>
                </a:solidFill>
                <a:latin typeface="Microsoft YaHei"/>
              </a:defRPr>
            </a:pPr>
            <a:r>
              <a:t>· 行政处罚：市监总局没收违法所得并处罚款，合计罚没约3.20亿元（远大2.85亿，汇海3505万）。</a:t>
            </a:r>
          </a:p>
        </p:txBody>
      </p:sp>
      <p:sp>
        <p:nvSpPr>
          <p:cNvPr id="13" name="Rectangle 12"/>
          <p:cNvSpPr/>
          <p:nvPr/>
        </p:nvSpPr>
        <p:spPr>
          <a:xfrm>
            <a:off x="621792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325880"/>
            <a:ext cx="548640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399032"/>
            <a:ext cx="5120640" cy="365760"/>
          </a:xfrm>
          <a:prstGeom prst="rect">
            <a:avLst/>
          </a:prstGeom>
          <a:noFill/>
        </p:spPr>
        <p:txBody>
          <a:bodyPr wrap="none">
            <a:spAutoFit/>
          </a:bodyPr>
          <a:lstStyle/>
          <a:p>
            <a:pPr>
              <a:defRPr sz="1600" b="1">
                <a:solidFill>
                  <a:srgbClr val="FFFFFF"/>
                </a:solidFill>
                <a:latin typeface="Microsoft YaHei"/>
              </a:defRPr>
            </a:pPr>
            <a:r>
              <a:t>案件典型意义与经济学启示</a:t>
            </a:r>
          </a:p>
        </p:txBody>
      </p:sp>
      <p:sp>
        <p:nvSpPr>
          <p:cNvPr id="16" name="TextBox 15"/>
          <p:cNvSpPr txBox="1"/>
          <p:nvPr/>
        </p:nvSpPr>
        <p:spPr>
          <a:xfrm>
            <a:off x="640080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排除限制竞争：阻碍了相关原料药和制剂市场的公平竞争。</a:t>
            </a:r>
          </a:p>
          <a:p>
            <a:pPr>
              <a:spcAft>
                <a:spcPts val="600"/>
              </a:spcAft>
              <a:defRPr sz="1300">
                <a:solidFill>
                  <a:srgbClr val="2C2C2C"/>
                </a:solidFill>
                <a:latin typeface="Microsoft YaHei"/>
              </a:defRPr>
            </a:pPr>
            <a:r>
              <a:t>· 损害社会公共利益：导致急救药价格暴涨、频繁断货，增加患者与医保负担。</a:t>
            </a:r>
          </a:p>
          <a:p>
            <a:pPr>
              <a:spcAft>
                <a:spcPts val="600"/>
              </a:spcAft>
              <a:defRPr sz="1300">
                <a:solidFill>
                  <a:srgbClr val="2C2C2C"/>
                </a:solidFill>
                <a:latin typeface="Microsoft YaHei"/>
              </a:defRPr>
            </a:pPr>
            <a:r>
              <a:t>· 重拳出击执法：彰显国家监管部门破除民生领域垄断、维护公平竞争秩序的坚定决心。</a:t>
            </a:r>
          </a:p>
        </p:txBody>
      </p:sp>
      <p:sp>
        <p:nvSpPr>
          <p:cNvPr id="17" name="TextBox 16"/>
          <p:cNvSpPr txBox="1"/>
          <p:nvPr/>
        </p:nvSpPr>
        <p:spPr>
          <a:xfrm>
            <a:off x="457200" y="5897880"/>
            <a:ext cx="11274552" cy="411480"/>
          </a:xfrm>
          <a:prstGeom prst="rect">
            <a:avLst/>
          </a:prstGeom>
          <a:noFill/>
        </p:spPr>
        <p:txBody>
          <a:bodyPr wrap="square">
            <a:spAutoFit/>
          </a:bodyPr>
          <a:lstStyle/>
          <a:p>
            <a:pPr>
              <a:defRPr sz="1300" b="1">
                <a:solidFill>
                  <a:srgbClr val="C84B1B"/>
                </a:solidFill>
                <a:latin typeface="Microsoft YaHei"/>
              </a:defRPr>
            </a:pPr>
            <a:r>
              <a:t>案件启示：原料药高度集中市场极易诱发横向垄断协议与滥用支配地位捆绑行为，需重点监管。</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B3A5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103120"/>
            <a:ext cx="4572000" cy="731520"/>
          </a:xfrm>
          <a:prstGeom prst="rect">
            <a:avLst/>
          </a:prstGeom>
          <a:noFill/>
        </p:spPr>
        <p:txBody>
          <a:bodyPr wrap="none">
            <a:spAutoFit/>
          </a:bodyPr>
          <a:lstStyle/>
          <a:p>
            <a:pPr>
              <a:defRPr sz="2800" b="1">
                <a:solidFill>
                  <a:srgbClr val="D6EAF8"/>
                </a:solidFill>
                <a:latin typeface="Microsoft YaHei"/>
              </a:defRPr>
            </a:pPr>
            <a:r>
              <a:t>第一节</a:t>
            </a:r>
          </a:p>
        </p:txBody>
      </p:sp>
      <p:sp>
        <p:nvSpPr>
          <p:cNvPr id="4" name="TextBox 3"/>
          <p:cNvSpPr txBox="1"/>
          <p:nvPr/>
        </p:nvSpPr>
        <p:spPr>
          <a:xfrm>
            <a:off x="914400" y="2834640"/>
            <a:ext cx="10058400" cy="1097280"/>
          </a:xfrm>
          <a:prstGeom prst="rect">
            <a:avLst/>
          </a:prstGeom>
          <a:noFill/>
        </p:spPr>
        <p:txBody>
          <a:bodyPr wrap="none">
            <a:spAutoFit/>
          </a:bodyPr>
          <a:lstStyle/>
          <a:p>
            <a:pPr>
              <a:defRPr sz="4400" b="1">
                <a:solidFill>
                  <a:srgbClr val="FFFFFF"/>
                </a:solidFill>
                <a:latin typeface="Microsoft YaHei"/>
              </a:defRPr>
            </a:pPr>
            <a:r>
              <a:t>欧美国家的反垄断法</a:t>
            </a:r>
          </a:p>
        </p:txBody>
      </p:sp>
      <p:sp>
        <p:nvSpPr>
          <p:cNvPr id="5" name="TextBox 4"/>
          <p:cNvSpPr txBox="1"/>
          <p:nvPr/>
        </p:nvSpPr>
        <p:spPr>
          <a:xfrm>
            <a:off x="914400" y="4023360"/>
            <a:ext cx="10058400" cy="731520"/>
          </a:xfrm>
          <a:prstGeom prst="rect">
            <a:avLst/>
          </a:prstGeom>
          <a:noFill/>
        </p:spPr>
        <p:txBody>
          <a:bodyPr wrap="none">
            <a:spAutoFit/>
          </a:bodyPr>
          <a:lstStyle/>
          <a:p>
            <a:pPr>
              <a:defRPr sz="1800">
                <a:solidFill>
                  <a:srgbClr val="D6EAF8"/>
                </a:solidFill>
                <a:latin typeface="Microsoft YaHei"/>
              </a:defRPr>
            </a:pPr>
            <a:r>
              <a:t>美国反托拉斯体系 · 欧洲竞争政策 · 违法行为分类</a:t>
            </a:r>
          </a:p>
        </p:txBody>
      </p:sp>
      <p:sp>
        <p:nvSpPr>
          <p:cNvPr id="6" name="TextBox 5"/>
          <p:cNvSpPr txBox="1"/>
          <p:nvPr/>
        </p:nvSpPr>
        <p:spPr>
          <a:xfrm>
            <a:off x="914400" y="6217920"/>
            <a:ext cx="731520" cy="320040"/>
          </a:xfrm>
          <a:prstGeom prst="rect">
            <a:avLst/>
          </a:prstGeom>
          <a:noFill/>
        </p:spPr>
        <p:txBody>
          <a:bodyPr wrap="none">
            <a:spAutoFit/>
          </a:bodyPr>
          <a:lstStyle/>
          <a:p>
            <a:pPr>
              <a:defRPr sz="1100">
                <a:solidFill>
                  <a:srgbClr val="D6EAF8"/>
                </a:solidFill>
                <a:latin typeface="Microsoft YaHei"/>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
            <a:ext cx="5486400" cy="320040"/>
          </a:xfrm>
          <a:prstGeom prst="rect">
            <a:avLst/>
          </a:prstGeom>
          <a:noFill/>
        </p:spPr>
        <p:txBody>
          <a:bodyPr wrap="square">
            <a:spAutoFit/>
          </a:bodyPr>
          <a:lstStyle/>
          <a:p>
            <a:pPr>
              <a:defRPr sz="1200" b="1">
                <a:solidFill>
                  <a:srgbClr val="2E86C1"/>
                </a:solidFill>
                <a:latin typeface="Microsoft YaHei"/>
              </a:defRPr>
            </a:pPr>
            <a:r>
              <a:t>第一节 欧美国家的反垄断法</a:t>
            </a:r>
          </a:p>
        </p:txBody>
      </p:sp>
      <p:sp>
        <p:nvSpPr>
          <p:cNvPr id="5" name="TextBox 4"/>
          <p:cNvSpPr txBox="1"/>
          <p:nvPr/>
        </p:nvSpPr>
        <p:spPr>
          <a:xfrm>
            <a:off x="457200" y="502920"/>
            <a:ext cx="10515600" cy="548640"/>
          </a:xfrm>
          <a:prstGeom prst="rect">
            <a:avLst/>
          </a:prstGeom>
          <a:noFill/>
        </p:spPr>
        <p:txBody>
          <a:bodyPr wrap="square">
            <a:spAutoFit/>
          </a:bodyPr>
          <a:lstStyle/>
          <a:p>
            <a:pPr>
              <a:defRPr sz="2600" b="1">
                <a:solidFill>
                  <a:srgbClr val="1B3A5C"/>
                </a:solidFill>
                <a:latin typeface="Microsoft YaHei"/>
              </a:defRPr>
            </a:pPr>
            <a:r>
              <a:t>美国反垄断体系的演化历史</a:t>
            </a:r>
          </a:p>
        </p:txBody>
      </p:sp>
      <p:sp>
        <p:nvSpPr>
          <p:cNvPr id="6" name="Rectangle 5"/>
          <p:cNvSpPr/>
          <p:nvPr/>
        </p:nvSpPr>
        <p:spPr>
          <a:xfrm>
            <a:off x="457200" y="1078992"/>
            <a:ext cx="1097280" cy="3657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a:spAutoFit/>
          </a:bodyPr>
          <a:lstStyle/>
          <a:p>
            <a:pPr>
              <a:defRPr sz="1000">
                <a:solidFill>
                  <a:srgbClr val="6B6B6B"/>
                </a:solidFill>
                <a:latin typeface="Microsoft YaHei"/>
              </a:defRPr>
            </a:pPr>
            <a:r>
              <a:t>产业经济学 · 刘志彪（第3版）</a:t>
            </a:r>
          </a:p>
        </p:txBody>
      </p:sp>
      <p:sp>
        <p:nvSpPr>
          <p:cNvPr id="8" name="TextBox 7"/>
          <p:cNvSpPr txBox="1"/>
          <p:nvPr/>
        </p:nvSpPr>
        <p:spPr>
          <a:xfrm>
            <a:off x="11155680" y="6400800"/>
            <a:ext cx="731520" cy="320040"/>
          </a:xfrm>
          <a:prstGeom prst="rect">
            <a:avLst/>
          </a:prstGeom>
          <a:noFill/>
        </p:spPr>
        <p:txBody>
          <a:bodyPr wrap="none">
            <a:spAutoFit/>
          </a:bodyPr>
          <a:lstStyle/>
          <a:p>
            <a:pPr algn="r">
              <a:defRPr sz="1100">
                <a:solidFill>
                  <a:srgbClr val="6B6B6B"/>
                </a:solidFill>
                <a:latin typeface="Microsoft YaHei"/>
              </a:defRPr>
            </a:pPr>
            <a:r>
              <a:t>6</a:t>
            </a:r>
          </a:p>
        </p:txBody>
      </p:sp>
      <p:sp>
        <p:nvSpPr>
          <p:cNvPr id="9" name="Rectangle 8"/>
          <p:cNvSpPr/>
          <p:nvPr/>
        </p:nvSpPr>
        <p:spPr>
          <a:xfrm>
            <a:off x="45720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8640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399032"/>
            <a:ext cx="5120640" cy="365760"/>
          </a:xfrm>
          <a:prstGeom prst="rect">
            <a:avLst/>
          </a:prstGeom>
          <a:noFill/>
        </p:spPr>
        <p:txBody>
          <a:bodyPr wrap="none">
            <a:spAutoFit/>
          </a:bodyPr>
          <a:lstStyle/>
          <a:p>
            <a:pPr>
              <a:defRPr sz="1600" b="1">
                <a:solidFill>
                  <a:srgbClr val="FFFFFF"/>
                </a:solidFill>
                <a:latin typeface="Microsoft YaHei"/>
              </a:defRPr>
            </a:pPr>
            <a:r>
              <a:t>背景：19世纪末托拉斯浪潮</a:t>
            </a:r>
          </a:p>
        </p:txBody>
      </p:sp>
      <p:sp>
        <p:nvSpPr>
          <p:cNvPr id="12" name="TextBox 11"/>
          <p:cNvSpPr txBox="1"/>
          <p:nvPr/>
        </p:nvSpPr>
        <p:spPr>
          <a:xfrm>
            <a:off x="64008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统一大市场形成：交通与通信技术突破推动全美大市场形成。</a:t>
            </a:r>
          </a:p>
          <a:p>
            <a:pPr>
              <a:spcAft>
                <a:spcPts val="600"/>
              </a:spcAft>
              <a:defRPr sz="1300">
                <a:solidFill>
                  <a:srgbClr val="2C2C2C"/>
                </a:solidFill>
                <a:latin typeface="Microsoft YaHei"/>
              </a:defRPr>
            </a:pPr>
            <a:r>
              <a:t>· 托拉斯崛起：制造企业通过兼并收购形成巨型垄断组织。</a:t>
            </a:r>
          </a:p>
          <a:p>
            <a:pPr>
              <a:spcAft>
                <a:spcPts val="600"/>
              </a:spcAft>
              <a:defRPr sz="1300">
                <a:solidFill>
                  <a:srgbClr val="2C2C2C"/>
                </a:solidFill>
                <a:latin typeface="Microsoft YaHei"/>
              </a:defRPr>
            </a:pPr>
            <a:r>
              <a:t>· 社会压迫感：公众认为托拉斯控制社会资源、压榨消费者与中小企业。</a:t>
            </a:r>
          </a:p>
          <a:p>
            <a:pPr>
              <a:spcAft>
                <a:spcPts val="600"/>
              </a:spcAft>
              <a:defRPr sz="1300">
                <a:solidFill>
                  <a:srgbClr val="2C2C2C"/>
                </a:solidFill>
                <a:latin typeface="Microsoft YaHei"/>
              </a:defRPr>
            </a:pPr>
            <a:r>
              <a:t>· 跨州限制：州法律无法约束跨州公司，促使联邦立法诞生。</a:t>
            </a:r>
          </a:p>
        </p:txBody>
      </p:sp>
      <p:sp>
        <p:nvSpPr>
          <p:cNvPr id="13" name="Rectangle 12"/>
          <p:cNvSpPr/>
          <p:nvPr/>
        </p:nvSpPr>
        <p:spPr>
          <a:xfrm>
            <a:off x="621792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325880"/>
            <a:ext cx="548640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399032"/>
            <a:ext cx="5120640" cy="365760"/>
          </a:xfrm>
          <a:prstGeom prst="rect">
            <a:avLst/>
          </a:prstGeom>
          <a:noFill/>
        </p:spPr>
        <p:txBody>
          <a:bodyPr wrap="none">
            <a:spAutoFit/>
          </a:bodyPr>
          <a:lstStyle/>
          <a:p>
            <a:pPr>
              <a:defRPr sz="1600" b="1">
                <a:solidFill>
                  <a:srgbClr val="FFFFFF"/>
                </a:solidFill>
                <a:latin typeface="Microsoft YaHei"/>
              </a:defRPr>
            </a:pPr>
            <a:r>
              <a:t>司法实践与演进阶段</a:t>
            </a:r>
          </a:p>
        </p:txBody>
      </p:sp>
      <p:sp>
        <p:nvSpPr>
          <p:cNvPr id="16" name="TextBox 15"/>
          <p:cNvSpPr txBox="1"/>
          <p:nvPr/>
        </p:nvSpPr>
        <p:spPr>
          <a:xfrm>
            <a:off x="640080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1890《谢尔曼法》：反垄断奠基石，禁止限制贸易的联合与垄断。</a:t>
            </a:r>
          </a:p>
          <a:p>
            <a:pPr>
              <a:spcAft>
                <a:spcPts val="600"/>
              </a:spcAft>
              <a:defRPr sz="1300">
                <a:solidFill>
                  <a:srgbClr val="2C2C2C"/>
                </a:solidFill>
                <a:latin typeface="Microsoft YaHei"/>
              </a:defRPr>
            </a:pPr>
            <a:r>
              <a:t>· 1897铁路货运案：最高法院首次认定价格固定“本身违法”。</a:t>
            </a:r>
          </a:p>
          <a:p>
            <a:pPr>
              <a:spcAft>
                <a:spcPts val="600"/>
              </a:spcAft>
              <a:defRPr sz="1300">
                <a:solidFill>
                  <a:srgbClr val="2C2C2C"/>
                </a:solidFill>
                <a:latin typeface="Microsoft YaHei"/>
              </a:defRPr>
            </a:pPr>
            <a:r>
              <a:t>· 1911标准石油案：拆分标准石油为34家公司，成为历史标志事件。</a:t>
            </a:r>
          </a:p>
          <a:p>
            <a:pPr>
              <a:spcAft>
                <a:spcPts val="600"/>
              </a:spcAft>
              <a:defRPr sz="1300">
                <a:solidFill>
                  <a:srgbClr val="2C2C2C"/>
                </a:solidFill>
                <a:latin typeface="Microsoft YaHei"/>
              </a:defRPr>
            </a:pPr>
            <a:r>
              <a:t>· 20世纪70年代：芝加哥学派崛起，引入效率动机分析。</a:t>
            </a:r>
          </a:p>
        </p:txBody>
      </p:sp>
      <p:sp>
        <p:nvSpPr>
          <p:cNvPr id="17" name="TextBox 16"/>
          <p:cNvSpPr txBox="1"/>
          <p:nvPr/>
        </p:nvSpPr>
        <p:spPr>
          <a:xfrm>
            <a:off x="457200" y="5897880"/>
            <a:ext cx="11274552" cy="411480"/>
          </a:xfrm>
          <a:prstGeom prst="rect">
            <a:avLst/>
          </a:prstGeom>
          <a:noFill/>
        </p:spPr>
        <p:txBody>
          <a:bodyPr wrap="square">
            <a:spAutoFit/>
          </a:bodyPr>
          <a:lstStyle/>
          <a:p>
            <a:pPr>
              <a:defRPr sz="1300" b="1">
                <a:solidFill>
                  <a:srgbClr val="2E86C1"/>
                </a:solidFill>
                <a:latin typeface="Microsoft YaHei"/>
              </a:defRPr>
            </a:pPr>
            <a:r>
              <a:t>美国反垄断司法经历了从早期的“警惕规模”向现代“效率导向与消费者福利”的深刻演进。</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
            <a:ext cx="5486400" cy="320040"/>
          </a:xfrm>
          <a:prstGeom prst="rect">
            <a:avLst/>
          </a:prstGeom>
          <a:noFill/>
        </p:spPr>
        <p:txBody>
          <a:bodyPr wrap="square">
            <a:spAutoFit/>
          </a:bodyPr>
          <a:lstStyle/>
          <a:p>
            <a:pPr>
              <a:defRPr sz="1200" b="1">
                <a:solidFill>
                  <a:srgbClr val="2E86C1"/>
                </a:solidFill>
                <a:latin typeface="Microsoft YaHei"/>
              </a:defRPr>
            </a:pPr>
            <a:r>
              <a:t>第一节 欧美国家的反垄断法</a:t>
            </a:r>
          </a:p>
        </p:txBody>
      </p:sp>
      <p:sp>
        <p:nvSpPr>
          <p:cNvPr id="5" name="TextBox 4"/>
          <p:cNvSpPr txBox="1"/>
          <p:nvPr/>
        </p:nvSpPr>
        <p:spPr>
          <a:xfrm>
            <a:off x="457200" y="502920"/>
            <a:ext cx="10515600" cy="548640"/>
          </a:xfrm>
          <a:prstGeom prst="rect">
            <a:avLst/>
          </a:prstGeom>
          <a:noFill/>
        </p:spPr>
        <p:txBody>
          <a:bodyPr wrap="square">
            <a:spAutoFit/>
          </a:bodyPr>
          <a:lstStyle/>
          <a:p>
            <a:pPr>
              <a:defRPr sz="2600" b="1">
                <a:solidFill>
                  <a:srgbClr val="1B3A5C"/>
                </a:solidFill>
                <a:latin typeface="Microsoft YaHei"/>
              </a:defRPr>
            </a:pPr>
            <a:r>
              <a:t>美国三大反托拉斯核心法案对比</a:t>
            </a:r>
          </a:p>
        </p:txBody>
      </p:sp>
      <p:sp>
        <p:nvSpPr>
          <p:cNvPr id="6" name="Rectangle 5"/>
          <p:cNvSpPr/>
          <p:nvPr/>
        </p:nvSpPr>
        <p:spPr>
          <a:xfrm>
            <a:off x="457200" y="1078992"/>
            <a:ext cx="1097280" cy="3657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a:spAutoFit/>
          </a:bodyPr>
          <a:lstStyle/>
          <a:p>
            <a:pPr>
              <a:defRPr sz="1000">
                <a:solidFill>
                  <a:srgbClr val="6B6B6B"/>
                </a:solidFill>
                <a:latin typeface="Microsoft YaHei"/>
              </a:defRPr>
            </a:pPr>
            <a:r>
              <a:t>产业经济学 · 刘志彪（第3版）</a:t>
            </a:r>
          </a:p>
        </p:txBody>
      </p:sp>
      <p:sp>
        <p:nvSpPr>
          <p:cNvPr id="8" name="TextBox 7"/>
          <p:cNvSpPr txBox="1"/>
          <p:nvPr/>
        </p:nvSpPr>
        <p:spPr>
          <a:xfrm>
            <a:off x="11155680" y="6400800"/>
            <a:ext cx="731520" cy="320040"/>
          </a:xfrm>
          <a:prstGeom prst="rect">
            <a:avLst/>
          </a:prstGeom>
          <a:noFill/>
        </p:spPr>
        <p:txBody>
          <a:bodyPr wrap="none">
            <a:spAutoFit/>
          </a:bodyPr>
          <a:lstStyle/>
          <a:p>
            <a:pPr algn="r">
              <a:defRPr sz="1100">
                <a:solidFill>
                  <a:srgbClr val="6B6B6B"/>
                </a:solidFill>
                <a:latin typeface="Microsoft YaHei"/>
              </a:defRPr>
            </a:pPr>
            <a:r>
              <a:t>7</a:t>
            </a:r>
          </a:p>
        </p:txBody>
      </p:sp>
      <p:sp>
        <p:nvSpPr>
          <p:cNvPr id="9" name="Rectangle 8"/>
          <p:cNvSpPr/>
          <p:nvPr/>
        </p:nvSpPr>
        <p:spPr>
          <a:xfrm>
            <a:off x="457200" y="1325880"/>
            <a:ext cx="361188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36118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399032"/>
            <a:ext cx="3246120" cy="365760"/>
          </a:xfrm>
          <a:prstGeom prst="rect">
            <a:avLst/>
          </a:prstGeom>
          <a:noFill/>
        </p:spPr>
        <p:txBody>
          <a:bodyPr wrap="none">
            <a:spAutoFit/>
          </a:bodyPr>
          <a:lstStyle/>
          <a:p>
            <a:pPr>
              <a:defRPr sz="1600" b="1">
                <a:solidFill>
                  <a:srgbClr val="FFFFFF"/>
                </a:solidFill>
                <a:latin typeface="Microsoft YaHei"/>
              </a:defRPr>
            </a:pPr>
            <a:r>
              <a:t>《谢尔曼法》(1890)</a:t>
            </a:r>
          </a:p>
        </p:txBody>
      </p:sp>
      <p:sp>
        <p:nvSpPr>
          <p:cNvPr id="12" name="TextBox 11"/>
          <p:cNvSpPr txBox="1"/>
          <p:nvPr/>
        </p:nvSpPr>
        <p:spPr>
          <a:xfrm>
            <a:off x="640080" y="1920240"/>
            <a:ext cx="3246120" cy="3703320"/>
          </a:xfrm>
          <a:prstGeom prst="rect">
            <a:avLst/>
          </a:prstGeom>
          <a:noFill/>
        </p:spPr>
        <p:txBody>
          <a:bodyPr wrap="square">
            <a:spAutoFit/>
          </a:bodyPr>
          <a:lstStyle/>
          <a:p>
            <a:pPr>
              <a:spcAft>
                <a:spcPts val="600"/>
              </a:spcAft>
              <a:defRPr sz="1300">
                <a:solidFill>
                  <a:srgbClr val="2C2C2C"/>
                </a:solidFill>
                <a:latin typeface="Microsoft YaHei"/>
              </a:defRPr>
            </a:pPr>
            <a:r>
              <a:t>· 第1条：禁止限制贸易的合同、联合和合谋（刑事处罚）。</a:t>
            </a:r>
          </a:p>
          <a:p>
            <a:pPr>
              <a:spcAft>
                <a:spcPts val="600"/>
              </a:spcAft>
              <a:defRPr sz="1300">
                <a:solidFill>
                  <a:srgbClr val="2C2C2C"/>
                </a:solidFill>
                <a:latin typeface="Microsoft YaHei"/>
              </a:defRPr>
            </a:pPr>
            <a:r>
              <a:t>· 第2条：禁止垄断、企图垄断及垄断合谋。</a:t>
            </a:r>
          </a:p>
          <a:p>
            <a:pPr>
              <a:spcAft>
                <a:spcPts val="600"/>
              </a:spcAft>
              <a:defRPr sz="1300">
                <a:solidFill>
                  <a:srgbClr val="2C2C2C"/>
                </a:solidFill>
                <a:latin typeface="Microsoft YaHei"/>
              </a:defRPr>
            </a:pPr>
            <a:r>
              <a:t>· 局限：只针对独立公司间的协议，不约束兼并行为。</a:t>
            </a:r>
          </a:p>
        </p:txBody>
      </p:sp>
      <p:sp>
        <p:nvSpPr>
          <p:cNvPr id="13" name="Rectangle 12"/>
          <p:cNvSpPr/>
          <p:nvPr/>
        </p:nvSpPr>
        <p:spPr>
          <a:xfrm>
            <a:off x="4215384" y="1325880"/>
            <a:ext cx="361188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15384" y="1325880"/>
            <a:ext cx="36118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98264" y="1399032"/>
            <a:ext cx="3246120" cy="365760"/>
          </a:xfrm>
          <a:prstGeom prst="rect">
            <a:avLst/>
          </a:prstGeom>
          <a:noFill/>
        </p:spPr>
        <p:txBody>
          <a:bodyPr wrap="none">
            <a:spAutoFit/>
          </a:bodyPr>
          <a:lstStyle/>
          <a:p>
            <a:pPr>
              <a:defRPr sz="1600" b="1">
                <a:solidFill>
                  <a:srgbClr val="FFFFFF"/>
                </a:solidFill>
                <a:latin typeface="Microsoft YaHei"/>
              </a:defRPr>
            </a:pPr>
            <a:r>
              <a:t>《克莱顿法》(1914)</a:t>
            </a:r>
          </a:p>
        </p:txBody>
      </p:sp>
      <p:sp>
        <p:nvSpPr>
          <p:cNvPr id="16" name="TextBox 15"/>
          <p:cNvSpPr txBox="1"/>
          <p:nvPr/>
        </p:nvSpPr>
        <p:spPr>
          <a:xfrm>
            <a:off x="4398264" y="1920240"/>
            <a:ext cx="3246120" cy="3703320"/>
          </a:xfrm>
          <a:prstGeom prst="rect">
            <a:avLst/>
          </a:prstGeom>
          <a:noFill/>
        </p:spPr>
        <p:txBody>
          <a:bodyPr wrap="square">
            <a:spAutoFit/>
          </a:bodyPr>
          <a:lstStyle/>
          <a:p>
            <a:pPr>
              <a:spcAft>
                <a:spcPts val="600"/>
              </a:spcAft>
              <a:defRPr sz="1300">
                <a:solidFill>
                  <a:srgbClr val="2C2C2C"/>
                </a:solidFill>
                <a:latin typeface="Microsoft YaHei"/>
              </a:defRPr>
            </a:pPr>
            <a:r>
              <a:t>· 拓展覆盖面：规制导致竞争实质减少的兼并行为。</a:t>
            </a:r>
          </a:p>
          <a:p>
            <a:pPr>
              <a:spcAft>
                <a:spcPts val="600"/>
              </a:spcAft>
              <a:defRPr sz="1300">
                <a:solidFill>
                  <a:srgbClr val="2C2C2C"/>
                </a:solidFill>
                <a:latin typeface="Microsoft YaHei"/>
              </a:defRPr>
            </a:pPr>
            <a:r>
              <a:t>· 价格歧视：限制横向与纵向价格歧视。</a:t>
            </a:r>
          </a:p>
          <a:p>
            <a:pPr>
              <a:spcAft>
                <a:spcPts val="600"/>
              </a:spcAft>
              <a:defRPr sz="1300">
                <a:solidFill>
                  <a:srgbClr val="2C2C2C"/>
                </a:solidFill>
                <a:latin typeface="Microsoft YaHei"/>
              </a:defRPr>
            </a:pPr>
            <a:r>
              <a:t>· 连锁董事：禁止竞争企业间相互互派董事。</a:t>
            </a:r>
          </a:p>
          <a:p>
            <a:pPr>
              <a:spcAft>
                <a:spcPts val="600"/>
              </a:spcAft>
              <a:defRPr sz="1300">
                <a:solidFill>
                  <a:srgbClr val="2C2C2C"/>
                </a:solidFill>
                <a:latin typeface="Microsoft YaHei"/>
              </a:defRPr>
            </a:pPr>
            <a:r>
              <a:t>· 修正案：1950《塞勒-凯弗维尔法》扩大至资产兼并。</a:t>
            </a:r>
          </a:p>
        </p:txBody>
      </p:sp>
      <p:sp>
        <p:nvSpPr>
          <p:cNvPr id="17" name="Rectangle 16"/>
          <p:cNvSpPr/>
          <p:nvPr/>
        </p:nvSpPr>
        <p:spPr>
          <a:xfrm>
            <a:off x="7973568" y="1325880"/>
            <a:ext cx="361188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973568" y="1325880"/>
            <a:ext cx="3611880" cy="502920"/>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56448" y="1399032"/>
            <a:ext cx="3246120" cy="365760"/>
          </a:xfrm>
          <a:prstGeom prst="rect">
            <a:avLst/>
          </a:prstGeom>
          <a:noFill/>
        </p:spPr>
        <p:txBody>
          <a:bodyPr wrap="none">
            <a:spAutoFit/>
          </a:bodyPr>
          <a:lstStyle/>
          <a:p>
            <a:pPr>
              <a:defRPr sz="1600" b="1">
                <a:solidFill>
                  <a:srgbClr val="FFFFFF"/>
                </a:solidFill>
                <a:latin typeface="Microsoft YaHei"/>
              </a:defRPr>
            </a:pPr>
            <a:r>
              <a:t>《联邦贸易委员会法》(1914)</a:t>
            </a:r>
          </a:p>
        </p:txBody>
      </p:sp>
      <p:sp>
        <p:nvSpPr>
          <p:cNvPr id="20" name="TextBox 19"/>
          <p:cNvSpPr txBox="1"/>
          <p:nvPr/>
        </p:nvSpPr>
        <p:spPr>
          <a:xfrm>
            <a:off x="8156448" y="1920240"/>
            <a:ext cx="3246120" cy="3703320"/>
          </a:xfrm>
          <a:prstGeom prst="rect">
            <a:avLst/>
          </a:prstGeom>
          <a:noFill/>
        </p:spPr>
        <p:txBody>
          <a:bodyPr wrap="square">
            <a:spAutoFit/>
          </a:bodyPr>
          <a:lstStyle/>
          <a:p>
            <a:pPr>
              <a:spcAft>
                <a:spcPts val="600"/>
              </a:spcAft>
              <a:defRPr sz="1300">
                <a:solidFill>
                  <a:srgbClr val="2C2C2C"/>
                </a:solidFill>
                <a:latin typeface="Microsoft YaHei"/>
              </a:defRPr>
            </a:pPr>
            <a:r>
              <a:t>· 机构设立：建立联邦贸易委员会（FTC）。</a:t>
            </a:r>
          </a:p>
          <a:p>
            <a:pPr>
              <a:spcAft>
                <a:spcPts val="600"/>
              </a:spcAft>
              <a:defRPr sz="1300">
                <a:solidFill>
                  <a:srgbClr val="2C2C2C"/>
                </a:solidFill>
                <a:latin typeface="Microsoft YaHei"/>
              </a:defRPr>
            </a:pPr>
            <a:r>
              <a:t>· 执法双轨制：FTC 与司法部（DOJ）反托拉斯局共同承担联邦执法。</a:t>
            </a:r>
          </a:p>
          <a:p>
            <a:pPr>
              <a:spcAft>
                <a:spcPts val="600"/>
              </a:spcAft>
              <a:defRPr sz="1300">
                <a:solidFill>
                  <a:srgbClr val="2C2C2C"/>
                </a:solidFill>
                <a:latin typeface="Microsoft YaHei"/>
              </a:defRPr>
            </a:pPr>
            <a:r>
              <a:t>· 职能：规制不公平竞争方法与欺诈性商业行为。</a:t>
            </a:r>
          </a:p>
        </p:txBody>
      </p:sp>
      <p:sp>
        <p:nvSpPr>
          <p:cNvPr id="21" name="TextBox 20"/>
          <p:cNvSpPr txBox="1"/>
          <p:nvPr/>
        </p:nvSpPr>
        <p:spPr>
          <a:xfrm>
            <a:off x="457200" y="5897880"/>
            <a:ext cx="11274552" cy="411480"/>
          </a:xfrm>
          <a:prstGeom prst="rect">
            <a:avLst/>
          </a:prstGeom>
          <a:noFill/>
        </p:spPr>
        <p:txBody>
          <a:bodyPr wrap="square">
            <a:spAutoFit/>
          </a:bodyPr>
          <a:lstStyle/>
          <a:p>
            <a:pPr>
              <a:defRPr sz="1300" b="1">
                <a:solidFill>
                  <a:srgbClr val="1B3A5C"/>
                </a:solidFill>
                <a:latin typeface="Microsoft YaHei"/>
              </a:defRPr>
            </a:pPr>
            <a:r>
              <a:t>三大法案相互补充，构筑了美国针对协议、垄断行为、兼并及不公平竞争的完整法律网。</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
            <a:ext cx="5486400" cy="320040"/>
          </a:xfrm>
          <a:prstGeom prst="rect">
            <a:avLst/>
          </a:prstGeom>
          <a:noFill/>
        </p:spPr>
        <p:txBody>
          <a:bodyPr wrap="square">
            <a:spAutoFit/>
          </a:bodyPr>
          <a:lstStyle/>
          <a:p>
            <a:pPr>
              <a:defRPr sz="1200" b="1">
                <a:solidFill>
                  <a:srgbClr val="2E86C1"/>
                </a:solidFill>
                <a:latin typeface="Microsoft YaHei"/>
              </a:defRPr>
            </a:pPr>
            <a:r>
              <a:t>第一节 欧美国家的反垄断法</a:t>
            </a:r>
          </a:p>
        </p:txBody>
      </p:sp>
      <p:sp>
        <p:nvSpPr>
          <p:cNvPr id="5" name="TextBox 4"/>
          <p:cNvSpPr txBox="1"/>
          <p:nvPr/>
        </p:nvSpPr>
        <p:spPr>
          <a:xfrm>
            <a:off x="457200" y="502920"/>
            <a:ext cx="10515600" cy="548640"/>
          </a:xfrm>
          <a:prstGeom prst="rect">
            <a:avLst/>
          </a:prstGeom>
          <a:noFill/>
        </p:spPr>
        <p:txBody>
          <a:bodyPr wrap="square">
            <a:spAutoFit/>
          </a:bodyPr>
          <a:lstStyle/>
          <a:p>
            <a:pPr>
              <a:defRPr sz="2600" b="1">
                <a:solidFill>
                  <a:srgbClr val="1B3A5C"/>
                </a:solidFill>
                <a:latin typeface="Microsoft YaHei"/>
              </a:defRPr>
            </a:pPr>
            <a:r>
              <a:t>反垄断司法裁决的两大基本原则</a:t>
            </a:r>
          </a:p>
        </p:txBody>
      </p:sp>
      <p:sp>
        <p:nvSpPr>
          <p:cNvPr id="6" name="Rectangle 5"/>
          <p:cNvSpPr/>
          <p:nvPr/>
        </p:nvSpPr>
        <p:spPr>
          <a:xfrm>
            <a:off x="457200" y="1078992"/>
            <a:ext cx="1097280" cy="3657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a:spAutoFit/>
          </a:bodyPr>
          <a:lstStyle/>
          <a:p>
            <a:pPr>
              <a:defRPr sz="1000">
                <a:solidFill>
                  <a:srgbClr val="6B6B6B"/>
                </a:solidFill>
                <a:latin typeface="Microsoft YaHei"/>
              </a:defRPr>
            </a:pPr>
            <a:r>
              <a:t>产业经济学 · 刘志彪（第3版）</a:t>
            </a:r>
          </a:p>
        </p:txBody>
      </p:sp>
      <p:sp>
        <p:nvSpPr>
          <p:cNvPr id="8" name="TextBox 7"/>
          <p:cNvSpPr txBox="1"/>
          <p:nvPr/>
        </p:nvSpPr>
        <p:spPr>
          <a:xfrm>
            <a:off x="11155680" y="6400800"/>
            <a:ext cx="731520" cy="320040"/>
          </a:xfrm>
          <a:prstGeom prst="rect">
            <a:avLst/>
          </a:prstGeom>
          <a:noFill/>
        </p:spPr>
        <p:txBody>
          <a:bodyPr wrap="none">
            <a:spAutoFit/>
          </a:bodyPr>
          <a:lstStyle/>
          <a:p>
            <a:pPr algn="r">
              <a:defRPr sz="1100">
                <a:solidFill>
                  <a:srgbClr val="6B6B6B"/>
                </a:solidFill>
                <a:latin typeface="Microsoft YaHei"/>
              </a:defRPr>
            </a:pPr>
            <a:r>
              <a:t>8</a:t>
            </a:r>
          </a:p>
        </p:txBody>
      </p:sp>
      <p:sp>
        <p:nvSpPr>
          <p:cNvPr id="9" name="Rectangle 8"/>
          <p:cNvSpPr/>
          <p:nvPr/>
        </p:nvSpPr>
        <p:spPr>
          <a:xfrm>
            <a:off x="45720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86400" cy="502920"/>
          </a:xfrm>
          <a:prstGeom prst="rect">
            <a:avLst/>
          </a:prstGeom>
          <a:solidFill>
            <a:srgbClr val="C84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399032"/>
            <a:ext cx="5120640" cy="365760"/>
          </a:xfrm>
          <a:prstGeom prst="rect">
            <a:avLst/>
          </a:prstGeom>
          <a:noFill/>
        </p:spPr>
        <p:txBody>
          <a:bodyPr wrap="none">
            <a:spAutoFit/>
          </a:bodyPr>
          <a:lstStyle/>
          <a:p>
            <a:pPr>
              <a:defRPr sz="1600" b="1">
                <a:solidFill>
                  <a:srgbClr val="FFFFFF"/>
                </a:solidFill>
                <a:latin typeface="Microsoft YaHei"/>
              </a:defRPr>
            </a:pPr>
            <a:r>
              <a:t>本身违法原则 (Per Se Rule)</a:t>
            </a:r>
          </a:p>
        </p:txBody>
      </p:sp>
      <p:sp>
        <p:nvSpPr>
          <p:cNvPr id="12" name="TextBox 11"/>
          <p:cNvSpPr txBox="1"/>
          <p:nvPr/>
        </p:nvSpPr>
        <p:spPr>
          <a:xfrm>
            <a:off x="64008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定义：只要行为发生即直接认定违法，无需评估其实际经济后果。</a:t>
            </a:r>
          </a:p>
          <a:p>
            <a:pPr>
              <a:spcAft>
                <a:spcPts val="600"/>
              </a:spcAft>
              <a:defRPr sz="1300">
                <a:solidFill>
                  <a:srgbClr val="2C2C2C"/>
                </a:solidFill>
                <a:latin typeface="Microsoft YaHei"/>
              </a:defRPr>
            </a:pPr>
            <a:r>
              <a:t>· 适用对象：横向价格固定、市场划分等恶性卡特尔行为。</a:t>
            </a:r>
          </a:p>
          <a:p>
            <a:pPr>
              <a:spcAft>
                <a:spcPts val="600"/>
              </a:spcAft>
              <a:defRPr sz="1300">
                <a:solidFill>
                  <a:srgbClr val="2C2C2C"/>
                </a:solidFill>
                <a:latin typeface="Microsoft YaHei"/>
              </a:defRPr>
            </a:pPr>
            <a:r>
              <a:t>· 优点：节省司法成本，提高法律的明确性与威慑力。</a:t>
            </a:r>
          </a:p>
          <a:p>
            <a:pPr>
              <a:spcAft>
                <a:spcPts val="600"/>
              </a:spcAft>
              <a:defRPr sz="1300">
                <a:solidFill>
                  <a:srgbClr val="2C2C2C"/>
                </a:solidFill>
                <a:latin typeface="Microsoft YaHei"/>
              </a:defRPr>
            </a:pPr>
            <a:r>
              <a:t>· 缺点：可能过于武断，误伤具有效率促进作用的商业合作。</a:t>
            </a:r>
          </a:p>
        </p:txBody>
      </p:sp>
      <p:sp>
        <p:nvSpPr>
          <p:cNvPr id="13" name="Rectangle 12"/>
          <p:cNvSpPr/>
          <p:nvPr/>
        </p:nvSpPr>
        <p:spPr>
          <a:xfrm>
            <a:off x="621792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325880"/>
            <a:ext cx="548640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399032"/>
            <a:ext cx="5120640" cy="365760"/>
          </a:xfrm>
          <a:prstGeom prst="rect">
            <a:avLst/>
          </a:prstGeom>
          <a:noFill/>
        </p:spPr>
        <p:txBody>
          <a:bodyPr wrap="none">
            <a:spAutoFit/>
          </a:bodyPr>
          <a:lstStyle/>
          <a:p>
            <a:pPr>
              <a:defRPr sz="1600" b="1">
                <a:solidFill>
                  <a:srgbClr val="FFFFFF"/>
                </a:solidFill>
                <a:latin typeface="Microsoft YaHei"/>
              </a:defRPr>
            </a:pPr>
            <a:r>
              <a:t>合理推定原则 (Rule of Reason)</a:t>
            </a:r>
          </a:p>
        </p:txBody>
      </p:sp>
      <p:sp>
        <p:nvSpPr>
          <p:cNvPr id="16" name="TextBox 15"/>
          <p:cNvSpPr txBox="1"/>
          <p:nvPr/>
        </p:nvSpPr>
        <p:spPr>
          <a:xfrm>
            <a:off x="640080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定义：综合调查评估该行为的经济影响，权衡其限制竞争效应与效率促进效应。</a:t>
            </a:r>
          </a:p>
          <a:p>
            <a:pPr>
              <a:spcAft>
                <a:spcPts val="600"/>
              </a:spcAft>
              <a:defRPr sz="1300">
                <a:solidFill>
                  <a:srgbClr val="2C2C2C"/>
                </a:solidFill>
                <a:latin typeface="Microsoft YaHei"/>
              </a:defRPr>
            </a:pPr>
            <a:r>
              <a:t>· 适用对象：大部分纵向限制、非价格协议、兼并与合资企业。</a:t>
            </a:r>
          </a:p>
          <a:p>
            <a:pPr>
              <a:spcAft>
                <a:spcPts val="600"/>
              </a:spcAft>
              <a:defRPr sz="1300">
                <a:solidFill>
                  <a:srgbClr val="2C2C2C"/>
                </a:solidFill>
                <a:latin typeface="Microsoft YaHei"/>
              </a:defRPr>
            </a:pPr>
            <a:r>
              <a:t>· 优点：更加科学严谨，符合现代经济学效率导向。</a:t>
            </a:r>
          </a:p>
          <a:p>
            <a:pPr>
              <a:spcAft>
                <a:spcPts val="600"/>
              </a:spcAft>
              <a:defRPr sz="1300">
                <a:solidFill>
                  <a:srgbClr val="2C2C2C"/>
                </a:solidFill>
                <a:latin typeface="Microsoft YaHei"/>
              </a:defRPr>
            </a:pPr>
            <a:r>
              <a:t>· 缺点：审理周期长，耗费巨大行政与司法资源。</a:t>
            </a:r>
          </a:p>
        </p:txBody>
      </p:sp>
      <p:sp>
        <p:nvSpPr>
          <p:cNvPr id="17" name="TextBox 16"/>
          <p:cNvSpPr txBox="1"/>
          <p:nvPr/>
        </p:nvSpPr>
        <p:spPr>
          <a:xfrm>
            <a:off x="457200" y="5897880"/>
            <a:ext cx="11274552" cy="411480"/>
          </a:xfrm>
          <a:prstGeom prst="rect">
            <a:avLst/>
          </a:prstGeom>
          <a:noFill/>
        </p:spPr>
        <p:txBody>
          <a:bodyPr wrap="square">
            <a:spAutoFit/>
          </a:bodyPr>
          <a:lstStyle/>
          <a:p>
            <a:pPr>
              <a:defRPr sz="1300" b="1">
                <a:solidFill>
                  <a:srgbClr val="C88C1B"/>
                </a:solidFill>
                <a:latin typeface="Microsoft YaHei"/>
              </a:defRPr>
            </a:pPr>
            <a:r>
              <a:t>现代反垄断演进趋势：随着经济分析方法的引入，合理推定原则的应用范围逐步扩大。</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
            <a:ext cx="5486400" cy="320040"/>
          </a:xfrm>
          <a:prstGeom prst="rect">
            <a:avLst/>
          </a:prstGeom>
          <a:noFill/>
        </p:spPr>
        <p:txBody>
          <a:bodyPr wrap="square">
            <a:spAutoFit/>
          </a:bodyPr>
          <a:lstStyle/>
          <a:p>
            <a:pPr>
              <a:defRPr sz="1200" b="1">
                <a:solidFill>
                  <a:srgbClr val="2E86C1"/>
                </a:solidFill>
                <a:latin typeface="Microsoft YaHei"/>
              </a:defRPr>
            </a:pPr>
            <a:r>
              <a:t>第一节 欧美国家的反垄断法</a:t>
            </a:r>
          </a:p>
        </p:txBody>
      </p:sp>
      <p:sp>
        <p:nvSpPr>
          <p:cNvPr id="5" name="TextBox 4"/>
          <p:cNvSpPr txBox="1"/>
          <p:nvPr/>
        </p:nvSpPr>
        <p:spPr>
          <a:xfrm>
            <a:off x="457200" y="502920"/>
            <a:ext cx="10515600" cy="548640"/>
          </a:xfrm>
          <a:prstGeom prst="rect">
            <a:avLst/>
          </a:prstGeom>
          <a:noFill/>
        </p:spPr>
        <p:txBody>
          <a:bodyPr wrap="square">
            <a:spAutoFit/>
          </a:bodyPr>
          <a:lstStyle/>
          <a:p>
            <a:pPr>
              <a:defRPr sz="2600" b="1">
                <a:solidFill>
                  <a:srgbClr val="1B3A5C"/>
                </a:solidFill>
                <a:latin typeface="Microsoft YaHei"/>
              </a:defRPr>
            </a:pPr>
            <a:r>
              <a:t>横向竞争限制：概念与违法构成要件</a:t>
            </a:r>
          </a:p>
        </p:txBody>
      </p:sp>
      <p:sp>
        <p:nvSpPr>
          <p:cNvPr id="6" name="Rectangle 5"/>
          <p:cNvSpPr/>
          <p:nvPr/>
        </p:nvSpPr>
        <p:spPr>
          <a:xfrm>
            <a:off x="457200" y="1078992"/>
            <a:ext cx="1097280" cy="3657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a:spAutoFit/>
          </a:bodyPr>
          <a:lstStyle/>
          <a:p>
            <a:pPr>
              <a:defRPr sz="1000">
                <a:solidFill>
                  <a:srgbClr val="6B6B6B"/>
                </a:solidFill>
                <a:latin typeface="Microsoft YaHei"/>
              </a:defRPr>
            </a:pPr>
            <a:r>
              <a:t>产业经济学 · 刘志彪（第3版）</a:t>
            </a:r>
          </a:p>
        </p:txBody>
      </p:sp>
      <p:sp>
        <p:nvSpPr>
          <p:cNvPr id="8" name="TextBox 7"/>
          <p:cNvSpPr txBox="1"/>
          <p:nvPr/>
        </p:nvSpPr>
        <p:spPr>
          <a:xfrm>
            <a:off x="11155680" y="6400800"/>
            <a:ext cx="731520" cy="320040"/>
          </a:xfrm>
          <a:prstGeom prst="rect">
            <a:avLst/>
          </a:prstGeom>
          <a:noFill/>
        </p:spPr>
        <p:txBody>
          <a:bodyPr wrap="none">
            <a:spAutoFit/>
          </a:bodyPr>
          <a:lstStyle/>
          <a:p>
            <a:pPr algn="r">
              <a:defRPr sz="1100">
                <a:solidFill>
                  <a:srgbClr val="6B6B6B"/>
                </a:solidFill>
                <a:latin typeface="Microsoft YaHei"/>
              </a:defRPr>
            </a:pPr>
            <a:r>
              <a:t>9</a:t>
            </a:r>
          </a:p>
        </p:txBody>
      </p:sp>
      <p:sp>
        <p:nvSpPr>
          <p:cNvPr id="9" name="Rectangle 8"/>
          <p:cNvSpPr/>
          <p:nvPr/>
        </p:nvSpPr>
        <p:spPr>
          <a:xfrm>
            <a:off x="45720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8640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399032"/>
            <a:ext cx="5120640" cy="365760"/>
          </a:xfrm>
          <a:prstGeom prst="rect">
            <a:avLst/>
          </a:prstGeom>
          <a:noFill/>
        </p:spPr>
        <p:txBody>
          <a:bodyPr wrap="none">
            <a:spAutoFit/>
          </a:bodyPr>
          <a:lstStyle/>
          <a:p>
            <a:pPr>
              <a:defRPr sz="1600" b="1">
                <a:solidFill>
                  <a:srgbClr val="FFFFFF"/>
                </a:solidFill>
                <a:latin typeface="Microsoft YaHei"/>
              </a:defRPr>
            </a:pPr>
            <a:r>
              <a:t>横向竞争限制的定义</a:t>
            </a:r>
          </a:p>
        </p:txBody>
      </p:sp>
      <p:sp>
        <p:nvSpPr>
          <p:cNvPr id="12" name="TextBox 11"/>
          <p:cNvSpPr txBox="1"/>
          <p:nvPr/>
        </p:nvSpPr>
        <p:spPr>
          <a:xfrm>
            <a:off x="64008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行为主体：处于同一生产或销售阶段的现实竞争者或潜在竞争者之间。</a:t>
            </a:r>
          </a:p>
          <a:p>
            <a:pPr>
              <a:spcAft>
                <a:spcPts val="600"/>
              </a:spcAft>
              <a:defRPr sz="1300">
                <a:solidFill>
                  <a:srgbClr val="2C2C2C"/>
                </a:solidFill>
                <a:latin typeface="Microsoft YaHei"/>
              </a:defRPr>
            </a:pPr>
            <a:r>
              <a:t>· 行为本质：通过协商一致的协同行为排除、限制市场竞争。</a:t>
            </a:r>
          </a:p>
          <a:p>
            <a:pPr>
              <a:spcAft>
                <a:spcPts val="600"/>
              </a:spcAft>
              <a:defRPr sz="1300">
                <a:solidFill>
                  <a:srgbClr val="2C2C2C"/>
                </a:solidFill>
                <a:latin typeface="Microsoft YaHei"/>
              </a:defRPr>
            </a:pPr>
            <a:r>
              <a:t>· 法律判定：被视为反托拉斯法中最严重、打击最严厉的违法行为。</a:t>
            </a:r>
          </a:p>
          <a:p>
            <a:pPr>
              <a:spcAft>
                <a:spcPts val="600"/>
              </a:spcAft>
              <a:defRPr sz="1300">
                <a:solidFill>
                  <a:srgbClr val="2C2C2C"/>
                </a:solidFill>
                <a:latin typeface="Microsoft YaHei"/>
              </a:defRPr>
            </a:pPr>
            <a:r>
              <a:t>· 构成要件：必须存在竞争者之间的合谋、协议或协同行动。</a:t>
            </a:r>
          </a:p>
        </p:txBody>
      </p:sp>
      <p:sp>
        <p:nvSpPr>
          <p:cNvPr id="13" name="Rectangle 12"/>
          <p:cNvSpPr/>
          <p:nvPr/>
        </p:nvSpPr>
        <p:spPr>
          <a:xfrm>
            <a:off x="621792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325880"/>
            <a:ext cx="5486400" cy="502920"/>
          </a:xfrm>
          <a:prstGeom prst="rect">
            <a:avLst/>
          </a:prstGeom>
          <a:solidFill>
            <a:srgbClr val="C84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399032"/>
            <a:ext cx="5120640" cy="365760"/>
          </a:xfrm>
          <a:prstGeom prst="rect">
            <a:avLst/>
          </a:prstGeom>
          <a:noFill/>
        </p:spPr>
        <p:txBody>
          <a:bodyPr wrap="none">
            <a:spAutoFit/>
          </a:bodyPr>
          <a:lstStyle/>
          <a:p>
            <a:pPr>
              <a:defRPr sz="1600" b="1">
                <a:solidFill>
                  <a:srgbClr val="FFFFFF"/>
                </a:solidFill>
                <a:latin typeface="Microsoft YaHei"/>
              </a:defRPr>
            </a:pPr>
            <a:r>
              <a:t>危害性经济学分析</a:t>
            </a:r>
          </a:p>
        </p:txBody>
      </p:sp>
      <p:sp>
        <p:nvSpPr>
          <p:cNvPr id="16" name="TextBox 15"/>
          <p:cNvSpPr txBox="1"/>
          <p:nvPr/>
        </p:nvSpPr>
        <p:spPr>
          <a:xfrm>
            <a:off x="640080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形成卡特尔（Cartel）：人为抬高价格、限制产量，造成社会福利净损失。</a:t>
            </a:r>
          </a:p>
          <a:p>
            <a:pPr>
              <a:spcAft>
                <a:spcPts val="600"/>
              </a:spcAft>
              <a:defRPr sz="1300">
                <a:solidFill>
                  <a:srgbClr val="2C2C2C"/>
                </a:solidFill>
                <a:latin typeface="Microsoft YaHei"/>
              </a:defRPr>
            </a:pPr>
            <a:r>
              <a:t>· 扼杀效率：保护低效企业，阻碍行业技术创新与资源优化配置。</a:t>
            </a:r>
          </a:p>
          <a:p>
            <a:pPr>
              <a:spcAft>
                <a:spcPts val="600"/>
              </a:spcAft>
              <a:defRPr sz="1300">
                <a:solidFill>
                  <a:srgbClr val="2C2C2C"/>
                </a:solidFill>
                <a:latin typeface="Microsoft YaHei"/>
              </a:defRPr>
            </a:pPr>
            <a:r>
              <a:t>· 损害消费者：使消费者被迫支付垄断高价，剥夺消费者选择权。</a:t>
            </a:r>
          </a:p>
        </p:txBody>
      </p:sp>
      <p:sp>
        <p:nvSpPr>
          <p:cNvPr id="17" name="TextBox 16"/>
          <p:cNvSpPr txBox="1"/>
          <p:nvPr/>
        </p:nvSpPr>
        <p:spPr>
          <a:xfrm>
            <a:off x="457200" y="5897880"/>
            <a:ext cx="11274552" cy="411480"/>
          </a:xfrm>
          <a:prstGeom prst="rect">
            <a:avLst/>
          </a:prstGeom>
          <a:noFill/>
        </p:spPr>
        <p:txBody>
          <a:bodyPr wrap="square">
            <a:spAutoFit/>
          </a:bodyPr>
          <a:lstStyle/>
          <a:p>
            <a:pPr>
              <a:defRPr sz="1300" b="1">
                <a:solidFill>
                  <a:srgbClr val="C84B1B"/>
                </a:solidFill>
                <a:latin typeface="Microsoft YaHei"/>
              </a:defRPr>
            </a:pPr>
            <a:r>
              <a:t>横向竞争限制彻底消除了竞争对手之间的相互竞争，是各国家反垄断执法首要打击的靶心。</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
            <a:ext cx="5486400" cy="320040"/>
          </a:xfrm>
          <a:prstGeom prst="rect">
            <a:avLst/>
          </a:prstGeom>
          <a:noFill/>
        </p:spPr>
        <p:txBody>
          <a:bodyPr wrap="square">
            <a:spAutoFit/>
          </a:bodyPr>
          <a:lstStyle/>
          <a:p>
            <a:pPr>
              <a:defRPr sz="1200" b="1">
                <a:solidFill>
                  <a:srgbClr val="2E86C1"/>
                </a:solidFill>
                <a:latin typeface="Microsoft YaHei"/>
              </a:defRPr>
            </a:pPr>
            <a:r>
              <a:t>第一节 欧美国家的反垄断法</a:t>
            </a:r>
          </a:p>
        </p:txBody>
      </p:sp>
      <p:sp>
        <p:nvSpPr>
          <p:cNvPr id="5" name="TextBox 4"/>
          <p:cNvSpPr txBox="1"/>
          <p:nvPr/>
        </p:nvSpPr>
        <p:spPr>
          <a:xfrm>
            <a:off x="457200" y="502920"/>
            <a:ext cx="10515600" cy="548640"/>
          </a:xfrm>
          <a:prstGeom prst="rect">
            <a:avLst/>
          </a:prstGeom>
          <a:noFill/>
        </p:spPr>
        <p:txBody>
          <a:bodyPr wrap="square">
            <a:spAutoFit/>
          </a:bodyPr>
          <a:lstStyle/>
          <a:p>
            <a:pPr>
              <a:defRPr sz="2600" b="1">
                <a:solidFill>
                  <a:srgbClr val="1B3A5C"/>
                </a:solidFill>
                <a:latin typeface="Microsoft YaHei"/>
              </a:defRPr>
            </a:pPr>
            <a:r>
              <a:t>横向竞争限制的五种具体情形</a:t>
            </a:r>
          </a:p>
        </p:txBody>
      </p:sp>
      <p:sp>
        <p:nvSpPr>
          <p:cNvPr id="6" name="Rectangle 5"/>
          <p:cNvSpPr/>
          <p:nvPr/>
        </p:nvSpPr>
        <p:spPr>
          <a:xfrm>
            <a:off x="457200" y="1078992"/>
            <a:ext cx="1097280" cy="3657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a:spAutoFit/>
          </a:bodyPr>
          <a:lstStyle/>
          <a:p>
            <a:pPr>
              <a:defRPr sz="1000">
                <a:solidFill>
                  <a:srgbClr val="6B6B6B"/>
                </a:solidFill>
                <a:latin typeface="Microsoft YaHei"/>
              </a:defRPr>
            </a:pPr>
            <a:r>
              <a:t>产业经济学 · 刘志彪（第3版）</a:t>
            </a:r>
          </a:p>
        </p:txBody>
      </p:sp>
      <p:sp>
        <p:nvSpPr>
          <p:cNvPr id="8" name="TextBox 7"/>
          <p:cNvSpPr txBox="1"/>
          <p:nvPr/>
        </p:nvSpPr>
        <p:spPr>
          <a:xfrm>
            <a:off x="11155680" y="6400800"/>
            <a:ext cx="731520" cy="320040"/>
          </a:xfrm>
          <a:prstGeom prst="rect">
            <a:avLst/>
          </a:prstGeom>
          <a:noFill/>
        </p:spPr>
        <p:txBody>
          <a:bodyPr wrap="none">
            <a:spAutoFit/>
          </a:bodyPr>
          <a:lstStyle/>
          <a:p>
            <a:pPr algn="r">
              <a:defRPr sz="1100">
                <a:solidFill>
                  <a:srgbClr val="6B6B6B"/>
                </a:solidFill>
                <a:latin typeface="Microsoft YaHei"/>
              </a:defRPr>
            </a:pPr>
            <a:r>
              <a:t>10</a:t>
            </a:r>
          </a:p>
        </p:txBody>
      </p:sp>
      <p:sp>
        <p:nvSpPr>
          <p:cNvPr id="9" name="Rectangle 8"/>
          <p:cNvSpPr/>
          <p:nvPr/>
        </p:nvSpPr>
        <p:spPr>
          <a:xfrm>
            <a:off x="457200" y="1325880"/>
            <a:ext cx="11274552"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11274552"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399032"/>
            <a:ext cx="10908792" cy="365760"/>
          </a:xfrm>
          <a:prstGeom prst="rect">
            <a:avLst/>
          </a:prstGeom>
          <a:noFill/>
        </p:spPr>
        <p:txBody>
          <a:bodyPr wrap="none">
            <a:spAutoFit/>
          </a:bodyPr>
          <a:lstStyle/>
          <a:p>
            <a:pPr>
              <a:defRPr sz="1600" b="1">
                <a:solidFill>
                  <a:srgbClr val="FFFFFF"/>
                </a:solidFill>
                <a:latin typeface="Microsoft YaHei"/>
              </a:defRPr>
            </a:pPr>
            <a:r>
              <a:t>横向竞争限制的典型表现形式</a:t>
            </a:r>
          </a:p>
        </p:txBody>
      </p:sp>
      <p:sp>
        <p:nvSpPr>
          <p:cNvPr id="12" name="TextBox 11"/>
          <p:cNvSpPr txBox="1"/>
          <p:nvPr/>
        </p:nvSpPr>
        <p:spPr>
          <a:xfrm>
            <a:off x="640080" y="1920240"/>
            <a:ext cx="10908792" cy="3703320"/>
          </a:xfrm>
          <a:prstGeom prst="rect">
            <a:avLst/>
          </a:prstGeom>
          <a:noFill/>
        </p:spPr>
        <p:txBody>
          <a:bodyPr wrap="square">
            <a:spAutoFit/>
          </a:bodyPr>
          <a:lstStyle/>
          <a:p>
            <a:pPr>
              <a:spcAft>
                <a:spcPts val="600"/>
              </a:spcAft>
              <a:defRPr sz="1300">
                <a:solidFill>
                  <a:srgbClr val="2C2C2C"/>
                </a:solidFill>
                <a:latin typeface="Microsoft YaHei"/>
              </a:defRPr>
            </a:pPr>
            <a:r>
              <a:t>1. 横向价格固定：竞争者协调统一销售/采购价格、限定产量等（适用“本身违法原则”）。</a:t>
            </a:r>
          </a:p>
          <a:p>
            <a:pPr>
              <a:spcAft>
                <a:spcPts val="600"/>
              </a:spcAft>
              <a:defRPr sz="1300">
                <a:solidFill>
                  <a:srgbClr val="2C2C2C"/>
                </a:solidFill>
                <a:latin typeface="Microsoft YaHei"/>
              </a:defRPr>
            </a:pPr>
            <a:r>
              <a:t>2. 市场划分：以协议形式按地域、产品或客户划分市场，消灭所有竞争空间（本身非法）。</a:t>
            </a:r>
          </a:p>
          <a:p>
            <a:pPr>
              <a:spcAft>
                <a:spcPts val="600"/>
              </a:spcAft>
              <a:defRPr sz="1300">
                <a:solidFill>
                  <a:srgbClr val="2C2C2C"/>
                </a:solidFill>
                <a:latin typeface="Microsoft YaHei"/>
              </a:defRPr>
            </a:pPr>
            <a:r>
              <a:t>3. 联合抵制交易：多家企业联合拒绝与特定买卖方交易（视情况适用本身违法或合理推定）。</a:t>
            </a:r>
          </a:p>
          <a:p>
            <a:pPr>
              <a:spcAft>
                <a:spcPts val="600"/>
              </a:spcAft>
              <a:defRPr sz="1300">
                <a:solidFill>
                  <a:srgbClr val="2C2C2C"/>
                </a:solidFill>
                <a:latin typeface="Microsoft YaHei"/>
              </a:defRPr>
            </a:pPr>
            <a:r>
              <a:t>4. 贸易协会行为：行业协会章程或规则若针对非会员实施排他限制则构成违法。</a:t>
            </a:r>
          </a:p>
          <a:p>
            <a:pPr>
              <a:spcAft>
                <a:spcPts val="600"/>
              </a:spcAft>
              <a:defRPr sz="1300">
                <a:solidFill>
                  <a:srgbClr val="2C2C2C"/>
                </a:solidFill>
                <a:latin typeface="Microsoft YaHei"/>
              </a:defRPr>
            </a:pPr>
            <a:r>
              <a:t>5. 竞业合资企业：合资目的若涉及固定价格等非法目的则违法，合法目的适用合理推定。</a:t>
            </a:r>
          </a:p>
        </p:txBody>
      </p:sp>
      <p:sp>
        <p:nvSpPr>
          <p:cNvPr id="13" name="TextBox 12"/>
          <p:cNvSpPr txBox="1"/>
          <p:nvPr/>
        </p:nvSpPr>
        <p:spPr>
          <a:xfrm>
            <a:off x="457200" y="5897880"/>
            <a:ext cx="11274552" cy="411480"/>
          </a:xfrm>
          <a:prstGeom prst="rect">
            <a:avLst/>
          </a:prstGeom>
          <a:noFill/>
        </p:spPr>
        <p:txBody>
          <a:bodyPr wrap="square">
            <a:spAutoFit/>
          </a:bodyPr>
          <a:lstStyle/>
          <a:p>
            <a:pPr>
              <a:defRPr sz="1300" b="1">
                <a:solidFill>
                  <a:srgbClr val="C88C1B"/>
                </a:solidFill>
                <a:latin typeface="Microsoft YaHei"/>
              </a:defRPr>
            </a:pPr>
            <a:r>
              <a:t>市场划分比形式上的价格固定更具破坏力，因为它彻底锁死了市场份额，消除了任何竞争余地。</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
            <a:ext cx="5486400" cy="320040"/>
          </a:xfrm>
          <a:prstGeom prst="rect">
            <a:avLst/>
          </a:prstGeom>
          <a:noFill/>
        </p:spPr>
        <p:txBody>
          <a:bodyPr wrap="square">
            <a:spAutoFit/>
          </a:bodyPr>
          <a:lstStyle/>
          <a:p>
            <a:pPr>
              <a:defRPr sz="1200" b="1">
                <a:solidFill>
                  <a:srgbClr val="2E86C1"/>
                </a:solidFill>
                <a:latin typeface="Microsoft YaHei"/>
              </a:defRPr>
            </a:pPr>
            <a:r>
              <a:t>第一节 欧美国家的反垄断法</a:t>
            </a:r>
          </a:p>
        </p:txBody>
      </p:sp>
      <p:sp>
        <p:nvSpPr>
          <p:cNvPr id="5" name="TextBox 4"/>
          <p:cNvSpPr txBox="1"/>
          <p:nvPr/>
        </p:nvSpPr>
        <p:spPr>
          <a:xfrm>
            <a:off x="457200" y="502920"/>
            <a:ext cx="10515600" cy="548640"/>
          </a:xfrm>
          <a:prstGeom prst="rect">
            <a:avLst/>
          </a:prstGeom>
          <a:noFill/>
        </p:spPr>
        <p:txBody>
          <a:bodyPr wrap="square">
            <a:spAutoFit/>
          </a:bodyPr>
          <a:lstStyle/>
          <a:p>
            <a:pPr>
              <a:defRPr sz="2600" b="1">
                <a:solidFill>
                  <a:srgbClr val="1B3A5C"/>
                </a:solidFill>
                <a:latin typeface="Microsoft YaHei"/>
              </a:defRPr>
            </a:pPr>
            <a:r>
              <a:t>纵向约束：定义、特征与规制态度</a:t>
            </a:r>
          </a:p>
        </p:txBody>
      </p:sp>
      <p:sp>
        <p:nvSpPr>
          <p:cNvPr id="6" name="Rectangle 5"/>
          <p:cNvSpPr/>
          <p:nvPr/>
        </p:nvSpPr>
        <p:spPr>
          <a:xfrm>
            <a:off x="457200" y="1078992"/>
            <a:ext cx="1097280" cy="3657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a:spAutoFit/>
          </a:bodyPr>
          <a:lstStyle/>
          <a:p>
            <a:pPr>
              <a:defRPr sz="1000">
                <a:solidFill>
                  <a:srgbClr val="6B6B6B"/>
                </a:solidFill>
                <a:latin typeface="Microsoft YaHei"/>
              </a:defRPr>
            </a:pPr>
            <a:r>
              <a:t>产业经济学 · 刘志彪（第3版）</a:t>
            </a:r>
          </a:p>
        </p:txBody>
      </p:sp>
      <p:sp>
        <p:nvSpPr>
          <p:cNvPr id="8" name="TextBox 7"/>
          <p:cNvSpPr txBox="1"/>
          <p:nvPr/>
        </p:nvSpPr>
        <p:spPr>
          <a:xfrm>
            <a:off x="11155680" y="6400800"/>
            <a:ext cx="731520" cy="320040"/>
          </a:xfrm>
          <a:prstGeom prst="rect">
            <a:avLst/>
          </a:prstGeom>
          <a:noFill/>
        </p:spPr>
        <p:txBody>
          <a:bodyPr wrap="none">
            <a:spAutoFit/>
          </a:bodyPr>
          <a:lstStyle/>
          <a:p>
            <a:pPr algn="r">
              <a:defRPr sz="1100">
                <a:solidFill>
                  <a:srgbClr val="6B6B6B"/>
                </a:solidFill>
                <a:latin typeface="Microsoft YaHei"/>
              </a:defRPr>
            </a:pPr>
            <a:r>
              <a:t>11</a:t>
            </a:r>
          </a:p>
        </p:txBody>
      </p:sp>
      <p:sp>
        <p:nvSpPr>
          <p:cNvPr id="9" name="Rectangle 8"/>
          <p:cNvSpPr/>
          <p:nvPr/>
        </p:nvSpPr>
        <p:spPr>
          <a:xfrm>
            <a:off x="45720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8640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399032"/>
            <a:ext cx="5120640" cy="365760"/>
          </a:xfrm>
          <a:prstGeom prst="rect">
            <a:avLst/>
          </a:prstGeom>
          <a:noFill/>
        </p:spPr>
        <p:txBody>
          <a:bodyPr wrap="none">
            <a:spAutoFit/>
          </a:bodyPr>
          <a:lstStyle/>
          <a:p>
            <a:pPr>
              <a:defRPr sz="1600" b="1">
                <a:solidFill>
                  <a:srgbClr val="FFFFFF"/>
                </a:solidFill>
                <a:latin typeface="Microsoft YaHei"/>
              </a:defRPr>
            </a:pPr>
            <a:r>
              <a:t>纵向约束的定义与特征</a:t>
            </a:r>
          </a:p>
        </p:txBody>
      </p:sp>
      <p:sp>
        <p:nvSpPr>
          <p:cNvPr id="12" name="TextBox 11"/>
          <p:cNvSpPr txBox="1"/>
          <p:nvPr/>
        </p:nvSpPr>
        <p:spPr>
          <a:xfrm>
            <a:off x="64008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行为主体：处于不同产业链阶段的企业之间（如厂商与经销商）。</a:t>
            </a:r>
          </a:p>
          <a:p>
            <a:pPr>
              <a:spcAft>
                <a:spcPts val="600"/>
              </a:spcAft>
              <a:defRPr sz="1300">
                <a:solidFill>
                  <a:srgbClr val="2C2C2C"/>
                </a:solidFill>
                <a:latin typeface="Microsoft YaHei"/>
              </a:defRPr>
            </a:pPr>
            <a:r>
              <a:t>· 核心目的：协调上下游利益，控制渠道，防止“搭便车”行为。</a:t>
            </a:r>
          </a:p>
          <a:p>
            <a:pPr>
              <a:spcAft>
                <a:spcPts val="600"/>
              </a:spcAft>
              <a:defRPr sz="1300">
                <a:solidFill>
                  <a:srgbClr val="2C2C2C"/>
                </a:solidFill>
                <a:latin typeface="Microsoft YaHei"/>
              </a:defRPr>
            </a:pPr>
            <a:r>
              <a:t>· 规制态度：由于非直接竞争对手，总体规制宽松于横向限制，多适用合理推定原则。</a:t>
            </a:r>
          </a:p>
        </p:txBody>
      </p:sp>
      <p:sp>
        <p:nvSpPr>
          <p:cNvPr id="13" name="Rectangle 12"/>
          <p:cNvSpPr/>
          <p:nvPr/>
        </p:nvSpPr>
        <p:spPr>
          <a:xfrm>
            <a:off x="621792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325880"/>
            <a:ext cx="548640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399032"/>
            <a:ext cx="5120640" cy="365760"/>
          </a:xfrm>
          <a:prstGeom prst="rect">
            <a:avLst/>
          </a:prstGeom>
          <a:noFill/>
        </p:spPr>
        <p:txBody>
          <a:bodyPr wrap="none">
            <a:spAutoFit/>
          </a:bodyPr>
          <a:lstStyle/>
          <a:p>
            <a:pPr>
              <a:defRPr sz="1600" b="1">
                <a:solidFill>
                  <a:srgbClr val="FFFFFF"/>
                </a:solidFill>
                <a:latin typeface="Microsoft YaHei"/>
              </a:defRPr>
            </a:pPr>
            <a:r>
              <a:t>纵向价格固定 (RPM)</a:t>
            </a:r>
          </a:p>
        </p:txBody>
      </p:sp>
      <p:sp>
        <p:nvSpPr>
          <p:cNvPr id="16" name="TextBox 15"/>
          <p:cNvSpPr txBox="1"/>
          <p:nvPr/>
        </p:nvSpPr>
        <p:spPr>
          <a:xfrm>
            <a:off x="640080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转售价格维持 (Resale Price Maintenance)：生产商限制经销商的最低转售价格。</a:t>
            </a:r>
          </a:p>
          <a:p>
            <a:pPr>
              <a:spcAft>
                <a:spcPts val="600"/>
              </a:spcAft>
              <a:defRPr sz="1300">
                <a:solidFill>
                  <a:srgbClr val="2C2C2C"/>
                </a:solidFill>
                <a:latin typeface="Microsoft YaHei"/>
              </a:defRPr>
            </a:pPr>
            <a:r>
              <a:t>· 经典判例：1911年 Dr.Miles 案认定最低限价“本身违法”。</a:t>
            </a:r>
          </a:p>
          <a:p>
            <a:pPr>
              <a:spcAft>
                <a:spcPts val="600"/>
              </a:spcAft>
              <a:defRPr sz="1300">
                <a:solidFill>
                  <a:srgbClr val="2C2C2C"/>
                </a:solidFill>
                <a:latin typeface="Microsoft YaHei"/>
              </a:defRPr>
            </a:pPr>
            <a:r>
              <a:t>· 现代转变：近年美国法院逐渐转向合理推定原则，评估其促进品牌间竞争的效果。</a:t>
            </a:r>
          </a:p>
        </p:txBody>
      </p:sp>
      <p:sp>
        <p:nvSpPr>
          <p:cNvPr id="17" name="TextBox 16"/>
          <p:cNvSpPr txBox="1"/>
          <p:nvPr/>
        </p:nvSpPr>
        <p:spPr>
          <a:xfrm>
            <a:off x="457200" y="5897880"/>
            <a:ext cx="11274552" cy="411480"/>
          </a:xfrm>
          <a:prstGeom prst="rect">
            <a:avLst/>
          </a:prstGeom>
          <a:noFill/>
        </p:spPr>
        <p:txBody>
          <a:bodyPr wrap="square">
            <a:spAutoFit/>
          </a:bodyPr>
          <a:lstStyle/>
          <a:p>
            <a:pPr>
              <a:defRPr sz="1300" b="1">
                <a:solidFill>
                  <a:srgbClr val="2E86C1"/>
                </a:solidFill>
                <a:latin typeface="Microsoft YaHei"/>
              </a:defRPr>
            </a:pPr>
            <a:r>
              <a:t>纵向约束兼具“促进品牌间竞争”与“限制品牌内竞争”双重效应，因此司法审查更为复杂。</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
            <a:ext cx="5486400" cy="320040"/>
          </a:xfrm>
          <a:prstGeom prst="rect">
            <a:avLst/>
          </a:prstGeom>
          <a:noFill/>
        </p:spPr>
        <p:txBody>
          <a:bodyPr wrap="square">
            <a:spAutoFit/>
          </a:bodyPr>
          <a:lstStyle/>
          <a:p>
            <a:pPr>
              <a:defRPr sz="1200" b="1">
                <a:solidFill>
                  <a:srgbClr val="2E86C1"/>
                </a:solidFill>
                <a:latin typeface="Microsoft YaHei"/>
              </a:defRPr>
            </a:pPr>
            <a:r>
              <a:t>第一节 欧美国家的反垄断法</a:t>
            </a:r>
          </a:p>
        </p:txBody>
      </p:sp>
      <p:sp>
        <p:nvSpPr>
          <p:cNvPr id="5" name="TextBox 4"/>
          <p:cNvSpPr txBox="1"/>
          <p:nvPr/>
        </p:nvSpPr>
        <p:spPr>
          <a:xfrm>
            <a:off x="457200" y="502920"/>
            <a:ext cx="10515600" cy="548640"/>
          </a:xfrm>
          <a:prstGeom prst="rect">
            <a:avLst/>
          </a:prstGeom>
          <a:noFill/>
        </p:spPr>
        <p:txBody>
          <a:bodyPr wrap="square">
            <a:spAutoFit/>
          </a:bodyPr>
          <a:lstStyle/>
          <a:p>
            <a:pPr>
              <a:defRPr sz="2600" b="1">
                <a:solidFill>
                  <a:srgbClr val="1B3A5C"/>
                </a:solidFill>
                <a:latin typeface="Microsoft YaHei"/>
              </a:defRPr>
            </a:pPr>
            <a:r>
              <a:t>非价格纵向限制与搭售/捆绑销售</a:t>
            </a:r>
          </a:p>
        </p:txBody>
      </p:sp>
      <p:sp>
        <p:nvSpPr>
          <p:cNvPr id="6" name="Rectangle 5"/>
          <p:cNvSpPr/>
          <p:nvPr/>
        </p:nvSpPr>
        <p:spPr>
          <a:xfrm>
            <a:off x="457200" y="1078992"/>
            <a:ext cx="1097280" cy="3657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a:spAutoFit/>
          </a:bodyPr>
          <a:lstStyle/>
          <a:p>
            <a:pPr>
              <a:defRPr sz="1000">
                <a:solidFill>
                  <a:srgbClr val="6B6B6B"/>
                </a:solidFill>
                <a:latin typeface="Microsoft YaHei"/>
              </a:defRPr>
            </a:pPr>
            <a:r>
              <a:t>产业经济学 · 刘志彪（第3版）</a:t>
            </a:r>
          </a:p>
        </p:txBody>
      </p:sp>
      <p:sp>
        <p:nvSpPr>
          <p:cNvPr id="8" name="TextBox 7"/>
          <p:cNvSpPr txBox="1"/>
          <p:nvPr/>
        </p:nvSpPr>
        <p:spPr>
          <a:xfrm>
            <a:off x="11155680" y="6400800"/>
            <a:ext cx="731520" cy="320040"/>
          </a:xfrm>
          <a:prstGeom prst="rect">
            <a:avLst/>
          </a:prstGeom>
          <a:noFill/>
        </p:spPr>
        <p:txBody>
          <a:bodyPr wrap="none">
            <a:spAutoFit/>
          </a:bodyPr>
          <a:lstStyle/>
          <a:p>
            <a:pPr algn="r">
              <a:defRPr sz="1100">
                <a:solidFill>
                  <a:srgbClr val="6B6B6B"/>
                </a:solidFill>
                <a:latin typeface="Microsoft YaHei"/>
              </a:defRPr>
            </a:pPr>
            <a:r>
              <a:t>12</a:t>
            </a:r>
          </a:p>
        </p:txBody>
      </p:sp>
      <p:sp>
        <p:nvSpPr>
          <p:cNvPr id="9" name="Rectangle 8"/>
          <p:cNvSpPr/>
          <p:nvPr/>
        </p:nvSpPr>
        <p:spPr>
          <a:xfrm>
            <a:off x="45720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8640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399032"/>
            <a:ext cx="5120640" cy="365760"/>
          </a:xfrm>
          <a:prstGeom prst="rect">
            <a:avLst/>
          </a:prstGeom>
          <a:noFill/>
        </p:spPr>
        <p:txBody>
          <a:bodyPr wrap="none">
            <a:spAutoFit/>
          </a:bodyPr>
          <a:lstStyle/>
          <a:p>
            <a:pPr>
              <a:defRPr sz="1600" b="1">
                <a:solidFill>
                  <a:srgbClr val="FFFFFF"/>
                </a:solidFill>
                <a:latin typeface="Microsoft YaHei"/>
              </a:defRPr>
            </a:pPr>
            <a:r>
              <a:t>非价格纵向限制形式</a:t>
            </a:r>
          </a:p>
        </p:txBody>
      </p:sp>
      <p:sp>
        <p:nvSpPr>
          <p:cNvPr id="12" name="TextBox 11"/>
          <p:cNvSpPr txBox="1"/>
          <p:nvPr/>
        </p:nvSpPr>
        <p:spPr>
          <a:xfrm>
            <a:off x="64008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独占销售协议：授予特定经销商独家销售权（市场势力过大时违法）。</a:t>
            </a:r>
          </a:p>
          <a:p>
            <a:pPr>
              <a:spcAft>
                <a:spcPts val="600"/>
              </a:spcAft>
              <a:defRPr sz="1300">
                <a:solidFill>
                  <a:srgbClr val="2C2C2C"/>
                </a:solidFill>
                <a:latin typeface="Microsoft YaHei"/>
              </a:defRPr>
            </a:pPr>
            <a:r>
              <a:t>· 地域与顾客限制：限制经销商只能在特定区域或向特定客户销售。</a:t>
            </a:r>
          </a:p>
          <a:p>
            <a:pPr>
              <a:spcAft>
                <a:spcPts val="600"/>
              </a:spcAft>
              <a:defRPr sz="1300">
                <a:solidFill>
                  <a:srgbClr val="2C2C2C"/>
                </a:solidFill>
                <a:latin typeface="Microsoft YaHei"/>
              </a:defRPr>
            </a:pPr>
            <a:r>
              <a:t>· 法律标准：美国法院对此普遍适用合理推定原则。</a:t>
            </a:r>
          </a:p>
        </p:txBody>
      </p:sp>
      <p:sp>
        <p:nvSpPr>
          <p:cNvPr id="13" name="Rectangle 12"/>
          <p:cNvSpPr/>
          <p:nvPr/>
        </p:nvSpPr>
        <p:spPr>
          <a:xfrm>
            <a:off x="621792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325880"/>
            <a:ext cx="5486400" cy="502920"/>
          </a:xfrm>
          <a:prstGeom prst="rect">
            <a:avLst/>
          </a:prstGeom>
          <a:solidFill>
            <a:srgbClr val="C84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399032"/>
            <a:ext cx="5120640" cy="365760"/>
          </a:xfrm>
          <a:prstGeom prst="rect">
            <a:avLst/>
          </a:prstGeom>
          <a:noFill/>
        </p:spPr>
        <p:txBody>
          <a:bodyPr wrap="none">
            <a:spAutoFit/>
          </a:bodyPr>
          <a:lstStyle/>
          <a:p>
            <a:pPr>
              <a:defRPr sz="1600" b="1">
                <a:solidFill>
                  <a:srgbClr val="FFFFFF"/>
                </a:solidFill>
                <a:latin typeface="Microsoft YaHei"/>
              </a:defRPr>
            </a:pPr>
            <a:r>
              <a:t>搭售/捆绑销售 (Tying)</a:t>
            </a:r>
          </a:p>
        </p:txBody>
      </p:sp>
      <p:sp>
        <p:nvSpPr>
          <p:cNvPr id="16" name="TextBox 15"/>
          <p:cNvSpPr txBox="1"/>
          <p:nvPr/>
        </p:nvSpPr>
        <p:spPr>
          <a:xfrm>
            <a:off x="640080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概念：购买主产品（Tying product）必须强制购买搭售品（Tied product）。</a:t>
            </a:r>
          </a:p>
          <a:p>
            <a:pPr>
              <a:spcAft>
                <a:spcPts val="600"/>
              </a:spcAft>
              <a:defRPr sz="1300">
                <a:solidFill>
                  <a:srgbClr val="2C2C2C"/>
                </a:solidFill>
                <a:latin typeface="Microsoft YaHei"/>
              </a:defRPr>
            </a:pPr>
            <a:r>
              <a:t>· 非法搭售三要件：</a:t>
            </a:r>
          </a:p>
          <a:p>
            <a:pPr>
              <a:spcAft>
                <a:spcPts val="600"/>
              </a:spcAft>
              <a:defRPr sz="1300">
                <a:solidFill>
                  <a:srgbClr val="2C2C2C"/>
                </a:solidFill>
                <a:latin typeface="Microsoft YaHei"/>
              </a:defRPr>
            </a:pPr>
            <a:r>
              <a:t>  1. 存在两种独立产品；</a:t>
            </a:r>
          </a:p>
          <a:p>
            <a:pPr>
              <a:spcAft>
                <a:spcPts val="600"/>
              </a:spcAft>
              <a:defRPr sz="1300">
                <a:solidFill>
                  <a:srgbClr val="2C2C2C"/>
                </a:solidFill>
                <a:latin typeface="Microsoft YaHei"/>
              </a:defRPr>
            </a:pPr>
            <a:r>
              <a:t>  2. 销售方在主产品市场具有支配地位；</a:t>
            </a:r>
          </a:p>
          <a:p>
            <a:pPr>
              <a:spcAft>
                <a:spcPts val="600"/>
              </a:spcAft>
              <a:defRPr sz="1300">
                <a:solidFill>
                  <a:srgbClr val="2C2C2C"/>
                </a:solidFill>
                <a:latin typeface="Microsoft YaHei"/>
              </a:defRPr>
            </a:pPr>
            <a:r>
              <a:t>  3. 搭售金额巨大并实质减少搭售品市场竞争。</a:t>
            </a:r>
          </a:p>
        </p:txBody>
      </p:sp>
      <p:sp>
        <p:nvSpPr>
          <p:cNvPr id="17" name="TextBox 16"/>
          <p:cNvSpPr txBox="1"/>
          <p:nvPr/>
        </p:nvSpPr>
        <p:spPr>
          <a:xfrm>
            <a:off x="457200" y="5897880"/>
            <a:ext cx="11274552" cy="411480"/>
          </a:xfrm>
          <a:prstGeom prst="rect">
            <a:avLst/>
          </a:prstGeom>
          <a:noFill/>
        </p:spPr>
        <p:txBody>
          <a:bodyPr wrap="square">
            <a:spAutoFit/>
          </a:bodyPr>
          <a:lstStyle/>
          <a:p>
            <a:pPr>
              <a:defRPr sz="1300" b="1">
                <a:solidFill>
                  <a:srgbClr val="C84B1B"/>
                </a:solidFill>
                <a:latin typeface="Microsoft YaHei"/>
              </a:defRPr>
            </a:pPr>
            <a:r>
              <a:t>当企业利用主产品的支配地位强行将势力扩展至搭售品市场时，搭售即构成严重违法。</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
            <a:ext cx="5486400" cy="320040"/>
          </a:xfrm>
          <a:prstGeom prst="rect">
            <a:avLst/>
          </a:prstGeom>
          <a:noFill/>
        </p:spPr>
        <p:txBody>
          <a:bodyPr wrap="square">
            <a:spAutoFit/>
          </a:bodyPr>
          <a:lstStyle/>
          <a:p>
            <a:pPr>
              <a:defRPr sz="1200" b="1">
                <a:solidFill>
                  <a:srgbClr val="2E86C1"/>
                </a:solidFill>
                <a:latin typeface="Microsoft YaHei"/>
              </a:defRPr>
            </a:pPr>
            <a:r>
              <a:t>第一节 欧美国家的反垄断法</a:t>
            </a:r>
          </a:p>
        </p:txBody>
      </p:sp>
      <p:sp>
        <p:nvSpPr>
          <p:cNvPr id="5" name="TextBox 4"/>
          <p:cNvSpPr txBox="1"/>
          <p:nvPr/>
        </p:nvSpPr>
        <p:spPr>
          <a:xfrm>
            <a:off x="457200" y="502920"/>
            <a:ext cx="10515600" cy="548640"/>
          </a:xfrm>
          <a:prstGeom prst="rect">
            <a:avLst/>
          </a:prstGeom>
          <a:noFill/>
        </p:spPr>
        <p:txBody>
          <a:bodyPr wrap="square">
            <a:spAutoFit/>
          </a:bodyPr>
          <a:lstStyle/>
          <a:p>
            <a:pPr>
              <a:defRPr sz="2600" b="1">
                <a:solidFill>
                  <a:srgbClr val="1B3A5C"/>
                </a:solidFill>
                <a:latin typeface="Microsoft YaHei"/>
              </a:defRPr>
            </a:pPr>
            <a:r>
              <a:t>企业兼并控制与 HHI 集中度监管</a:t>
            </a:r>
          </a:p>
        </p:txBody>
      </p:sp>
      <p:sp>
        <p:nvSpPr>
          <p:cNvPr id="6" name="Rectangle 5"/>
          <p:cNvSpPr/>
          <p:nvPr/>
        </p:nvSpPr>
        <p:spPr>
          <a:xfrm>
            <a:off x="457200" y="1078992"/>
            <a:ext cx="1097280" cy="3657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a:spAutoFit/>
          </a:bodyPr>
          <a:lstStyle/>
          <a:p>
            <a:pPr>
              <a:defRPr sz="1000">
                <a:solidFill>
                  <a:srgbClr val="6B6B6B"/>
                </a:solidFill>
                <a:latin typeface="Microsoft YaHei"/>
              </a:defRPr>
            </a:pPr>
            <a:r>
              <a:t>产业经济学 · 刘志彪（第3版）</a:t>
            </a:r>
          </a:p>
        </p:txBody>
      </p:sp>
      <p:sp>
        <p:nvSpPr>
          <p:cNvPr id="8" name="TextBox 7"/>
          <p:cNvSpPr txBox="1"/>
          <p:nvPr/>
        </p:nvSpPr>
        <p:spPr>
          <a:xfrm>
            <a:off x="11155680" y="6400800"/>
            <a:ext cx="731520" cy="320040"/>
          </a:xfrm>
          <a:prstGeom prst="rect">
            <a:avLst/>
          </a:prstGeom>
          <a:noFill/>
        </p:spPr>
        <p:txBody>
          <a:bodyPr wrap="none">
            <a:spAutoFit/>
          </a:bodyPr>
          <a:lstStyle/>
          <a:p>
            <a:pPr algn="r">
              <a:defRPr sz="1100">
                <a:solidFill>
                  <a:srgbClr val="6B6B6B"/>
                </a:solidFill>
                <a:latin typeface="Microsoft YaHei"/>
              </a:defRPr>
            </a:pPr>
            <a:r>
              <a:t>13</a:t>
            </a:r>
          </a:p>
        </p:txBody>
      </p:sp>
      <p:sp>
        <p:nvSpPr>
          <p:cNvPr id="9" name="Rectangle 8"/>
          <p:cNvSpPr/>
          <p:nvPr/>
        </p:nvSpPr>
        <p:spPr>
          <a:xfrm>
            <a:off x="45720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8640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399032"/>
            <a:ext cx="5120640" cy="365760"/>
          </a:xfrm>
          <a:prstGeom prst="rect">
            <a:avLst/>
          </a:prstGeom>
          <a:noFill/>
        </p:spPr>
        <p:txBody>
          <a:bodyPr wrap="none">
            <a:spAutoFit/>
          </a:bodyPr>
          <a:lstStyle/>
          <a:p>
            <a:pPr>
              <a:defRPr sz="1600" b="1">
                <a:solidFill>
                  <a:srgbClr val="FFFFFF"/>
                </a:solidFill>
                <a:latin typeface="Microsoft YaHei"/>
              </a:defRPr>
            </a:pPr>
            <a:r>
              <a:t>兼并类型与反垄断监管</a:t>
            </a:r>
          </a:p>
        </p:txBody>
      </p:sp>
      <p:sp>
        <p:nvSpPr>
          <p:cNvPr id="12" name="TextBox 11"/>
          <p:cNvSpPr txBox="1"/>
          <p:nvPr/>
        </p:nvSpPr>
        <p:spPr>
          <a:xfrm>
            <a:off x="64008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横向兼并：同业竞争者兼并（重点审查市场集中度变化）。</a:t>
            </a:r>
          </a:p>
          <a:p>
            <a:pPr>
              <a:spcAft>
                <a:spcPts val="600"/>
              </a:spcAft>
              <a:defRPr sz="1300">
                <a:solidFill>
                  <a:srgbClr val="2C2C2C"/>
                </a:solidFill>
                <a:latin typeface="Microsoft YaHei"/>
              </a:defRPr>
            </a:pPr>
            <a:r>
              <a:t>· 纵向兼并：上下游企业兼并（审查市场封锁效应）。</a:t>
            </a:r>
          </a:p>
          <a:p>
            <a:pPr>
              <a:spcAft>
                <a:spcPts val="600"/>
              </a:spcAft>
              <a:defRPr sz="1300">
                <a:solidFill>
                  <a:srgbClr val="2C2C2C"/>
                </a:solidFill>
                <a:latin typeface="Microsoft YaHei"/>
              </a:defRPr>
            </a:pPr>
            <a:r>
              <a:t>· 混合兼并：跨行业/跨区域兼并。</a:t>
            </a:r>
          </a:p>
          <a:p>
            <a:pPr>
              <a:spcAft>
                <a:spcPts val="600"/>
              </a:spcAft>
              <a:defRPr sz="1300">
                <a:solidFill>
                  <a:srgbClr val="2C2C2C"/>
                </a:solidFill>
                <a:latin typeface="Microsoft YaHei"/>
              </a:defRPr>
            </a:pPr>
            <a:r>
              <a:t>· 事先申报制度：1976《HSR法》规定达到资产/销售额门槛须在合并前15-30天向司法部/FTC申报。</a:t>
            </a:r>
          </a:p>
        </p:txBody>
      </p:sp>
      <p:sp>
        <p:nvSpPr>
          <p:cNvPr id="13" name="Rectangle 12"/>
          <p:cNvSpPr/>
          <p:nvPr/>
        </p:nvSpPr>
        <p:spPr>
          <a:xfrm>
            <a:off x="621792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325880"/>
            <a:ext cx="5486400" cy="502920"/>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399032"/>
            <a:ext cx="5120640" cy="365760"/>
          </a:xfrm>
          <a:prstGeom prst="rect">
            <a:avLst/>
          </a:prstGeom>
          <a:noFill/>
        </p:spPr>
        <p:txBody>
          <a:bodyPr wrap="none">
            <a:spAutoFit/>
          </a:bodyPr>
          <a:lstStyle/>
          <a:p>
            <a:pPr>
              <a:defRPr sz="1600" b="1">
                <a:solidFill>
                  <a:srgbClr val="FFFFFF"/>
                </a:solidFill>
                <a:latin typeface="Microsoft YaHei"/>
              </a:defRPr>
            </a:pPr>
            <a:r>
              <a:t>《兼并指导原则》与 HHI 指数</a:t>
            </a:r>
          </a:p>
        </p:txBody>
      </p:sp>
      <p:sp>
        <p:nvSpPr>
          <p:cNvPr id="16" name="TextBox 15"/>
          <p:cNvSpPr txBox="1"/>
          <p:nvPr/>
        </p:nvSpPr>
        <p:spPr>
          <a:xfrm>
            <a:off x="640080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HHI (Herfindahl-Hirschman Index)：市场上各企业市场份额（百分比）的平方和。</a:t>
            </a:r>
          </a:p>
          <a:p>
            <a:pPr>
              <a:spcAft>
                <a:spcPts val="600"/>
              </a:spcAft>
              <a:defRPr sz="1300">
                <a:solidFill>
                  <a:srgbClr val="2C2C2C"/>
                </a:solidFill>
                <a:latin typeface="Microsoft YaHei"/>
              </a:defRPr>
            </a:pPr>
            <a:r>
              <a:t>· HHI &lt; 1500：低集中度市场，兼并通常不受干预。</a:t>
            </a:r>
          </a:p>
          <a:p>
            <a:pPr>
              <a:spcAft>
                <a:spcPts val="600"/>
              </a:spcAft>
              <a:defRPr sz="1300">
                <a:solidFill>
                  <a:srgbClr val="2C2C2C"/>
                </a:solidFill>
                <a:latin typeface="Microsoft YaHei"/>
              </a:defRPr>
            </a:pPr>
            <a:r>
              <a:t>· 1500 ≤ HHI ≤ 2500：中度集中，增加超100点引发关注。</a:t>
            </a:r>
          </a:p>
          <a:p>
            <a:pPr>
              <a:spcAft>
                <a:spcPts val="600"/>
              </a:spcAft>
              <a:defRPr sz="1300">
                <a:solidFill>
                  <a:srgbClr val="2C2C2C"/>
                </a:solidFill>
                <a:latin typeface="Microsoft YaHei"/>
              </a:defRPr>
            </a:pPr>
            <a:r>
              <a:t>· HHI &gt; 2500：高度集中，增加超200点被推定为增强垄断力量。</a:t>
            </a:r>
          </a:p>
        </p:txBody>
      </p:sp>
      <p:sp>
        <p:nvSpPr>
          <p:cNvPr id="17" name="TextBox 16"/>
          <p:cNvSpPr txBox="1"/>
          <p:nvPr/>
        </p:nvSpPr>
        <p:spPr>
          <a:xfrm>
            <a:off x="457200" y="5897880"/>
            <a:ext cx="11274552" cy="411480"/>
          </a:xfrm>
          <a:prstGeom prst="rect">
            <a:avLst/>
          </a:prstGeom>
          <a:noFill/>
        </p:spPr>
        <p:txBody>
          <a:bodyPr wrap="square">
            <a:spAutoFit/>
          </a:bodyPr>
          <a:lstStyle/>
          <a:p>
            <a:pPr>
              <a:defRPr sz="1300" b="1">
                <a:solidFill>
                  <a:srgbClr val="1A8C5D"/>
                </a:solidFill>
                <a:latin typeface="Microsoft YaHei"/>
              </a:defRPr>
            </a:pPr>
            <a:r>
              <a:t>HHI 指数提供了量化评估兼并后市场集中度与反竞争效果的科学标准。</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
            <a:ext cx="5486400" cy="320040"/>
          </a:xfrm>
          <a:prstGeom prst="rect">
            <a:avLst/>
          </a:prstGeom>
          <a:noFill/>
        </p:spPr>
        <p:txBody>
          <a:bodyPr wrap="square">
            <a:spAutoFit/>
          </a:bodyPr>
          <a:lstStyle/>
          <a:p>
            <a:pPr>
              <a:defRPr sz="1200" b="1">
                <a:solidFill>
                  <a:srgbClr val="2E86C1"/>
                </a:solidFill>
                <a:latin typeface="Microsoft YaHei"/>
              </a:defRPr>
            </a:pPr>
            <a:r>
              <a:t>第一节 欧美国家的反垄断法</a:t>
            </a:r>
          </a:p>
        </p:txBody>
      </p:sp>
      <p:sp>
        <p:nvSpPr>
          <p:cNvPr id="5" name="TextBox 4"/>
          <p:cNvSpPr txBox="1"/>
          <p:nvPr/>
        </p:nvSpPr>
        <p:spPr>
          <a:xfrm>
            <a:off x="457200" y="502920"/>
            <a:ext cx="10515600" cy="548640"/>
          </a:xfrm>
          <a:prstGeom prst="rect">
            <a:avLst/>
          </a:prstGeom>
          <a:noFill/>
        </p:spPr>
        <p:txBody>
          <a:bodyPr wrap="square">
            <a:spAutoFit/>
          </a:bodyPr>
          <a:lstStyle/>
          <a:p>
            <a:pPr>
              <a:defRPr sz="2600" b="1">
                <a:solidFill>
                  <a:srgbClr val="1B3A5C"/>
                </a:solidFill>
                <a:latin typeface="Microsoft YaHei"/>
              </a:defRPr>
            </a:pPr>
            <a:r>
              <a:t>价格歧视规制：《罗宾逊-帕特曼法》</a:t>
            </a:r>
          </a:p>
        </p:txBody>
      </p:sp>
      <p:sp>
        <p:nvSpPr>
          <p:cNvPr id="6" name="Rectangle 5"/>
          <p:cNvSpPr/>
          <p:nvPr/>
        </p:nvSpPr>
        <p:spPr>
          <a:xfrm>
            <a:off x="457200" y="1078992"/>
            <a:ext cx="1097280" cy="3657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a:spAutoFit/>
          </a:bodyPr>
          <a:lstStyle/>
          <a:p>
            <a:pPr>
              <a:defRPr sz="1000">
                <a:solidFill>
                  <a:srgbClr val="6B6B6B"/>
                </a:solidFill>
                <a:latin typeface="Microsoft YaHei"/>
              </a:defRPr>
            </a:pPr>
            <a:r>
              <a:t>产业经济学 · 刘志彪（第3版）</a:t>
            </a:r>
          </a:p>
        </p:txBody>
      </p:sp>
      <p:sp>
        <p:nvSpPr>
          <p:cNvPr id="8" name="TextBox 7"/>
          <p:cNvSpPr txBox="1"/>
          <p:nvPr/>
        </p:nvSpPr>
        <p:spPr>
          <a:xfrm>
            <a:off x="11155680" y="6400800"/>
            <a:ext cx="731520" cy="320040"/>
          </a:xfrm>
          <a:prstGeom prst="rect">
            <a:avLst/>
          </a:prstGeom>
          <a:noFill/>
        </p:spPr>
        <p:txBody>
          <a:bodyPr wrap="none">
            <a:spAutoFit/>
          </a:bodyPr>
          <a:lstStyle/>
          <a:p>
            <a:pPr algn="r">
              <a:defRPr sz="1100">
                <a:solidFill>
                  <a:srgbClr val="6B6B6B"/>
                </a:solidFill>
                <a:latin typeface="Microsoft YaHei"/>
              </a:defRPr>
            </a:pPr>
            <a:r>
              <a:t>14</a:t>
            </a:r>
          </a:p>
        </p:txBody>
      </p:sp>
      <p:sp>
        <p:nvSpPr>
          <p:cNvPr id="9" name="Rectangle 8"/>
          <p:cNvSpPr/>
          <p:nvPr/>
        </p:nvSpPr>
        <p:spPr>
          <a:xfrm>
            <a:off x="45720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8640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399032"/>
            <a:ext cx="5120640" cy="365760"/>
          </a:xfrm>
          <a:prstGeom prst="rect">
            <a:avLst/>
          </a:prstGeom>
          <a:noFill/>
        </p:spPr>
        <p:txBody>
          <a:bodyPr wrap="none">
            <a:spAutoFit/>
          </a:bodyPr>
          <a:lstStyle/>
          <a:p>
            <a:pPr>
              <a:defRPr sz="1600" b="1">
                <a:solidFill>
                  <a:srgbClr val="FFFFFF"/>
                </a:solidFill>
                <a:latin typeface="Microsoft YaHei"/>
              </a:defRPr>
            </a:pPr>
            <a:r>
              <a:t>法案背景与立法目的</a:t>
            </a:r>
          </a:p>
        </p:txBody>
      </p:sp>
      <p:sp>
        <p:nvSpPr>
          <p:cNvPr id="12" name="TextBox 11"/>
          <p:cNvSpPr txBox="1"/>
          <p:nvPr/>
        </p:nvSpPr>
        <p:spPr>
          <a:xfrm>
            <a:off x="64008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1936年修正《克莱顿法》第二条，又称《连锁店法案》。</a:t>
            </a:r>
          </a:p>
          <a:p>
            <a:pPr>
              <a:spcAft>
                <a:spcPts val="600"/>
              </a:spcAft>
              <a:defRPr sz="1300">
                <a:solidFill>
                  <a:srgbClr val="2C2C2C"/>
                </a:solidFill>
                <a:latin typeface="Microsoft YaHei"/>
              </a:defRPr>
            </a:pPr>
            <a:r>
              <a:t>· 立法初衷：大连锁店利用庞大采购影响力迫使厂商给予优惠，压垮小零售商。</a:t>
            </a:r>
          </a:p>
          <a:p>
            <a:pPr>
              <a:spcAft>
                <a:spcPts val="600"/>
              </a:spcAft>
              <a:defRPr sz="1300">
                <a:solidFill>
                  <a:srgbClr val="2C2C2C"/>
                </a:solidFill>
                <a:latin typeface="Microsoft YaHei"/>
              </a:defRPr>
            </a:pPr>
            <a:r>
              <a:t>· 保护目标：保护小经销商免受大型企业价格歧视，维持零售市场竞争。</a:t>
            </a:r>
          </a:p>
        </p:txBody>
      </p:sp>
      <p:sp>
        <p:nvSpPr>
          <p:cNvPr id="13" name="Rectangle 12"/>
          <p:cNvSpPr/>
          <p:nvPr/>
        </p:nvSpPr>
        <p:spPr>
          <a:xfrm>
            <a:off x="621792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325880"/>
            <a:ext cx="548640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399032"/>
            <a:ext cx="5120640" cy="365760"/>
          </a:xfrm>
          <a:prstGeom prst="rect">
            <a:avLst/>
          </a:prstGeom>
          <a:noFill/>
        </p:spPr>
        <p:txBody>
          <a:bodyPr wrap="none">
            <a:spAutoFit/>
          </a:bodyPr>
          <a:lstStyle/>
          <a:p>
            <a:pPr>
              <a:defRPr sz="1600" b="1">
                <a:solidFill>
                  <a:srgbClr val="FFFFFF"/>
                </a:solidFill>
                <a:latin typeface="Microsoft YaHei"/>
              </a:defRPr>
            </a:pPr>
            <a:r>
              <a:t>违法构成四要件</a:t>
            </a:r>
          </a:p>
        </p:txBody>
      </p:sp>
      <p:sp>
        <p:nvSpPr>
          <p:cNvPr id="16" name="TextBox 15"/>
          <p:cNvSpPr txBox="1"/>
          <p:nvPr/>
        </p:nvSpPr>
        <p:spPr>
          <a:xfrm>
            <a:off x="640080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1. 商业要件：至少一项交易涉及州际贸易；</a:t>
            </a:r>
          </a:p>
          <a:p>
            <a:pPr>
              <a:spcAft>
                <a:spcPts val="600"/>
              </a:spcAft>
              <a:defRPr sz="1300">
                <a:solidFill>
                  <a:srgbClr val="2C2C2C"/>
                </a:solidFill>
                <a:latin typeface="Microsoft YaHei"/>
              </a:defRPr>
            </a:pPr>
            <a:r>
              <a:t>2. 歧视行为：对不同买家实行差别价格；</a:t>
            </a:r>
          </a:p>
          <a:p>
            <a:pPr>
              <a:spcAft>
                <a:spcPts val="600"/>
              </a:spcAft>
              <a:defRPr sz="1300">
                <a:solidFill>
                  <a:srgbClr val="2C2C2C"/>
                </a:solidFill>
                <a:latin typeface="Microsoft YaHei"/>
              </a:defRPr>
            </a:pPr>
            <a:r>
              <a:t>3. 产品同质：所涉商品等级与质量相同；</a:t>
            </a:r>
          </a:p>
          <a:p>
            <a:pPr>
              <a:spcAft>
                <a:spcPts val="600"/>
              </a:spcAft>
              <a:defRPr sz="1300">
                <a:solidFill>
                  <a:srgbClr val="2C2C2C"/>
                </a:solidFill>
                <a:latin typeface="Microsoft YaHei"/>
              </a:defRPr>
            </a:pPr>
            <a:r>
              <a:t>4. 损害结果：损害了供货商或采购商层面的竞争。</a:t>
            </a:r>
          </a:p>
          <a:p>
            <a:pPr>
              <a:spcAft>
                <a:spcPts val="600"/>
              </a:spcAft>
              <a:defRPr sz="1300">
                <a:solidFill>
                  <a:srgbClr val="2C2C2C"/>
                </a:solidFill>
                <a:latin typeface="Microsoft YaHei"/>
              </a:defRPr>
            </a:pPr>
            <a:r>
              <a:t>· 责任追究：价格提供者与明知而接受优惠者均须担责。</a:t>
            </a:r>
          </a:p>
        </p:txBody>
      </p:sp>
      <p:sp>
        <p:nvSpPr>
          <p:cNvPr id="17" name="TextBox 16"/>
          <p:cNvSpPr txBox="1"/>
          <p:nvPr/>
        </p:nvSpPr>
        <p:spPr>
          <a:xfrm>
            <a:off x="457200" y="5897880"/>
            <a:ext cx="11274552" cy="411480"/>
          </a:xfrm>
          <a:prstGeom prst="rect">
            <a:avLst/>
          </a:prstGeom>
          <a:noFill/>
        </p:spPr>
        <p:txBody>
          <a:bodyPr wrap="square">
            <a:spAutoFit/>
          </a:bodyPr>
          <a:lstStyle/>
          <a:p>
            <a:pPr>
              <a:defRPr sz="1300" b="1">
                <a:solidFill>
                  <a:srgbClr val="2E86C1"/>
                </a:solidFill>
                <a:latin typeface="Microsoft YaHei"/>
              </a:defRPr>
            </a:pPr>
            <a:r>
              <a:t>《罗宾逊-帕特曼法》旨在防止大型零售巨头滥用买方势力破坏终端公平竞争环境。</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
            <a:ext cx="5486400" cy="320040"/>
          </a:xfrm>
          <a:prstGeom prst="rect">
            <a:avLst/>
          </a:prstGeom>
          <a:noFill/>
        </p:spPr>
        <p:txBody>
          <a:bodyPr wrap="square">
            <a:spAutoFit/>
          </a:bodyPr>
          <a:lstStyle/>
          <a:p>
            <a:pPr>
              <a:defRPr sz="1200" b="1">
                <a:solidFill>
                  <a:srgbClr val="2E86C1"/>
                </a:solidFill>
                <a:latin typeface="Microsoft YaHei"/>
              </a:defRPr>
            </a:pPr>
            <a:r>
              <a:t>第一节 欧美国家的反垄断法</a:t>
            </a:r>
          </a:p>
        </p:txBody>
      </p:sp>
      <p:sp>
        <p:nvSpPr>
          <p:cNvPr id="5" name="TextBox 4"/>
          <p:cNvSpPr txBox="1"/>
          <p:nvPr/>
        </p:nvSpPr>
        <p:spPr>
          <a:xfrm>
            <a:off x="457200" y="502920"/>
            <a:ext cx="10515600" cy="548640"/>
          </a:xfrm>
          <a:prstGeom prst="rect">
            <a:avLst/>
          </a:prstGeom>
          <a:noFill/>
        </p:spPr>
        <p:txBody>
          <a:bodyPr wrap="square">
            <a:spAutoFit/>
          </a:bodyPr>
          <a:lstStyle/>
          <a:p>
            <a:pPr>
              <a:defRPr sz="2600" b="1">
                <a:solidFill>
                  <a:srgbClr val="1B3A5C"/>
                </a:solidFill>
                <a:latin typeface="Microsoft YaHei"/>
              </a:defRPr>
            </a:pPr>
            <a:r>
              <a:t>欧洲竞争政策的体系与历史演化</a:t>
            </a:r>
          </a:p>
        </p:txBody>
      </p:sp>
      <p:sp>
        <p:nvSpPr>
          <p:cNvPr id="6" name="Rectangle 5"/>
          <p:cNvSpPr/>
          <p:nvPr/>
        </p:nvSpPr>
        <p:spPr>
          <a:xfrm>
            <a:off x="457200" y="1078992"/>
            <a:ext cx="1097280" cy="3657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a:spAutoFit/>
          </a:bodyPr>
          <a:lstStyle/>
          <a:p>
            <a:pPr>
              <a:defRPr sz="1000">
                <a:solidFill>
                  <a:srgbClr val="6B6B6B"/>
                </a:solidFill>
                <a:latin typeface="Microsoft YaHei"/>
              </a:defRPr>
            </a:pPr>
            <a:r>
              <a:t>产业经济学 · 刘志彪（第3版）</a:t>
            </a:r>
          </a:p>
        </p:txBody>
      </p:sp>
      <p:sp>
        <p:nvSpPr>
          <p:cNvPr id="8" name="TextBox 7"/>
          <p:cNvSpPr txBox="1"/>
          <p:nvPr/>
        </p:nvSpPr>
        <p:spPr>
          <a:xfrm>
            <a:off x="11155680" y="6400800"/>
            <a:ext cx="731520" cy="320040"/>
          </a:xfrm>
          <a:prstGeom prst="rect">
            <a:avLst/>
          </a:prstGeom>
          <a:noFill/>
        </p:spPr>
        <p:txBody>
          <a:bodyPr wrap="none">
            <a:spAutoFit/>
          </a:bodyPr>
          <a:lstStyle/>
          <a:p>
            <a:pPr algn="r">
              <a:defRPr sz="1100">
                <a:solidFill>
                  <a:srgbClr val="6B6B6B"/>
                </a:solidFill>
                <a:latin typeface="Microsoft YaHei"/>
              </a:defRPr>
            </a:pPr>
            <a:r>
              <a:t>15</a:t>
            </a:r>
          </a:p>
        </p:txBody>
      </p:sp>
      <p:sp>
        <p:nvSpPr>
          <p:cNvPr id="9" name="Rectangle 8"/>
          <p:cNvSpPr/>
          <p:nvPr/>
        </p:nvSpPr>
        <p:spPr>
          <a:xfrm>
            <a:off x="45720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8640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399032"/>
            <a:ext cx="5120640" cy="365760"/>
          </a:xfrm>
          <a:prstGeom prst="rect">
            <a:avLst/>
          </a:prstGeom>
          <a:noFill/>
        </p:spPr>
        <p:txBody>
          <a:bodyPr wrap="none">
            <a:spAutoFit/>
          </a:bodyPr>
          <a:lstStyle/>
          <a:p>
            <a:pPr>
              <a:defRPr sz="1600" b="1">
                <a:solidFill>
                  <a:srgbClr val="FFFFFF"/>
                </a:solidFill>
                <a:latin typeface="Microsoft YaHei"/>
              </a:defRPr>
            </a:pPr>
            <a:r>
              <a:t>条约基石与一体化进程</a:t>
            </a:r>
          </a:p>
        </p:txBody>
      </p:sp>
      <p:sp>
        <p:nvSpPr>
          <p:cNvPr id="12" name="TextBox 11"/>
          <p:cNvSpPr txBox="1"/>
          <p:nvPr/>
        </p:nvSpPr>
        <p:spPr>
          <a:xfrm>
            <a:off x="64008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伴随欧洲一体化诞生：跨国家层面的竞争政策体系。</a:t>
            </a:r>
          </a:p>
          <a:p>
            <a:pPr>
              <a:spcAft>
                <a:spcPts val="600"/>
              </a:spcAft>
              <a:defRPr sz="1300">
                <a:solidFill>
                  <a:srgbClr val="2C2C2C"/>
                </a:solidFill>
                <a:latin typeface="Microsoft YaHei"/>
              </a:defRPr>
            </a:pPr>
            <a:r>
              <a:t>· 《巴黎条约》(1951)：煤钢共同体最早提出限制竞争与企业集中规定。</a:t>
            </a:r>
          </a:p>
          <a:p>
            <a:pPr>
              <a:spcAft>
                <a:spcPts val="600"/>
              </a:spcAft>
              <a:defRPr sz="1300">
                <a:solidFill>
                  <a:srgbClr val="2C2C2C"/>
                </a:solidFill>
                <a:latin typeface="Microsoft YaHei"/>
              </a:defRPr>
            </a:pPr>
            <a:r>
              <a:t>· 《马斯特里赫特条约》(《马约》)：奠定欧洲竞争政策核心法律基础。</a:t>
            </a:r>
          </a:p>
          <a:p>
            <a:pPr>
              <a:spcAft>
                <a:spcPts val="600"/>
              </a:spcAft>
              <a:defRPr sz="1300">
                <a:solidFill>
                  <a:srgbClr val="2C2C2C"/>
                </a:solidFill>
                <a:latin typeface="Microsoft YaHei"/>
              </a:defRPr>
            </a:pPr>
            <a:r>
              <a:t>· 核心目标：防止企业分割欧洲内部统一大市场，保障自由贸易。</a:t>
            </a:r>
          </a:p>
        </p:txBody>
      </p:sp>
      <p:sp>
        <p:nvSpPr>
          <p:cNvPr id="13" name="Rectangle 12"/>
          <p:cNvSpPr/>
          <p:nvPr/>
        </p:nvSpPr>
        <p:spPr>
          <a:xfrm>
            <a:off x="621792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325880"/>
            <a:ext cx="548640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399032"/>
            <a:ext cx="5120640" cy="365760"/>
          </a:xfrm>
          <a:prstGeom prst="rect">
            <a:avLst/>
          </a:prstGeom>
          <a:noFill/>
        </p:spPr>
        <p:txBody>
          <a:bodyPr wrap="none">
            <a:spAutoFit/>
          </a:bodyPr>
          <a:lstStyle/>
          <a:p>
            <a:pPr>
              <a:defRPr sz="1600" b="1">
                <a:solidFill>
                  <a:srgbClr val="FFFFFF"/>
                </a:solidFill>
                <a:latin typeface="Microsoft YaHei"/>
              </a:defRPr>
            </a:pPr>
            <a:r>
              <a:t>三层实施体系结构</a:t>
            </a:r>
          </a:p>
        </p:txBody>
      </p:sp>
      <p:sp>
        <p:nvSpPr>
          <p:cNvPr id="16" name="TextBox 15"/>
          <p:cNvSpPr txBox="1"/>
          <p:nvPr/>
        </p:nvSpPr>
        <p:spPr>
          <a:xfrm>
            <a:off x="640080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第一层次（基本规则）：《马约》第81条与第82条（核心原则）。</a:t>
            </a:r>
          </a:p>
          <a:p>
            <a:pPr>
              <a:spcAft>
                <a:spcPts val="600"/>
              </a:spcAft>
              <a:defRPr sz="1300">
                <a:solidFill>
                  <a:srgbClr val="2C2C2C"/>
                </a:solidFill>
                <a:latin typeface="Microsoft YaHei"/>
              </a:defRPr>
            </a:pPr>
            <a:r>
              <a:t>· 第二层次（实施细则）：欧盟理事会制定的行业及通用实施规则。</a:t>
            </a:r>
          </a:p>
          <a:p>
            <a:pPr>
              <a:spcAft>
                <a:spcPts val="600"/>
              </a:spcAft>
              <a:defRPr sz="1300">
                <a:solidFill>
                  <a:srgbClr val="2C2C2C"/>
                </a:solidFill>
                <a:latin typeface="Microsoft YaHei"/>
              </a:defRPr>
            </a:pPr>
            <a:r>
              <a:t>· 第三层次（操作指南）：欧盟委员会发布的制度、决定、命令与豁免公告。</a:t>
            </a:r>
          </a:p>
        </p:txBody>
      </p:sp>
      <p:sp>
        <p:nvSpPr>
          <p:cNvPr id="17" name="TextBox 16"/>
          <p:cNvSpPr txBox="1"/>
          <p:nvPr/>
        </p:nvSpPr>
        <p:spPr>
          <a:xfrm>
            <a:off x="457200" y="5897880"/>
            <a:ext cx="11274552" cy="411480"/>
          </a:xfrm>
          <a:prstGeom prst="rect">
            <a:avLst/>
          </a:prstGeom>
          <a:noFill/>
        </p:spPr>
        <p:txBody>
          <a:bodyPr wrap="square">
            <a:spAutoFit/>
          </a:bodyPr>
          <a:lstStyle/>
          <a:p>
            <a:pPr>
              <a:defRPr sz="1300" b="1">
                <a:solidFill>
                  <a:srgbClr val="2E86C1"/>
                </a:solidFill>
                <a:latin typeface="Microsoft YaHei"/>
              </a:defRPr>
            </a:pPr>
            <a:r>
              <a:t>欧洲竞争政策肩负着“保护竞争”与“促成欧洲统一大市场”的双重历史使命。</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
            <a:ext cx="5486400" cy="320040"/>
          </a:xfrm>
          <a:prstGeom prst="rect">
            <a:avLst/>
          </a:prstGeom>
          <a:noFill/>
        </p:spPr>
        <p:txBody>
          <a:bodyPr wrap="square">
            <a:spAutoFit/>
          </a:bodyPr>
          <a:lstStyle/>
          <a:p>
            <a:pPr>
              <a:defRPr sz="1200" b="1">
                <a:solidFill>
                  <a:srgbClr val="2E86C1"/>
                </a:solidFill>
                <a:latin typeface="Microsoft YaHei"/>
              </a:defRPr>
            </a:pPr>
            <a:r>
              <a:t>第一节 欧美国家的反垄断法</a:t>
            </a:r>
          </a:p>
        </p:txBody>
      </p:sp>
      <p:sp>
        <p:nvSpPr>
          <p:cNvPr id="5" name="TextBox 4"/>
          <p:cNvSpPr txBox="1"/>
          <p:nvPr/>
        </p:nvSpPr>
        <p:spPr>
          <a:xfrm>
            <a:off x="457200" y="502920"/>
            <a:ext cx="10515600" cy="548640"/>
          </a:xfrm>
          <a:prstGeom prst="rect">
            <a:avLst/>
          </a:prstGeom>
          <a:noFill/>
        </p:spPr>
        <p:txBody>
          <a:bodyPr wrap="square">
            <a:spAutoFit/>
          </a:bodyPr>
          <a:lstStyle/>
          <a:p>
            <a:pPr>
              <a:defRPr sz="2600" b="1">
                <a:solidFill>
                  <a:srgbClr val="1B3A5C"/>
                </a:solidFill>
                <a:latin typeface="Microsoft YaHei"/>
              </a:defRPr>
            </a:pPr>
            <a:r>
              <a:t>欧洲竞争政策四大领域与核心条款</a:t>
            </a:r>
          </a:p>
        </p:txBody>
      </p:sp>
      <p:sp>
        <p:nvSpPr>
          <p:cNvPr id="6" name="Rectangle 5"/>
          <p:cNvSpPr/>
          <p:nvPr/>
        </p:nvSpPr>
        <p:spPr>
          <a:xfrm>
            <a:off x="457200" y="1078992"/>
            <a:ext cx="1097280" cy="3657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a:spAutoFit/>
          </a:bodyPr>
          <a:lstStyle/>
          <a:p>
            <a:pPr>
              <a:defRPr sz="1000">
                <a:solidFill>
                  <a:srgbClr val="6B6B6B"/>
                </a:solidFill>
                <a:latin typeface="Microsoft YaHei"/>
              </a:defRPr>
            </a:pPr>
            <a:r>
              <a:t>产业经济学 · 刘志彪（第3版）</a:t>
            </a:r>
          </a:p>
        </p:txBody>
      </p:sp>
      <p:sp>
        <p:nvSpPr>
          <p:cNvPr id="8" name="TextBox 7"/>
          <p:cNvSpPr txBox="1"/>
          <p:nvPr/>
        </p:nvSpPr>
        <p:spPr>
          <a:xfrm>
            <a:off x="11155680" y="6400800"/>
            <a:ext cx="731520" cy="320040"/>
          </a:xfrm>
          <a:prstGeom prst="rect">
            <a:avLst/>
          </a:prstGeom>
          <a:noFill/>
        </p:spPr>
        <p:txBody>
          <a:bodyPr wrap="none">
            <a:spAutoFit/>
          </a:bodyPr>
          <a:lstStyle/>
          <a:p>
            <a:pPr algn="r">
              <a:defRPr sz="1100">
                <a:solidFill>
                  <a:srgbClr val="6B6B6B"/>
                </a:solidFill>
                <a:latin typeface="Microsoft YaHei"/>
              </a:defRPr>
            </a:pPr>
            <a:r>
              <a:t>16</a:t>
            </a:r>
          </a:p>
        </p:txBody>
      </p:sp>
      <p:sp>
        <p:nvSpPr>
          <p:cNvPr id="9" name="Rectangle 8"/>
          <p:cNvSpPr/>
          <p:nvPr/>
        </p:nvSpPr>
        <p:spPr>
          <a:xfrm>
            <a:off x="45720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8640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399032"/>
            <a:ext cx="5120640" cy="365760"/>
          </a:xfrm>
          <a:prstGeom prst="rect">
            <a:avLst/>
          </a:prstGeom>
          <a:noFill/>
        </p:spPr>
        <p:txBody>
          <a:bodyPr wrap="none">
            <a:spAutoFit/>
          </a:bodyPr>
          <a:lstStyle/>
          <a:p>
            <a:pPr>
              <a:defRPr sz="1600" b="1">
                <a:solidFill>
                  <a:srgbClr val="FFFFFF"/>
                </a:solidFill>
                <a:latin typeface="Microsoft YaHei"/>
              </a:defRPr>
            </a:pPr>
            <a:r>
              <a:t>《马约》第81条：限制性措施与豁免</a:t>
            </a:r>
          </a:p>
        </p:txBody>
      </p:sp>
      <p:sp>
        <p:nvSpPr>
          <p:cNvPr id="12" name="TextBox 11"/>
          <p:cNvSpPr txBox="1"/>
          <p:nvPr/>
        </p:nvSpPr>
        <p:spPr>
          <a:xfrm>
            <a:off x="64008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禁止内容：直接/间接固定价格、限制生产/技术、划分市场、价格歧视、搭售。</a:t>
            </a:r>
          </a:p>
          <a:p>
            <a:pPr>
              <a:spcAft>
                <a:spcPts val="600"/>
              </a:spcAft>
              <a:defRPr sz="1300">
                <a:solidFill>
                  <a:srgbClr val="2C2C2C"/>
                </a:solidFill>
                <a:latin typeface="Microsoft YaHei"/>
              </a:defRPr>
            </a:pPr>
            <a:r>
              <a:t>· 豁免条件：改善生产销售/推动技术进步、消费者分享好处、限制不可避免且不严重阻碍竞争。</a:t>
            </a:r>
          </a:p>
          <a:p>
            <a:pPr>
              <a:spcAft>
                <a:spcPts val="600"/>
              </a:spcAft>
              <a:defRPr sz="1300">
                <a:solidFill>
                  <a:srgbClr val="2C2C2C"/>
                </a:solidFill>
                <a:latin typeface="Microsoft YaHei"/>
              </a:defRPr>
            </a:pPr>
            <a:r>
              <a:t>· 宽容公告：对市场份额&lt;5%且销售额&lt;2亿欧元的微小卡特尔予以一揽子豁免。</a:t>
            </a:r>
          </a:p>
        </p:txBody>
      </p:sp>
      <p:sp>
        <p:nvSpPr>
          <p:cNvPr id="13" name="Rectangle 12"/>
          <p:cNvSpPr/>
          <p:nvPr/>
        </p:nvSpPr>
        <p:spPr>
          <a:xfrm>
            <a:off x="621792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325880"/>
            <a:ext cx="5486400" cy="502920"/>
          </a:xfrm>
          <a:prstGeom prst="rect">
            <a:avLst/>
          </a:prstGeom>
          <a:solidFill>
            <a:srgbClr val="C84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399032"/>
            <a:ext cx="5120640" cy="365760"/>
          </a:xfrm>
          <a:prstGeom prst="rect">
            <a:avLst/>
          </a:prstGeom>
          <a:noFill/>
        </p:spPr>
        <p:txBody>
          <a:bodyPr wrap="none">
            <a:spAutoFit/>
          </a:bodyPr>
          <a:lstStyle/>
          <a:p>
            <a:pPr>
              <a:defRPr sz="1600" b="1">
                <a:solidFill>
                  <a:srgbClr val="FFFFFF"/>
                </a:solidFill>
                <a:latin typeface="Microsoft YaHei"/>
              </a:defRPr>
            </a:pPr>
            <a:r>
              <a:t>《马约》第82条：滥用市场支配地位</a:t>
            </a:r>
          </a:p>
        </p:txBody>
      </p:sp>
      <p:sp>
        <p:nvSpPr>
          <p:cNvPr id="16" name="TextBox 15"/>
          <p:cNvSpPr txBox="1"/>
          <p:nvPr/>
        </p:nvSpPr>
        <p:spPr>
          <a:xfrm>
            <a:off x="640080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认定标准：通常认为市场份额超 40% 可推定具有支配地位。</a:t>
            </a:r>
          </a:p>
          <a:p>
            <a:pPr>
              <a:spcAft>
                <a:spcPts val="600"/>
              </a:spcAft>
              <a:defRPr sz="1300">
                <a:solidFill>
                  <a:srgbClr val="2C2C2C"/>
                </a:solidFill>
                <a:latin typeface="Microsoft YaHei"/>
              </a:defRPr>
            </a:pPr>
            <a:r>
              <a:t>· 两类滥用行为：</a:t>
            </a:r>
          </a:p>
          <a:p>
            <a:pPr>
              <a:spcAft>
                <a:spcPts val="600"/>
              </a:spcAft>
              <a:defRPr sz="1300">
                <a:solidFill>
                  <a:srgbClr val="2C2C2C"/>
                </a:solidFill>
                <a:latin typeface="Microsoft YaHei"/>
              </a:defRPr>
            </a:pPr>
            <a:r>
              <a:t>  1. 剥削性滥用：向交易相对人提出不合理高价或苛刻条件；</a:t>
            </a:r>
          </a:p>
          <a:p>
            <a:pPr>
              <a:spcAft>
                <a:spcPts val="600"/>
              </a:spcAft>
              <a:defRPr sz="1300">
                <a:solidFill>
                  <a:srgbClr val="2C2C2C"/>
                </a:solidFill>
                <a:latin typeface="Microsoft YaHei"/>
              </a:defRPr>
            </a:pPr>
            <a:r>
              <a:t>  2. 妨碍性滥用：排挤竞争对手，将势力非法扩张至相邻市场。</a:t>
            </a:r>
          </a:p>
        </p:txBody>
      </p:sp>
      <p:sp>
        <p:nvSpPr>
          <p:cNvPr id="17" name="TextBox 16"/>
          <p:cNvSpPr txBox="1"/>
          <p:nvPr/>
        </p:nvSpPr>
        <p:spPr>
          <a:xfrm>
            <a:off x="457200" y="5897880"/>
            <a:ext cx="11274552" cy="411480"/>
          </a:xfrm>
          <a:prstGeom prst="rect">
            <a:avLst/>
          </a:prstGeom>
          <a:noFill/>
        </p:spPr>
        <p:txBody>
          <a:bodyPr wrap="square">
            <a:spAutoFit/>
          </a:bodyPr>
          <a:lstStyle/>
          <a:p>
            <a:pPr>
              <a:defRPr sz="1300" b="1">
                <a:solidFill>
                  <a:srgbClr val="C84B1B"/>
                </a:solidFill>
                <a:latin typeface="Microsoft YaHei"/>
              </a:defRPr>
            </a:pPr>
            <a:r>
              <a:t>欧盟第81条设下了严厉禁令但保留效率豁免，第82条严格规制剥削性与妨碍性垄断滥用。</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
            <a:ext cx="5486400" cy="320040"/>
          </a:xfrm>
          <a:prstGeom prst="rect">
            <a:avLst/>
          </a:prstGeom>
          <a:noFill/>
        </p:spPr>
        <p:txBody>
          <a:bodyPr wrap="square">
            <a:spAutoFit/>
          </a:bodyPr>
          <a:lstStyle/>
          <a:p>
            <a:pPr>
              <a:defRPr sz="1200" b="1">
                <a:solidFill>
                  <a:srgbClr val="2E86C1"/>
                </a:solidFill>
                <a:latin typeface="Microsoft YaHei"/>
              </a:defRPr>
            </a:pPr>
            <a:r>
              <a:t>第一节 欧美国家的反垄断法</a:t>
            </a:r>
          </a:p>
        </p:txBody>
      </p:sp>
      <p:sp>
        <p:nvSpPr>
          <p:cNvPr id="5" name="TextBox 4"/>
          <p:cNvSpPr txBox="1"/>
          <p:nvPr/>
        </p:nvSpPr>
        <p:spPr>
          <a:xfrm>
            <a:off x="457200" y="502920"/>
            <a:ext cx="10515600" cy="548640"/>
          </a:xfrm>
          <a:prstGeom prst="rect">
            <a:avLst/>
          </a:prstGeom>
          <a:noFill/>
        </p:spPr>
        <p:txBody>
          <a:bodyPr wrap="square">
            <a:spAutoFit/>
          </a:bodyPr>
          <a:lstStyle/>
          <a:p>
            <a:pPr>
              <a:defRPr sz="2600" b="1">
                <a:solidFill>
                  <a:srgbClr val="1B3A5C"/>
                </a:solidFill>
                <a:latin typeface="Microsoft YaHei"/>
              </a:defRPr>
            </a:pPr>
            <a:r>
              <a:t>欧洲国家援助控制与合并规则</a:t>
            </a:r>
          </a:p>
        </p:txBody>
      </p:sp>
      <p:sp>
        <p:nvSpPr>
          <p:cNvPr id="6" name="Rectangle 5"/>
          <p:cNvSpPr/>
          <p:nvPr/>
        </p:nvSpPr>
        <p:spPr>
          <a:xfrm>
            <a:off x="457200" y="1078992"/>
            <a:ext cx="1097280" cy="3657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a:spAutoFit/>
          </a:bodyPr>
          <a:lstStyle/>
          <a:p>
            <a:pPr>
              <a:defRPr sz="1000">
                <a:solidFill>
                  <a:srgbClr val="6B6B6B"/>
                </a:solidFill>
                <a:latin typeface="Microsoft YaHei"/>
              </a:defRPr>
            </a:pPr>
            <a:r>
              <a:t>产业经济学 · 刘志彪（第3版）</a:t>
            </a:r>
          </a:p>
        </p:txBody>
      </p:sp>
      <p:sp>
        <p:nvSpPr>
          <p:cNvPr id="8" name="TextBox 7"/>
          <p:cNvSpPr txBox="1"/>
          <p:nvPr/>
        </p:nvSpPr>
        <p:spPr>
          <a:xfrm>
            <a:off x="11155680" y="6400800"/>
            <a:ext cx="731520" cy="320040"/>
          </a:xfrm>
          <a:prstGeom prst="rect">
            <a:avLst/>
          </a:prstGeom>
          <a:noFill/>
        </p:spPr>
        <p:txBody>
          <a:bodyPr wrap="none">
            <a:spAutoFit/>
          </a:bodyPr>
          <a:lstStyle/>
          <a:p>
            <a:pPr algn="r">
              <a:defRPr sz="1100">
                <a:solidFill>
                  <a:srgbClr val="6B6B6B"/>
                </a:solidFill>
                <a:latin typeface="Microsoft YaHei"/>
              </a:defRPr>
            </a:pPr>
            <a:r>
              <a:t>17</a:t>
            </a:r>
          </a:p>
        </p:txBody>
      </p:sp>
      <p:sp>
        <p:nvSpPr>
          <p:cNvPr id="9" name="Rectangle 8"/>
          <p:cNvSpPr/>
          <p:nvPr/>
        </p:nvSpPr>
        <p:spPr>
          <a:xfrm>
            <a:off x="45720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86400" cy="502920"/>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399032"/>
            <a:ext cx="5120640" cy="365760"/>
          </a:xfrm>
          <a:prstGeom prst="rect">
            <a:avLst/>
          </a:prstGeom>
          <a:noFill/>
        </p:spPr>
        <p:txBody>
          <a:bodyPr wrap="none">
            <a:spAutoFit/>
          </a:bodyPr>
          <a:lstStyle/>
          <a:p>
            <a:pPr>
              <a:defRPr sz="1600" b="1">
                <a:solidFill>
                  <a:srgbClr val="FFFFFF"/>
                </a:solidFill>
                <a:latin typeface="Microsoft YaHei"/>
              </a:defRPr>
            </a:pPr>
            <a:r>
              <a:t>国家援助 (State Aid) 控制</a:t>
            </a:r>
          </a:p>
        </p:txBody>
      </p:sp>
      <p:sp>
        <p:nvSpPr>
          <p:cNvPr id="12" name="TextBox 11"/>
          <p:cNvSpPr txBox="1"/>
          <p:nvPr/>
        </p:nvSpPr>
        <p:spPr>
          <a:xfrm>
            <a:off x="64008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核心原则：禁止损害共同体内部竞争与贸易的政府补贴与援助。</a:t>
            </a:r>
          </a:p>
          <a:p>
            <a:pPr>
              <a:spcAft>
                <a:spcPts val="600"/>
              </a:spcAft>
              <a:defRPr sz="1300">
                <a:solidFill>
                  <a:srgbClr val="2C2C2C"/>
                </a:solidFill>
                <a:latin typeface="Microsoft YaHei"/>
              </a:defRPr>
            </a:pPr>
            <a:r>
              <a:t>· 允许范畴：地区援助、研发援助、中小企业援助、环保/就业援助、困境企业重组。</a:t>
            </a:r>
          </a:p>
          <a:p>
            <a:pPr>
              <a:spcAft>
                <a:spcPts val="600"/>
              </a:spcAft>
              <a:defRPr sz="1300">
                <a:solidFill>
                  <a:srgbClr val="2C2C2C"/>
                </a:solidFill>
                <a:latin typeface="Microsoft YaHei"/>
              </a:defRPr>
            </a:pPr>
            <a:r>
              <a:t>· 独特性：欧盟竞争政策不仅规制企业，同时严格规制政府行政干预行为。</a:t>
            </a:r>
          </a:p>
        </p:txBody>
      </p:sp>
      <p:sp>
        <p:nvSpPr>
          <p:cNvPr id="13" name="Rectangle 12"/>
          <p:cNvSpPr/>
          <p:nvPr/>
        </p:nvSpPr>
        <p:spPr>
          <a:xfrm>
            <a:off x="621792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325880"/>
            <a:ext cx="548640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399032"/>
            <a:ext cx="5120640" cy="365760"/>
          </a:xfrm>
          <a:prstGeom prst="rect">
            <a:avLst/>
          </a:prstGeom>
          <a:noFill/>
        </p:spPr>
        <p:txBody>
          <a:bodyPr wrap="none">
            <a:spAutoFit/>
          </a:bodyPr>
          <a:lstStyle/>
          <a:p>
            <a:pPr>
              <a:defRPr sz="1600" b="1">
                <a:solidFill>
                  <a:srgbClr val="FFFFFF"/>
                </a:solidFill>
                <a:latin typeface="Microsoft YaHei"/>
              </a:defRPr>
            </a:pPr>
            <a:r>
              <a:t>企业合并 (Merger Control) 规则</a:t>
            </a:r>
          </a:p>
        </p:txBody>
      </p:sp>
      <p:sp>
        <p:nvSpPr>
          <p:cNvPr id="16" name="TextBox 15"/>
          <p:cNvSpPr txBox="1"/>
          <p:nvPr/>
        </p:nvSpPr>
        <p:spPr>
          <a:xfrm>
            <a:off x="640080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门槛标准：全球总销售额&gt;25亿欧元，或跨3个成员国销售额超标。</a:t>
            </a:r>
          </a:p>
          <a:p>
            <a:pPr>
              <a:spcAft>
                <a:spcPts val="600"/>
              </a:spcAft>
              <a:defRPr sz="1300">
                <a:solidFill>
                  <a:srgbClr val="2C2C2C"/>
                </a:solidFill>
                <a:latin typeface="Microsoft YaHei"/>
              </a:defRPr>
            </a:pPr>
            <a:r>
              <a:t>· 《综合合并控制改革方案》(2002)：重大改革，明确准许以促进效率为目的的企业合并。</a:t>
            </a:r>
          </a:p>
          <a:p>
            <a:pPr>
              <a:spcAft>
                <a:spcPts val="600"/>
              </a:spcAft>
              <a:defRPr sz="1300">
                <a:solidFill>
                  <a:srgbClr val="2C2C2C"/>
                </a:solidFill>
                <a:latin typeface="Microsoft YaHei"/>
              </a:defRPr>
            </a:pPr>
            <a:r>
              <a:t>· 兼顾效率：避免合并规则妨碍欧洲企业增强国际竞争力。</a:t>
            </a:r>
          </a:p>
        </p:txBody>
      </p:sp>
      <p:sp>
        <p:nvSpPr>
          <p:cNvPr id="17" name="TextBox 16"/>
          <p:cNvSpPr txBox="1"/>
          <p:nvPr/>
        </p:nvSpPr>
        <p:spPr>
          <a:xfrm>
            <a:off x="457200" y="5897880"/>
            <a:ext cx="11274552" cy="411480"/>
          </a:xfrm>
          <a:prstGeom prst="rect">
            <a:avLst/>
          </a:prstGeom>
          <a:noFill/>
        </p:spPr>
        <p:txBody>
          <a:bodyPr wrap="square">
            <a:spAutoFit/>
          </a:bodyPr>
          <a:lstStyle/>
          <a:p>
            <a:pPr>
              <a:defRPr sz="1300" b="1">
                <a:solidFill>
                  <a:srgbClr val="1A8C5D"/>
                </a:solidFill>
                <a:latin typeface="Microsoft YaHei"/>
              </a:defRPr>
            </a:pPr>
            <a:r>
              <a:t>严格控制国家援助是欧盟竞争政策区别于美国反托拉斯法的最显著特色之一。</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
            <a:ext cx="5486400" cy="320040"/>
          </a:xfrm>
          <a:prstGeom prst="rect">
            <a:avLst/>
          </a:prstGeom>
          <a:noFill/>
        </p:spPr>
        <p:txBody>
          <a:bodyPr wrap="square">
            <a:spAutoFit/>
          </a:bodyPr>
          <a:lstStyle/>
          <a:p>
            <a:pPr>
              <a:defRPr sz="1200" b="1">
                <a:solidFill>
                  <a:srgbClr val="2E86C1"/>
                </a:solidFill>
                <a:latin typeface="Microsoft YaHei"/>
              </a:defRPr>
            </a:pPr>
            <a:r>
              <a:t>第一节 欧美国家的反垄断法</a:t>
            </a:r>
          </a:p>
        </p:txBody>
      </p:sp>
      <p:sp>
        <p:nvSpPr>
          <p:cNvPr id="5" name="TextBox 4"/>
          <p:cNvSpPr txBox="1"/>
          <p:nvPr/>
        </p:nvSpPr>
        <p:spPr>
          <a:xfrm>
            <a:off x="457200" y="502920"/>
            <a:ext cx="10515600" cy="548640"/>
          </a:xfrm>
          <a:prstGeom prst="rect">
            <a:avLst/>
          </a:prstGeom>
          <a:noFill/>
        </p:spPr>
        <p:txBody>
          <a:bodyPr wrap="square">
            <a:spAutoFit/>
          </a:bodyPr>
          <a:lstStyle/>
          <a:p>
            <a:pPr>
              <a:defRPr sz="2600" b="1">
                <a:solidFill>
                  <a:srgbClr val="1B3A5C"/>
                </a:solidFill>
                <a:latin typeface="Microsoft YaHei"/>
              </a:defRPr>
            </a:pPr>
            <a:r>
              <a:t>美垄断与欧竞争政策：模式对比与启示</a:t>
            </a:r>
          </a:p>
        </p:txBody>
      </p:sp>
      <p:sp>
        <p:nvSpPr>
          <p:cNvPr id="6" name="Rectangle 5"/>
          <p:cNvSpPr/>
          <p:nvPr/>
        </p:nvSpPr>
        <p:spPr>
          <a:xfrm>
            <a:off x="457200" y="1078992"/>
            <a:ext cx="1097280" cy="3657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a:spAutoFit/>
          </a:bodyPr>
          <a:lstStyle/>
          <a:p>
            <a:pPr>
              <a:defRPr sz="1000">
                <a:solidFill>
                  <a:srgbClr val="6B6B6B"/>
                </a:solidFill>
                <a:latin typeface="Microsoft YaHei"/>
              </a:defRPr>
            </a:pPr>
            <a:r>
              <a:t>产业经济学 · 刘志彪（第3版）</a:t>
            </a:r>
          </a:p>
        </p:txBody>
      </p:sp>
      <p:sp>
        <p:nvSpPr>
          <p:cNvPr id="8" name="TextBox 7"/>
          <p:cNvSpPr txBox="1"/>
          <p:nvPr/>
        </p:nvSpPr>
        <p:spPr>
          <a:xfrm>
            <a:off x="11155680" y="6400800"/>
            <a:ext cx="731520" cy="320040"/>
          </a:xfrm>
          <a:prstGeom prst="rect">
            <a:avLst/>
          </a:prstGeom>
          <a:noFill/>
        </p:spPr>
        <p:txBody>
          <a:bodyPr wrap="none">
            <a:spAutoFit/>
          </a:bodyPr>
          <a:lstStyle/>
          <a:p>
            <a:pPr algn="r">
              <a:defRPr sz="1100">
                <a:solidFill>
                  <a:srgbClr val="6B6B6B"/>
                </a:solidFill>
                <a:latin typeface="Microsoft YaHei"/>
              </a:defRPr>
            </a:pPr>
            <a:r>
              <a:t>18</a:t>
            </a:r>
          </a:p>
        </p:txBody>
      </p:sp>
      <p:sp>
        <p:nvSpPr>
          <p:cNvPr id="9" name="Rectangle 8"/>
          <p:cNvSpPr/>
          <p:nvPr/>
        </p:nvSpPr>
        <p:spPr>
          <a:xfrm>
            <a:off x="45720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8640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399032"/>
            <a:ext cx="5120640" cy="365760"/>
          </a:xfrm>
          <a:prstGeom prst="rect">
            <a:avLst/>
          </a:prstGeom>
          <a:noFill/>
        </p:spPr>
        <p:txBody>
          <a:bodyPr wrap="none">
            <a:spAutoFit/>
          </a:bodyPr>
          <a:lstStyle/>
          <a:p>
            <a:pPr>
              <a:defRPr sz="1600" b="1">
                <a:solidFill>
                  <a:srgbClr val="FFFFFF"/>
                </a:solidFill>
                <a:latin typeface="Microsoft YaHei"/>
              </a:defRPr>
            </a:pPr>
            <a:r>
              <a:t>美国司法主导模式 (Antitrust)</a:t>
            </a:r>
          </a:p>
        </p:txBody>
      </p:sp>
      <p:sp>
        <p:nvSpPr>
          <p:cNvPr id="12" name="TextBox 11"/>
          <p:cNvSpPr txBox="1"/>
          <p:nvPr/>
        </p:nvSpPr>
        <p:spPr>
          <a:xfrm>
            <a:off x="64008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法律基石：通用普通法判例体系（ Sherman/Clayton 案）。</a:t>
            </a:r>
          </a:p>
          <a:p>
            <a:pPr>
              <a:spcAft>
                <a:spcPts val="600"/>
              </a:spcAft>
              <a:defRPr sz="1300">
                <a:solidFill>
                  <a:srgbClr val="2C2C2C"/>
                </a:solidFill>
                <a:latin typeface="Microsoft YaHei"/>
              </a:defRPr>
            </a:pPr>
            <a:r>
              <a:t>· 执法机制：DOJ/FTC 提起司法诉讼，法官判决。</a:t>
            </a:r>
          </a:p>
          <a:p>
            <a:pPr>
              <a:spcAft>
                <a:spcPts val="600"/>
              </a:spcAft>
              <a:defRPr sz="1300">
                <a:solidFill>
                  <a:srgbClr val="2C2C2C"/>
                </a:solidFill>
                <a:latin typeface="Microsoft YaHei"/>
              </a:defRPr>
            </a:pPr>
            <a:r>
              <a:t>· 核心目标：保护竞争过程，提升经济效率与消费者福利。</a:t>
            </a:r>
          </a:p>
          <a:p>
            <a:pPr>
              <a:spcAft>
                <a:spcPts val="600"/>
              </a:spcAft>
              <a:defRPr sz="1300">
                <a:solidFill>
                  <a:srgbClr val="2C2C2C"/>
                </a:solidFill>
                <a:latin typeface="Microsoft YaHei"/>
              </a:defRPr>
            </a:pPr>
            <a:r>
              <a:t>· 态度：对企业规模本身高度容忍，关注是否损害效率。</a:t>
            </a:r>
          </a:p>
        </p:txBody>
      </p:sp>
      <p:sp>
        <p:nvSpPr>
          <p:cNvPr id="13" name="Rectangle 12"/>
          <p:cNvSpPr/>
          <p:nvPr/>
        </p:nvSpPr>
        <p:spPr>
          <a:xfrm>
            <a:off x="621792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325880"/>
            <a:ext cx="548640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399032"/>
            <a:ext cx="5120640" cy="365760"/>
          </a:xfrm>
          <a:prstGeom prst="rect">
            <a:avLst/>
          </a:prstGeom>
          <a:noFill/>
        </p:spPr>
        <p:txBody>
          <a:bodyPr wrap="none">
            <a:spAutoFit/>
          </a:bodyPr>
          <a:lstStyle/>
          <a:p>
            <a:pPr>
              <a:defRPr sz="1600" b="1">
                <a:solidFill>
                  <a:srgbClr val="FFFFFF"/>
                </a:solidFill>
                <a:latin typeface="Microsoft YaHei"/>
              </a:defRPr>
            </a:pPr>
            <a:r>
              <a:t>欧盟行政监管模式 (Competition Policy)</a:t>
            </a:r>
          </a:p>
        </p:txBody>
      </p:sp>
      <p:sp>
        <p:nvSpPr>
          <p:cNvPr id="16" name="TextBox 15"/>
          <p:cNvSpPr txBox="1"/>
          <p:nvPr/>
        </p:nvSpPr>
        <p:spPr>
          <a:xfrm>
            <a:off x="640080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法律基石：成文条约与行政规章（《马约》第81/82条）。</a:t>
            </a:r>
          </a:p>
          <a:p>
            <a:pPr>
              <a:spcAft>
                <a:spcPts val="600"/>
              </a:spcAft>
              <a:defRPr sz="1300">
                <a:solidFill>
                  <a:srgbClr val="2C2C2C"/>
                </a:solidFill>
                <a:latin typeface="Microsoft YaHei"/>
              </a:defRPr>
            </a:pPr>
            <a:r>
              <a:t>· 执法机制：欧盟委员会（EC）超国家行政调查与裁决。</a:t>
            </a:r>
          </a:p>
          <a:p>
            <a:pPr>
              <a:spcAft>
                <a:spcPts val="600"/>
              </a:spcAft>
              <a:defRPr sz="1300">
                <a:solidFill>
                  <a:srgbClr val="2C2C2C"/>
                </a:solidFill>
                <a:latin typeface="Microsoft YaHei"/>
              </a:defRPr>
            </a:pPr>
            <a:r>
              <a:t>· 核心目标：促成欧洲单一市场一体化，保护市场结构与中小企业。</a:t>
            </a:r>
          </a:p>
          <a:p>
            <a:pPr>
              <a:spcAft>
                <a:spcPts val="600"/>
              </a:spcAft>
              <a:defRPr sz="1300">
                <a:solidFill>
                  <a:srgbClr val="2C2C2C"/>
                </a:solidFill>
                <a:latin typeface="Microsoft YaHei"/>
              </a:defRPr>
            </a:pPr>
            <a:r>
              <a:t>· 态度：对大企业支配地位极为警惕，规制国家援助。</a:t>
            </a:r>
          </a:p>
        </p:txBody>
      </p:sp>
      <p:sp>
        <p:nvSpPr>
          <p:cNvPr id="17" name="TextBox 16"/>
          <p:cNvSpPr txBox="1"/>
          <p:nvPr/>
        </p:nvSpPr>
        <p:spPr>
          <a:xfrm>
            <a:off x="457200" y="5897880"/>
            <a:ext cx="11274552" cy="411480"/>
          </a:xfrm>
          <a:prstGeom prst="rect">
            <a:avLst/>
          </a:prstGeom>
          <a:noFill/>
        </p:spPr>
        <p:txBody>
          <a:bodyPr wrap="square">
            <a:spAutoFit/>
          </a:bodyPr>
          <a:lstStyle/>
          <a:p>
            <a:pPr>
              <a:defRPr sz="1300" b="1">
                <a:solidFill>
                  <a:srgbClr val="1B3A5C"/>
                </a:solidFill>
                <a:latin typeface="Microsoft YaHei"/>
              </a:defRPr>
            </a:pPr>
            <a:r>
              <a:t>美欧两国因历史背景与市场结构差异，形成了“司法判例 vs 行政规制”两大经典模式。</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B3A5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103120"/>
            <a:ext cx="4572000" cy="731520"/>
          </a:xfrm>
          <a:prstGeom prst="rect">
            <a:avLst/>
          </a:prstGeom>
          <a:noFill/>
        </p:spPr>
        <p:txBody>
          <a:bodyPr wrap="none">
            <a:spAutoFit/>
          </a:bodyPr>
          <a:lstStyle/>
          <a:p>
            <a:pPr>
              <a:defRPr sz="2800" b="1">
                <a:solidFill>
                  <a:srgbClr val="D6EAF8"/>
                </a:solidFill>
                <a:latin typeface="Microsoft YaHei"/>
              </a:defRPr>
            </a:pPr>
            <a:r>
              <a:t>第二节</a:t>
            </a:r>
          </a:p>
        </p:txBody>
      </p:sp>
      <p:sp>
        <p:nvSpPr>
          <p:cNvPr id="4" name="TextBox 3"/>
          <p:cNvSpPr txBox="1"/>
          <p:nvPr/>
        </p:nvSpPr>
        <p:spPr>
          <a:xfrm>
            <a:off x="914400" y="2834640"/>
            <a:ext cx="10058400" cy="1097280"/>
          </a:xfrm>
          <a:prstGeom prst="rect">
            <a:avLst/>
          </a:prstGeom>
          <a:noFill/>
        </p:spPr>
        <p:txBody>
          <a:bodyPr wrap="none">
            <a:spAutoFit/>
          </a:bodyPr>
          <a:lstStyle/>
          <a:p>
            <a:pPr>
              <a:defRPr sz="4400" b="1">
                <a:solidFill>
                  <a:srgbClr val="FFFFFF"/>
                </a:solidFill>
                <a:latin typeface="Microsoft YaHei"/>
              </a:defRPr>
            </a:pPr>
            <a:r>
              <a:t>我国的竞争政策</a:t>
            </a:r>
          </a:p>
        </p:txBody>
      </p:sp>
      <p:sp>
        <p:nvSpPr>
          <p:cNvPr id="5" name="TextBox 4"/>
          <p:cNvSpPr txBox="1"/>
          <p:nvPr/>
        </p:nvSpPr>
        <p:spPr>
          <a:xfrm>
            <a:off x="914400" y="4023360"/>
            <a:ext cx="10058400" cy="731520"/>
          </a:xfrm>
          <a:prstGeom prst="rect">
            <a:avLst/>
          </a:prstGeom>
          <a:noFill/>
        </p:spPr>
        <p:txBody>
          <a:bodyPr wrap="none">
            <a:spAutoFit/>
          </a:bodyPr>
          <a:lstStyle/>
          <a:p>
            <a:pPr>
              <a:defRPr sz="1800">
                <a:solidFill>
                  <a:srgbClr val="D6EAF8"/>
                </a:solidFill>
                <a:latin typeface="Microsoft YaHei"/>
              </a:defRPr>
            </a:pPr>
            <a:r>
              <a:t>竞争政策基础地位 · 产能过剩化解 · 2022修正《反垄断法》</a:t>
            </a:r>
          </a:p>
        </p:txBody>
      </p:sp>
      <p:sp>
        <p:nvSpPr>
          <p:cNvPr id="6" name="TextBox 5"/>
          <p:cNvSpPr txBox="1"/>
          <p:nvPr/>
        </p:nvSpPr>
        <p:spPr>
          <a:xfrm>
            <a:off x="914400" y="6217920"/>
            <a:ext cx="731520" cy="320040"/>
          </a:xfrm>
          <a:prstGeom prst="rect">
            <a:avLst/>
          </a:prstGeom>
          <a:noFill/>
        </p:spPr>
        <p:txBody>
          <a:bodyPr wrap="none">
            <a:spAutoFit/>
          </a:bodyPr>
          <a:lstStyle/>
          <a:p>
            <a:pPr>
              <a:defRPr sz="1100">
                <a:solidFill>
                  <a:srgbClr val="D6EAF8"/>
                </a:solidFill>
                <a:latin typeface="Microsoft YaHei"/>
              </a:defRPr>
            </a:pPr>
            <a: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
            <a:ext cx="5486400" cy="320040"/>
          </a:xfrm>
          <a:prstGeom prst="rect">
            <a:avLst/>
          </a:prstGeom>
          <a:noFill/>
        </p:spPr>
        <p:txBody>
          <a:bodyPr wrap="square">
            <a:spAutoFit/>
          </a:bodyPr>
          <a:lstStyle/>
          <a:p>
            <a:pPr>
              <a:defRPr sz="1200" b="1">
                <a:solidFill>
                  <a:srgbClr val="2E86C1"/>
                </a:solidFill>
                <a:latin typeface="Microsoft YaHei"/>
              </a:defRPr>
            </a:pPr>
            <a:r>
              <a:t>第二节 我国的竞争政策</a:t>
            </a:r>
          </a:p>
        </p:txBody>
      </p:sp>
      <p:sp>
        <p:nvSpPr>
          <p:cNvPr id="5" name="TextBox 4"/>
          <p:cNvSpPr txBox="1"/>
          <p:nvPr/>
        </p:nvSpPr>
        <p:spPr>
          <a:xfrm>
            <a:off x="457200" y="502920"/>
            <a:ext cx="10515600" cy="548640"/>
          </a:xfrm>
          <a:prstGeom prst="rect">
            <a:avLst/>
          </a:prstGeom>
          <a:noFill/>
        </p:spPr>
        <p:txBody>
          <a:bodyPr wrap="square">
            <a:spAutoFit/>
          </a:bodyPr>
          <a:lstStyle/>
          <a:p>
            <a:pPr>
              <a:defRPr sz="2600" b="1">
                <a:solidFill>
                  <a:srgbClr val="1B3A5C"/>
                </a:solidFill>
                <a:latin typeface="Microsoft YaHei"/>
              </a:defRPr>
            </a:pPr>
            <a:r>
              <a:t>经济转轨：从偏向型产业政策转向竞争政策</a:t>
            </a:r>
          </a:p>
        </p:txBody>
      </p:sp>
      <p:sp>
        <p:nvSpPr>
          <p:cNvPr id="6" name="Rectangle 5"/>
          <p:cNvSpPr/>
          <p:nvPr/>
        </p:nvSpPr>
        <p:spPr>
          <a:xfrm>
            <a:off x="457200" y="1078992"/>
            <a:ext cx="1097280" cy="3657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a:spAutoFit/>
          </a:bodyPr>
          <a:lstStyle/>
          <a:p>
            <a:pPr>
              <a:defRPr sz="1000">
                <a:solidFill>
                  <a:srgbClr val="6B6B6B"/>
                </a:solidFill>
                <a:latin typeface="Microsoft YaHei"/>
              </a:defRPr>
            </a:pPr>
            <a:r>
              <a:t>产业经济学 · 刘志彪（第3版）</a:t>
            </a:r>
          </a:p>
        </p:txBody>
      </p:sp>
      <p:sp>
        <p:nvSpPr>
          <p:cNvPr id="8" name="TextBox 7"/>
          <p:cNvSpPr txBox="1"/>
          <p:nvPr/>
        </p:nvSpPr>
        <p:spPr>
          <a:xfrm>
            <a:off x="11155680" y="6400800"/>
            <a:ext cx="731520" cy="320040"/>
          </a:xfrm>
          <a:prstGeom prst="rect">
            <a:avLst/>
          </a:prstGeom>
          <a:noFill/>
        </p:spPr>
        <p:txBody>
          <a:bodyPr wrap="none">
            <a:spAutoFit/>
          </a:bodyPr>
          <a:lstStyle/>
          <a:p>
            <a:pPr algn="r">
              <a:defRPr sz="1100">
                <a:solidFill>
                  <a:srgbClr val="6B6B6B"/>
                </a:solidFill>
                <a:latin typeface="Microsoft YaHei"/>
              </a:defRPr>
            </a:pPr>
            <a:r>
              <a:t>20</a:t>
            </a:r>
          </a:p>
        </p:txBody>
      </p:sp>
      <p:sp>
        <p:nvSpPr>
          <p:cNvPr id="9" name="Rectangle 8"/>
          <p:cNvSpPr/>
          <p:nvPr/>
        </p:nvSpPr>
        <p:spPr>
          <a:xfrm>
            <a:off x="45720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8640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399032"/>
            <a:ext cx="5120640" cy="365760"/>
          </a:xfrm>
          <a:prstGeom prst="rect">
            <a:avLst/>
          </a:prstGeom>
          <a:noFill/>
        </p:spPr>
        <p:txBody>
          <a:bodyPr wrap="none">
            <a:spAutoFit/>
          </a:bodyPr>
          <a:lstStyle/>
          <a:p>
            <a:pPr>
              <a:defRPr sz="1600" b="1">
                <a:solidFill>
                  <a:srgbClr val="FFFFFF"/>
                </a:solidFill>
                <a:latin typeface="Microsoft YaHei"/>
              </a:defRPr>
            </a:pPr>
            <a:r>
              <a:t>传统产业政策的历史作用与局限</a:t>
            </a:r>
          </a:p>
        </p:txBody>
      </p:sp>
      <p:sp>
        <p:nvSpPr>
          <p:cNvPr id="12" name="TextBox 11"/>
          <p:cNvSpPr txBox="1"/>
          <p:nvPr/>
        </p:nvSpPr>
        <p:spPr>
          <a:xfrm>
            <a:off x="64008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历史贡献：在资源有限下集中财税、信贷支持特定产业，实现了后发赶超与重点突破。</a:t>
            </a:r>
          </a:p>
          <a:p>
            <a:pPr>
              <a:spcAft>
                <a:spcPts val="600"/>
              </a:spcAft>
              <a:defRPr sz="1300">
                <a:solidFill>
                  <a:srgbClr val="2C2C2C"/>
                </a:solidFill>
                <a:latin typeface="Microsoft YaHei"/>
              </a:defRPr>
            </a:pPr>
            <a:r>
              <a:t>· 非均衡弊端：选择性支持无法覆盖全行业，引发地方盲目重复建设。</a:t>
            </a:r>
          </a:p>
          <a:p>
            <a:pPr>
              <a:spcAft>
                <a:spcPts val="600"/>
              </a:spcAft>
              <a:defRPr sz="1300">
                <a:solidFill>
                  <a:srgbClr val="2C2C2C"/>
                </a:solidFill>
                <a:latin typeface="Microsoft YaHei"/>
              </a:defRPr>
            </a:pPr>
            <a:r>
              <a:t>· 市场扭曲：人为扶持造成产能严重过剩，弱化了市场自我选择与优胜劣汰机制。</a:t>
            </a:r>
          </a:p>
        </p:txBody>
      </p:sp>
      <p:sp>
        <p:nvSpPr>
          <p:cNvPr id="13" name="Rectangle 12"/>
          <p:cNvSpPr/>
          <p:nvPr/>
        </p:nvSpPr>
        <p:spPr>
          <a:xfrm>
            <a:off x="621792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325880"/>
            <a:ext cx="5486400" cy="502920"/>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399032"/>
            <a:ext cx="5120640" cy="365760"/>
          </a:xfrm>
          <a:prstGeom prst="rect">
            <a:avLst/>
          </a:prstGeom>
          <a:noFill/>
        </p:spPr>
        <p:txBody>
          <a:bodyPr wrap="none">
            <a:spAutoFit/>
          </a:bodyPr>
          <a:lstStyle/>
          <a:p>
            <a:pPr>
              <a:defRPr sz="1600" b="1">
                <a:solidFill>
                  <a:srgbClr val="FFFFFF"/>
                </a:solidFill>
                <a:latin typeface="Microsoft YaHei"/>
              </a:defRPr>
            </a:pPr>
            <a:r>
              <a:t>确立竞争政策基础性地位的必然性</a:t>
            </a:r>
          </a:p>
        </p:txBody>
      </p:sp>
      <p:sp>
        <p:nvSpPr>
          <p:cNvPr id="16" name="TextBox 15"/>
          <p:cNvSpPr txBox="1"/>
          <p:nvPr/>
        </p:nvSpPr>
        <p:spPr>
          <a:xfrm>
            <a:off x="640080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公平普惠：竞争政策对所有产业、所有所有制企业一视同仁。</a:t>
            </a:r>
          </a:p>
          <a:p>
            <a:pPr>
              <a:spcAft>
                <a:spcPts val="600"/>
              </a:spcAft>
              <a:defRPr sz="1300">
                <a:solidFill>
                  <a:srgbClr val="2C2C2C"/>
                </a:solidFill>
                <a:latin typeface="Microsoft YaHei"/>
              </a:defRPr>
            </a:pPr>
            <a:r>
              <a:t>· 营造环境：打造内外资一视同仁、公平竞争的现代化法治化市场环境。</a:t>
            </a:r>
          </a:p>
          <a:p>
            <a:pPr>
              <a:spcAft>
                <a:spcPts val="600"/>
              </a:spcAft>
              <a:defRPr sz="1300">
                <a:solidFill>
                  <a:srgbClr val="2C2C2C"/>
                </a:solidFill>
                <a:latin typeface="Microsoft YaHei"/>
              </a:defRPr>
            </a:pPr>
            <a:r>
              <a:t>· 化解危机：避免行政干预导致的产能过剩，优化民营经济竞争土壤。</a:t>
            </a:r>
          </a:p>
        </p:txBody>
      </p:sp>
      <p:sp>
        <p:nvSpPr>
          <p:cNvPr id="17" name="TextBox 16"/>
          <p:cNvSpPr txBox="1"/>
          <p:nvPr/>
        </p:nvSpPr>
        <p:spPr>
          <a:xfrm>
            <a:off x="457200" y="5897880"/>
            <a:ext cx="11274552" cy="411480"/>
          </a:xfrm>
          <a:prstGeom prst="rect">
            <a:avLst/>
          </a:prstGeom>
          <a:noFill/>
        </p:spPr>
        <p:txBody>
          <a:bodyPr wrap="square">
            <a:spAutoFit/>
          </a:bodyPr>
          <a:lstStyle/>
          <a:p>
            <a:pPr>
              <a:defRPr sz="1300" b="1">
                <a:solidFill>
                  <a:srgbClr val="1A8C5D"/>
                </a:solidFill>
                <a:latin typeface="Microsoft YaHei"/>
              </a:defRPr>
            </a:pPr>
            <a:r>
              <a:t>确立竞争政策的基础性地位，是构建高水平社会主义市场经济体制的必由之路。</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
            <a:ext cx="5486400" cy="320040"/>
          </a:xfrm>
          <a:prstGeom prst="rect">
            <a:avLst/>
          </a:prstGeom>
          <a:noFill/>
        </p:spPr>
        <p:txBody>
          <a:bodyPr wrap="square">
            <a:spAutoFit/>
          </a:bodyPr>
          <a:lstStyle/>
          <a:p>
            <a:pPr>
              <a:defRPr sz="1200" b="1">
                <a:solidFill>
                  <a:srgbClr val="2E86C1"/>
                </a:solidFill>
                <a:latin typeface="Microsoft YaHei"/>
              </a:defRPr>
            </a:pPr>
            <a:r>
              <a:t>第二节 我国的竞争政策</a:t>
            </a:r>
          </a:p>
        </p:txBody>
      </p:sp>
      <p:sp>
        <p:nvSpPr>
          <p:cNvPr id="5" name="TextBox 4"/>
          <p:cNvSpPr txBox="1"/>
          <p:nvPr/>
        </p:nvSpPr>
        <p:spPr>
          <a:xfrm>
            <a:off x="457200" y="502920"/>
            <a:ext cx="10515600" cy="548640"/>
          </a:xfrm>
          <a:prstGeom prst="rect">
            <a:avLst/>
          </a:prstGeom>
          <a:noFill/>
        </p:spPr>
        <p:txBody>
          <a:bodyPr wrap="square">
            <a:spAutoFit/>
          </a:bodyPr>
          <a:lstStyle/>
          <a:p>
            <a:pPr>
              <a:defRPr sz="2600" b="1">
                <a:solidFill>
                  <a:srgbClr val="1B3A5C"/>
                </a:solidFill>
                <a:latin typeface="Microsoft YaHei"/>
              </a:defRPr>
            </a:pPr>
            <a:r>
              <a:t>产业政策局限的实证：五大行业产能过剩危机</a:t>
            </a:r>
          </a:p>
        </p:txBody>
      </p:sp>
      <p:sp>
        <p:nvSpPr>
          <p:cNvPr id="6" name="Rectangle 5"/>
          <p:cNvSpPr/>
          <p:nvPr/>
        </p:nvSpPr>
        <p:spPr>
          <a:xfrm>
            <a:off x="457200" y="1078992"/>
            <a:ext cx="1097280" cy="3657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a:spAutoFit/>
          </a:bodyPr>
          <a:lstStyle/>
          <a:p>
            <a:pPr>
              <a:defRPr sz="1000">
                <a:solidFill>
                  <a:srgbClr val="6B6B6B"/>
                </a:solidFill>
                <a:latin typeface="Microsoft YaHei"/>
              </a:defRPr>
            </a:pPr>
            <a:r>
              <a:t>产业经济学 · 刘志彪（第3版）</a:t>
            </a:r>
          </a:p>
        </p:txBody>
      </p:sp>
      <p:sp>
        <p:nvSpPr>
          <p:cNvPr id="8" name="TextBox 7"/>
          <p:cNvSpPr txBox="1"/>
          <p:nvPr/>
        </p:nvSpPr>
        <p:spPr>
          <a:xfrm>
            <a:off x="11155680" y="6400800"/>
            <a:ext cx="731520" cy="320040"/>
          </a:xfrm>
          <a:prstGeom prst="rect">
            <a:avLst/>
          </a:prstGeom>
          <a:noFill/>
        </p:spPr>
        <p:txBody>
          <a:bodyPr wrap="none">
            <a:spAutoFit/>
          </a:bodyPr>
          <a:lstStyle/>
          <a:p>
            <a:pPr algn="r">
              <a:defRPr sz="1100">
                <a:solidFill>
                  <a:srgbClr val="6B6B6B"/>
                </a:solidFill>
                <a:latin typeface="Microsoft YaHei"/>
              </a:defRPr>
            </a:pPr>
            <a:r>
              <a:t>21</a:t>
            </a:r>
          </a:p>
        </p:txBody>
      </p:sp>
      <p:sp>
        <p:nvSpPr>
          <p:cNvPr id="9" name="Rectangle 8"/>
          <p:cNvSpPr/>
          <p:nvPr/>
        </p:nvSpPr>
        <p:spPr>
          <a:xfrm>
            <a:off x="45720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86400" cy="502920"/>
          </a:xfrm>
          <a:prstGeom prst="rect">
            <a:avLst/>
          </a:prstGeom>
          <a:solidFill>
            <a:srgbClr val="C84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399032"/>
            <a:ext cx="5120640" cy="365760"/>
          </a:xfrm>
          <a:prstGeom prst="rect">
            <a:avLst/>
          </a:prstGeom>
          <a:noFill/>
        </p:spPr>
        <p:txBody>
          <a:bodyPr wrap="none">
            <a:spAutoFit/>
          </a:bodyPr>
          <a:lstStyle/>
          <a:p>
            <a:pPr>
              <a:defRPr sz="1600" b="1">
                <a:solidFill>
                  <a:srgbClr val="FFFFFF"/>
                </a:solidFill>
                <a:latin typeface="Microsoft YaHei"/>
              </a:defRPr>
            </a:pPr>
            <a:r>
              <a:t>2012年底中度产能过剩数据（低于国际正常水平）</a:t>
            </a:r>
          </a:p>
        </p:txBody>
      </p:sp>
      <p:sp>
        <p:nvSpPr>
          <p:cNvPr id="12" name="TextBox 11"/>
          <p:cNvSpPr txBox="1"/>
          <p:nvPr/>
        </p:nvSpPr>
        <p:spPr>
          <a:xfrm>
            <a:off x="64008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钢铁行业：产能利用率仅为 72.0%</a:t>
            </a:r>
          </a:p>
          <a:p>
            <a:pPr>
              <a:spcAft>
                <a:spcPts val="600"/>
              </a:spcAft>
              <a:defRPr sz="1300">
                <a:solidFill>
                  <a:srgbClr val="2C2C2C"/>
                </a:solidFill>
                <a:latin typeface="Microsoft YaHei"/>
              </a:defRPr>
            </a:pPr>
            <a:r>
              <a:t>· 水泥行业：产能利用率仅为 73.7%</a:t>
            </a:r>
          </a:p>
          <a:p>
            <a:pPr>
              <a:spcAft>
                <a:spcPts val="600"/>
              </a:spcAft>
              <a:defRPr sz="1300">
                <a:solidFill>
                  <a:srgbClr val="2C2C2C"/>
                </a:solidFill>
                <a:latin typeface="Microsoft YaHei"/>
              </a:defRPr>
            </a:pPr>
            <a:r>
              <a:t>· 电解铝行业：产能利用率仅为 71.9%</a:t>
            </a:r>
          </a:p>
          <a:p>
            <a:pPr>
              <a:spcAft>
                <a:spcPts val="600"/>
              </a:spcAft>
              <a:defRPr sz="1300">
                <a:solidFill>
                  <a:srgbClr val="2C2C2C"/>
                </a:solidFill>
                <a:latin typeface="Microsoft YaHei"/>
              </a:defRPr>
            </a:pPr>
            <a:r>
              <a:t>· 平板玻璃：产能利用率仅为 73.1%</a:t>
            </a:r>
          </a:p>
          <a:p>
            <a:pPr>
              <a:spcAft>
                <a:spcPts val="600"/>
              </a:spcAft>
              <a:defRPr sz="1300">
                <a:solidFill>
                  <a:srgbClr val="2C2C2C"/>
                </a:solidFill>
                <a:latin typeface="Microsoft YaHei"/>
              </a:defRPr>
            </a:pPr>
            <a:r>
              <a:t>· 船舶制造：产能利用率仅为 75.0%</a:t>
            </a:r>
          </a:p>
        </p:txBody>
      </p:sp>
      <p:sp>
        <p:nvSpPr>
          <p:cNvPr id="13" name="Rectangle 12"/>
          <p:cNvSpPr/>
          <p:nvPr/>
        </p:nvSpPr>
        <p:spPr>
          <a:xfrm>
            <a:off x="621792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325880"/>
            <a:ext cx="548640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399032"/>
            <a:ext cx="5120640" cy="365760"/>
          </a:xfrm>
          <a:prstGeom prst="rect">
            <a:avLst/>
          </a:prstGeom>
          <a:noFill/>
        </p:spPr>
        <p:txBody>
          <a:bodyPr wrap="none">
            <a:spAutoFit/>
          </a:bodyPr>
          <a:lstStyle/>
          <a:p>
            <a:pPr>
              <a:defRPr sz="1600" b="1">
                <a:solidFill>
                  <a:srgbClr val="FFFFFF"/>
                </a:solidFill>
                <a:latin typeface="Microsoft YaHei"/>
              </a:defRPr>
            </a:pPr>
            <a:r>
              <a:t>国务院《化解产能严重过剩矛盾指导意见》(2013)</a:t>
            </a:r>
          </a:p>
        </p:txBody>
      </p:sp>
      <p:sp>
        <p:nvSpPr>
          <p:cNvPr id="16" name="TextBox 15"/>
          <p:cNvSpPr txBox="1"/>
          <p:nvPr/>
        </p:nvSpPr>
        <p:spPr>
          <a:xfrm>
            <a:off x="640080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现象：行业利润大幅下滑、企业普遍经营困难，但地方仍盲目新建在建。</a:t>
            </a:r>
          </a:p>
          <a:p>
            <a:pPr>
              <a:spcAft>
                <a:spcPts val="600"/>
              </a:spcAft>
              <a:defRPr sz="1300">
                <a:solidFill>
                  <a:srgbClr val="2C2C2C"/>
                </a:solidFill>
                <a:latin typeface="Microsoft YaHei"/>
              </a:defRPr>
            </a:pPr>
            <a:r>
              <a:t>· 根源：选择性产业政策与地方政绩竞赛导致的资源错配。</a:t>
            </a:r>
          </a:p>
          <a:p>
            <a:pPr>
              <a:spcAft>
                <a:spcPts val="600"/>
              </a:spcAft>
              <a:defRPr sz="1300">
                <a:solidFill>
                  <a:srgbClr val="2C2C2C"/>
                </a:solidFill>
                <a:latin typeface="Microsoft YaHei"/>
              </a:defRPr>
            </a:pPr>
            <a:r>
              <a:t>· 治理转向：坚决停止盲目扩张，全面转向依靠市场竞争与严格环保质量标准倒逼退出。</a:t>
            </a:r>
          </a:p>
        </p:txBody>
      </p:sp>
      <p:sp>
        <p:nvSpPr>
          <p:cNvPr id="17" name="TextBox 16"/>
          <p:cNvSpPr txBox="1"/>
          <p:nvPr/>
        </p:nvSpPr>
        <p:spPr>
          <a:xfrm>
            <a:off x="457200" y="5897880"/>
            <a:ext cx="11274552" cy="411480"/>
          </a:xfrm>
          <a:prstGeom prst="rect">
            <a:avLst/>
          </a:prstGeom>
          <a:noFill/>
        </p:spPr>
        <p:txBody>
          <a:bodyPr wrap="square">
            <a:spAutoFit/>
          </a:bodyPr>
          <a:lstStyle/>
          <a:p>
            <a:pPr>
              <a:defRPr sz="1300" b="1">
                <a:solidFill>
                  <a:srgbClr val="C84B1B"/>
                </a:solidFill>
                <a:latin typeface="Microsoft YaHei"/>
              </a:defRPr>
            </a:pPr>
            <a:r>
              <a:t>严重产能过剩危机证明：纯粹依赖政府扶持的偏向型产业政策必须让位于公平竞争政策。</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
            <a:ext cx="5486400" cy="320040"/>
          </a:xfrm>
          <a:prstGeom prst="rect">
            <a:avLst/>
          </a:prstGeom>
          <a:noFill/>
        </p:spPr>
        <p:txBody>
          <a:bodyPr wrap="square">
            <a:spAutoFit/>
          </a:bodyPr>
          <a:lstStyle/>
          <a:p>
            <a:pPr>
              <a:defRPr sz="1200" b="1">
                <a:solidFill>
                  <a:srgbClr val="2E86C1"/>
                </a:solidFill>
                <a:latin typeface="Microsoft YaHei"/>
              </a:defRPr>
            </a:pPr>
            <a:r>
              <a:t>第二节 我国的竞争政策</a:t>
            </a:r>
          </a:p>
        </p:txBody>
      </p:sp>
      <p:sp>
        <p:nvSpPr>
          <p:cNvPr id="5" name="TextBox 4"/>
          <p:cNvSpPr txBox="1"/>
          <p:nvPr/>
        </p:nvSpPr>
        <p:spPr>
          <a:xfrm>
            <a:off x="457200" y="502920"/>
            <a:ext cx="10515600" cy="548640"/>
          </a:xfrm>
          <a:prstGeom prst="rect">
            <a:avLst/>
          </a:prstGeom>
          <a:noFill/>
        </p:spPr>
        <p:txBody>
          <a:bodyPr wrap="square">
            <a:spAutoFit/>
          </a:bodyPr>
          <a:lstStyle/>
          <a:p>
            <a:pPr>
              <a:defRPr sz="2600" b="1">
                <a:solidFill>
                  <a:srgbClr val="1B3A5C"/>
                </a:solidFill>
                <a:latin typeface="Microsoft YaHei"/>
              </a:defRPr>
            </a:pPr>
            <a:r>
              <a:t>我国《反垄断法》的立法历程与最新修正</a:t>
            </a:r>
          </a:p>
        </p:txBody>
      </p:sp>
      <p:sp>
        <p:nvSpPr>
          <p:cNvPr id="6" name="Rectangle 5"/>
          <p:cNvSpPr/>
          <p:nvPr/>
        </p:nvSpPr>
        <p:spPr>
          <a:xfrm>
            <a:off x="457200" y="1078992"/>
            <a:ext cx="1097280" cy="3657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a:spAutoFit/>
          </a:bodyPr>
          <a:lstStyle/>
          <a:p>
            <a:pPr>
              <a:defRPr sz="1000">
                <a:solidFill>
                  <a:srgbClr val="6B6B6B"/>
                </a:solidFill>
                <a:latin typeface="Microsoft YaHei"/>
              </a:defRPr>
            </a:pPr>
            <a:r>
              <a:t>产业经济学 · 刘志彪（第3版）</a:t>
            </a:r>
          </a:p>
        </p:txBody>
      </p:sp>
      <p:sp>
        <p:nvSpPr>
          <p:cNvPr id="8" name="TextBox 7"/>
          <p:cNvSpPr txBox="1"/>
          <p:nvPr/>
        </p:nvSpPr>
        <p:spPr>
          <a:xfrm>
            <a:off x="11155680" y="6400800"/>
            <a:ext cx="731520" cy="320040"/>
          </a:xfrm>
          <a:prstGeom prst="rect">
            <a:avLst/>
          </a:prstGeom>
          <a:noFill/>
        </p:spPr>
        <p:txBody>
          <a:bodyPr wrap="none">
            <a:spAutoFit/>
          </a:bodyPr>
          <a:lstStyle/>
          <a:p>
            <a:pPr algn="r">
              <a:defRPr sz="1100">
                <a:solidFill>
                  <a:srgbClr val="6B6B6B"/>
                </a:solidFill>
                <a:latin typeface="Microsoft YaHei"/>
              </a:defRPr>
            </a:pPr>
            <a:r>
              <a:t>22</a:t>
            </a:r>
          </a:p>
        </p:txBody>
      </p:sp>
      <p:sp>
        <p:nvSpPr>
          <p:cNvPr id="9" name="Rectangle 8"/>
          <p:cNvSpPr/>
          <p:nvPr/>
        </p:nvSpPr>
        <p:spPr>
          <a:xfrm>
            <a:off x="45720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8640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399032"/>
            <a:ext cx="5120640" cy="365760"/>
          </a:xfrm>
          <a:prstGeom prst="rect">
            <a:avLst/>
          </a:prstGeom>
          <a:noFill/>
        </p:spPr>
        <p:txBody>
          <a:bodyPr wrap="none">
            <a:spAutoFit/>
          </a:bodyPr>
          <a:lstStyle/>
          <a:p>
            <a:pPr>
              <a:defRPr sz="1600" b="1">
                <a:solidFill>
                  <a:srgbClr val="FFFFFF"/>
                </a:solidFill>
                <a:latin typeface="Microsoft YaHei"/>
              </a:defRPr>
            </a:pPr>
            <a:r>
              <a:t>《反垄断法》演进里程碑</a:t>
            </a:r>
          </a:p>
        </p:txBody>
      </p:sp>
      <p:sp>
        <p:nvSpPr>
          <p:cNvPr id="12" name="TextBox 11"/>
          <p:cNvSpPr txBox="1"/>
          <p:nvPr/>
        </p:nvSpPr>
        <p:spPr>
          <a:xfrm>
            <a:off x="64008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2007年8月：第十届全国人大常委会通过《反垄断法》。</a:t>
            </a:r>
          </a:p>
          <a:p>
            <a:pPr>
              <a:spcAft>
                <a:spcPts val="600"/>
              </a:spcAft>
              <a:defRPr sz="1300">
                <a:solidFill>
                  <a:srgbClr val="2C2C2C"/>
                </a:solidFill>
                <a:latin typeface="Microsoft YaHei"/>
              </a:defRPr>
            </a:pPr>
            <a:r>
              <a:t>· 2008年8月1日：正式实施，开启中国反垄断执法元年。</a:t>
            </a:r>
          </a:p>
          <a:p>
            <a:pPr>
              <a:spcAft>
                <a:spcPts val="600"/>
              </a:spcAft>
              <a:defRPr sz="1300">
                <a:solidFill>
                  <a:srgbClr val="2C2C2C"/>
                </a:solidFill>
                <a:latin typeface="Microsoft YaHei"/>
              </a:defRPr>
            </a:pPr>
            <a:r>
              <a:t>· 2022年6月24日：十三届全国人大常委会第35次会议通过修正决定。</a:t>
            </a:r>
          </a:p>
          <a:p>
            <a:pPr>
              <a:spcAft>
                <a:spcPts val="600"/>
              </a:spcAft>
              <a:defRPr sz="1300">
                <a:solidFill>
                  <a:srgbClr val="2C2C2C"/>
                </a:solidFill>
                <a:latin typeface="Microsoft YaHei"/>
              </a:defRPr>
            </a:pPr>
            <a:r>
              <a:t>· 2022年8月1日：新修正《反垄断法》施行，适应数字经济与新发展格局。</a:t>
            </a:r>
          </a:p>
        </p:txBody>
      </p:sp>
      <p:sp>
        <p:nvSpPr>
          <p:cNvPr id="13" name="Rectangle 12"/>
          <p:cNvSpPr/>
          <p:nvPr/>
        </p:nvSpPr>
        <p:spPr>
          <a:xfrm>
            <a:off x="621792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325880"/>
            <a:ext cx="548640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399032"/>
            <a:ext cx="5120640" cy="365760"/>
          </a:xfrm>
          <a:prstGeom prst="rect">
            <a:avLst/>
          </a:prstGeom>
          <a:noFill/>
        </p:spPr>
        <p:txBody>
          <a:bodyPr wrap="none">
            <a:spAutoFit/>
          </a:bodyPr>
          <a:lstStyle/>
          <a:p>
            <a:pPr>
              <a:defRPr sz="1600" b="1">
                <a:solidFill>
                  <a:srgbClr val="FFFFFF"/>
                </a:solidFill>
                <a:latin typeface="Microsoft YaHei"/>
              </a:defRPr>
            </a:pPr>
            <a:r>
              <a:t>2022修正案核心亮点</a:t>
            </a:r>
          </a:p>
        </p:txBody>
      </p:sp>
      <p:sp>
        <p:nvSpPr>
          <p:cNvPr id="16" name="TextBox 15"/>
          <p:cNvSpPr txBox="1"/>
          <p:nvPr/>
        </p:nvSpPr>
        <p:spPr>
          <a:xfrm>
            <a:off x="640080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明确竞争政策基础地位：法律层面上首次明确“强化竞争政策基础地位”。</a:t>
            </a:r>
          </a:p>
          <a:p>
            <a:pPr>
              <a:spcAft>
                <a:spcPts val="600"/>
              </a:spcAft>
              <a:defRPr sz="1300">
                <a:solidFill>
                  <a:srgbClr val="2C2C2C"/>
                </a:solidFill>
                <a:latin typeface="Microsoft YaHei"/>
              </a:defRPr>
            </a:pPr>
            <a:r>
              <a:t>· 规范平台经济：新增针对数据、算法、技术滥用支配地位与垄断协议的规则。</a:t>
            </a:r>
          </a:p>
          <a:p>
            <a:pPr>
              <a:spcAft>
                <a:spcPts val="600"/>
              </a:spcAft>
              <a:defRPr sz="1300">
                <a:solidFill>
                  <a:srgbClr val="2C2C2C"/>
                </a:solidFill>
                <a:latin typeface="Microsoft YaHei"/>
              </a:defRPr>
            </a:pPr>
            <a:r>
              <a:t>· 强化公平竞争审查：将公平竞争审查制度正式上升为法律制度。</a:t>
            </a:r>
          </a:p>
          <a:p>
            <a:pPr>
              <a:spcAft>
                <a:spcPts val="600"/>
              </a:spcAft>
              <a:defRPr sz="1300">
                <a:solidFill>
                  <a:srgbClr val="2C2C2C"/>
                </a:solidFill>
                <a:latin typeface="Microsoft YaHei"/>
              </a:defRPr>
            </a:pPr>
            <a:r>
              <a:t>· 大幅提升威慑力：大幅提高违法罚款上限，引入刑事责任衔接。</a:t>
            </a:r>
          </a:p>
        </p:txBody>
      </p:sp>
      <p:sp>
        <p:nvSpPr>
          <p:cNvPr id="17" name="TextBox 16"/>
          <p:cNvSpPr txBox="1"/>
          <p:nvPr/>
        </p:nvSpPr>
        <p:spPr>
          <a:xfrm>
            <a:off x="457200" y="5897880"/>
            <a:ext cx="11274552" cy="411480"/>
          </a:xfrm>
          <a:prstGeom prst="rect">
            <a:avLst/>
          </a:prstGeom>
          <a:noFill/>
        </p:spPr>
        <p:txBody>
          <a:bodyPr wrap="square">
            <a:spAutoFit/>
          </a:bodyPr>
          <a:lstStyle/>
          <a:p>
            <a:pPr>
              <a:defRPr sz="1300" b="1">
                <a:solidFill>
                  <a:srgbClr val="2E86C1"/>
                </a:solidFill>
                <a:latin typeface="Microsoft YaHei"/>
              </a:defRPr>
            </a:pPr>
            <a:r>
              <a:t>2022年修法标志着我国反垄断法律体系实现了从“有法可依”向“高质量系统赋能”的跨越。</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
            <a:ext cx="5486400" cy="320040"/>
          </a:xfrm>
          <a:prstGeom prst="rect">
            <a:avLst/>
          </a:prstGeom>
          <a:noFill/>
        </p:spPr>
        <p:txBody>
          <a:bodyPr wrap="square">
            <a:spAutoFit/>
          </a:bodyPr>
          <a:lstStyle/>
          <a:p>
            <a:pPr>
              <a:defRPr sz="1200" b="1">
                <a:solidFill>
                  <a:srgbClr val="2E86C1"/>
                </a:solidFill>
                <a:latin typeface="Microsoft YaHei"/>
              </a:defRPr>
            </a:pPr>
            <a:r>
              <a:t>第二节 我国的竞争政策</a:t>
            </a:r>
          </a:p>
        </p:txBody>
      </p:sp>
      <p:sp>
        <p:nvSpPr>
          <p:cNvPr id="5" name="TextBox 4"/>
          <p:cNvSpPr txBox="1"/>
          <p:nvPr/>
        </p:nvSpPr>
        <p:spPr>
          <a:xfrm>
            <a:off x="457200" y="502920"/>
            <a:ext cx="10515600" cy="548640"/>
          </a:xfrm>
          <a:prstGeom prst="rect">
            <a:avLst/>
          </a:prstGeom>
          <a:noFill/>
        </p:spPr>
        <p:txBody>
          <a:bodyPr wrap="square">
            <a:spAutoFit/>
          </a:bodyPr>
          <a:lstStyle/>
          <a:p>
            <a:pPr>
              <a:defRPr sz="2600" b="1">
                <a:solidFill>
                  <a:srgbClr val="1B3A5C"/>
                </a:solidFill>
                <a:latin typeface="Microsoft YaHei"/>
              </a:defRPr>
            </a:pPr>
            <a:r>
              <a:t>我国《反垄断法》规制的四大垄断行为</a:t>
            </a:r>
          </a:p>
        </p:txBody>
      </p:sp>
      <p:sp>
        <p:nvSpPr>
          <p:cNvPr id="6" name="Rectangle 5"/>
          <p:cNvSpPr/>
          <p:nvPr/>
        </p:nvSpPr>
        <p:spPr>
          <a:xfrm>
            <a:off x="457200" y="1078992"/>
            <a:ext cx="1097280" cy="3657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a:spAutoFit/>
          </a:bodyPr>
          <a:lstStyle/>
          <a:p>
            <a:pPr>
              <a:defRPr sz="1000">
                <a:solidFill>
                  <a:srgbClr val="6B6B6B"/>
                </a:solidFill>
                <a:latin typeface="Microsoft YaHei"/>
              </a:defRPr>
            </a:pPr>
            <a:r>
              <a:t>产业经济学 · 刘志彪（第3版）</a:t>
            </a:r>
          </a:p>
        </p:txBody>
      </p:sp>
      <p:sp>
        <p:nvSpPr>
          <p:cNvPr id="8" name="TextBox 7"/>
          <p:cNvSpPr txBox="1"/>
          <p:nvPr/>
        </p:nvSpPr>
        <p:spPr>
          <a:xfrm>
            <a:off x="11155680" y="6400800"/>
            <a:ext cx="731520" cy="320040"/>
          </a:xfrm>
          <a:prstGeom prst="rect">
            <a:avLst/>
          </a:prstGeom>
          <a:noFill/>
        </p:spPr>
        <p:txBody>
          <a:bodyPr wrap="none">
            <a:spAutoFit/>
          </a:bodyPr>
          <a:lstStyle/>
          <a:p>
            <a:pPr algn="r">
              <a:defRPr sz="1100">
                <a:solidFill>
                  <a:srgbClr val="6B6B6B"/>
                </a:solidFill>
                <a:latin typeface="Microsoft YaHei"/>
              </a:defRPr>
            </a:pPr>
            <a:r>
              <a:t>23</a:t>
            </a:r>
          </a:p>
        </p:txBody>
      </p:sp>
      <p:sp>
        <p:nvSpPr>
          <p:cNvPr id="9" name="Rectangle 8"/>
          <p:cNvSpPr/>
          <p:nvPr/>
        </p:nvSpPr>
        <p:spPr>
          <a:xfrm>
            <a:off x="45720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8640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399032"/>
            <a:ext cx="5120640" cy="365760"/>
          </a:xfrm>
          <a:prstGeom prst="rect">
            <a:avLst/>
          </a:prstGeom>
          <a:noFill/>
        </p:spPr>
        <p:txBody>
          <a:bodyPr wrap="none">
            <a:spAutoFit/>
          </a:bodyPr>
          <a:lstStyle/>
          <a:p>
            <a:pPr>
              <a:defRPr sz="1600" b="1">
                <a:solidFill>
                  <a:srgbClr val="FFFFFF"/>
                </a:solidFill>
                <a:latin typeface="Microsoft YaHei"/>
              </a:defRPr>
            </a:pPr>
            <a:r>
              <a:t>1. 垄断协议 (Monopoly Agreements)</a:t>
            </a:r>
          </a:p>
        </p:txBody>
      </p:sp>
      <p:sp>
        <p:nvSpPr>
          <p:cNvPr id="12" name="TextBox 11"/>
          <p:cNvSpPr txBox="1"/>
          <p:nvPr/>
        </p:nvSpPr>
        <p:spPr>
          <a:xfrm>
            <a:off x="64008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横向垄断协议：竞争企业固定价格、限制产量、分割市场、串通招投标。</a:t>
            </a:r>
          </a:p>
          <a:p>
            <a:pPr>
              <a:spcAft>
                <a:spcPts val="600"/>
              </a:spcAft>
              <a:defRPr sz="1300">
                <a:solidFill>
                  <a:srgbClr val="2C2C2C"/>
                </a:solidFill>
                <a:latin typeface="Microsoft YaHei"/>
              </a:defRPr>
            </a:pPr>
            <a:r>
              <a:t>· 纵向垄断协议：转售价格维持（RPM）、限制最低销售价格。</a:t>
            </a:r>
          </a:p>
          <a:p>
            <a:pPr>
              <a:spcAft>
                <a:spcPts val="600"/>
              </a:spcAft>
              <a:defRPr sz="1300">
                <a:solidFill>
                  <a:srgbClr val="2C2C2C"/>
                </a:solidFill>
                <a:latin typeface="Microsoft YaHei"/>
              </a:defRPr>
            </a:pPr>
            <a:r>
              <a:t>· 行业协会：严禁行业协会组织本行业经营者达成实施垄断协议。</a:t>
            </a:r>
          </a:p>
        </p:txBody>
      </p:sp>
      <p:sp>
        <p:nvSpPr>
          <p:cNvPr id="13" name="Rectangle 12"/>
          <p:cNvSpPr/>
          <p:nvPr/>
        </p:nvSpPr>
        <p:spPr>
          <a:xfrm>
            <a:off x="621792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325880"/>
            <a:ext cx="5486400" cy="502920"/>
          </a:xfrm>
          <a:prstGeom prst="rect">
            <a:avLst/>
          </a:prstGeom>
          <a:solidFill>
            <a:srgbClr val="C84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399032"/>
            <a:ext cx="5120640" cy="365760"/>
          </a:xfrm>
          <a:prstGeom prst="rect">
            <a:avLst/>
          </a:prstGeom>
          <a:noFill/>
        </p:spPr>
        <p:txBody>
          <a:bodyPr wrap="none">
            <a:spAutoFit/>
          </a:bodyPr>
          <a:lstStyle/>
          <a:p>
            <a:pPr>
              <a:defRPr sz="1600" b="1">
                <a:solidFill>
                  <a:srgbClr val="FFFFFF"/>
                </a:solidFill>
                <a:latin typeface="Microsoft YaHei"/>
              </a:defRPr>
            </a:pPr>
            <a:r>
              <a:t>2. 滥用市场支配地位 (Abuse of Dominance)</a:t>
            </a:r>
          </a:p>
        </p:txBody>
      </p:sp>
      <p:sp>
        <p:nvSpPr>
          <p:cNvPr id="16" name="TextBox 15"/>
          <p:cNvSpPr txBox="1"/>
          <p:nvPr/>
        </p:nvSpPr>
        <p:spPr>
          <a:xfrm>
            <a:off x="640080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合法性原则：不反对企业具有支配地位，但严禁“滥用”支配地位。</a:t>
            </a:r>
          </a:p>
          <a:p>
            <a:pPr>
              <a:spcAft>
                <a:spcPts val="600"/>
              </a:spcAft>
              <a:defRPr sz="1300">
                <a:solidFill>
                  <a:srgbClr val="2C2C2C"/>
                </a:solidFill>
                <a:latin typeface="Microsoft YaHei"/>
              </a:defRPr>
            </a:pPr>
            <a:r>
              <a:t>· 违法表现：垄断高价/低价、掠夺性定价、拒绝交易、限定交易、搭售、差别待遇。</a:t>
            </a:r>
          </a:p>
          <a:p>
            <a:pPr>
              <a:spcAft>
                <a:spcPts val="600"/>
              </a:spcAft>
              <a:defRPr sz="1300">
                <a:solidFill>
                  <a:srgbClr val="2C2C2C"/>
                </a:solidFill>
                <a:latin typeface="Microsoft YaHei"/>
              </a:defRPr>
            </a:pPr>
            <a:r>
              <a:t>· 推定制度：规定了市场份额与市场支配地位认定及推定规则。</a:t>
            </a:r>
          </a:p>
        </p:txBody>
      </p:sp>
      <p:sp>
        <p:nvSpPr>
          <p:cNvPr id="17" name="TextBox 16"/>
          <p:cNvSpPr txBox="1"/>
          <p:nvPr/>
        </p:nvSpPr>
        <p:spPr>
          <a:xfrm>
            <a:off x="457200" y="5897880"/>
            <a:ext cx="11274552" cy="411480"/>
          </a:xfrm>
          <a:prstGeom prst="rect">
            <a:avLst/>
          </a:prstGeom>
          <a:noFill/>
        </p:spPr>
        <p:txBody>
          <a:bodyPr wrap="square">
            <a:spAutoFit/>
          </a:bodyPr>
          <a:lstStyle/>
          <a:p>
            <a:pPr>
              <a:defRPr sz="1300" b="1">
                <a:solidFill>
                  <a:srgbClr val="1B3A5C"/>
                </a:solidFill>
                <a:latin typeface="Microsoft YaHei"/>
              </a:defRPr>
            </a:pPr>
            <a:r>
              <a:t>打击垄断协议与滥用支配地位是我国反垄断执法的两大核心战线。</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
            <a:ext cx="5486400" cy="320040"/>
          </a:xfrm>
          <a:prstGeom prst="rect">
            <a:avLst/>
          </a:prstGeom>
          <a:noFill/>
        </p:spPr>
        <p:txBody>
          <a:bodyPr wrap="square">
            <a:spAutoFit/>
          </a:bodyPr>
          <a:lstStyle/>
          <a:p>
            <a:pPr>
              <a:defRPr sz="1200" b="1">
                <a:solidFill>
                  <a:srgbClr val="2E86C1"/>
                </a:solidFill>
                <a:latin typeface="Microsoft YaHei"/>
              </a:defRPr>
            </a:pPr>
            <a:r>
              <a:t>第二节 我国的竞争政策</a:t>
            </a:r>
          </a:p>
        </p:txBody>
      </p:sp>
      <p:sp>
        <p:nvSpPr>
          <p:cNvPr id="5" name="TextBox 4"/>
          <p:cNvSpPr txBox="1"/>
          <p:nvPr/>
        </p:nvSpPr>
        <p:spPr>
          <a:xfrm>
            <a:off x="457200" y="502920"/>
            <a:ext cx="10515600" cy="548640"/>
          </a:xfrm>
          <a:prstGeom prst="rect">
            <a:avLst/>
          </a:prstGeom>
          <a:noFill/>
        </p:spPr>
        <p:txBody>
          <a:bodyPr wrap="square">
            <a:spAutoFit/>
          </a:bodyPr>
          <a:lstStyle/>
          <a:p>
            <a:pPr>
              <a:defRPr sz="2600" b="1">
                <a:solidFill>
                  <a:srgbClr val="1B3A5C"/>
                </a:solidFill>
                <a:latin typeface="Microsoft YaHei"/>
              </a:defRPr>
            </a:pPr>
            <a:r>
              <a:t>经营者集中审查与滥用行政权力排除限制竞争</a:t>
            </a:r>
          </a:p>
        </p:txBody>
      </p:sp>
      <p:sp>
        <p:nvSpPr>
          <p:cNvPr id="6" name="Rectangle 5"/>
          <p:cNvSpPr/>
          <p:nvPr/>
        </p:nvSpPr>
        <p:spPr>
          <a:xfrm>
            <a:off x="457200" y="1078992"/>
            <a:ext cx="1097280" cy="3657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a:spAutoFit/>
          </a:bodyPr>
          <a:lstStyle/>
          <a:p>
            <a:pPr>
              <a:defRPr sz="1000">
                <a:solidFill>
                  <a:srgbClr val="6B6B6B"/>
                </a:solidFill>
                <a:latin typeface="Microsoft YaHei"/>
              </a:defRPr>
            </a:pPr>
            <a:r>
              <a:t>产业经济学 · 刘志彪（第3版）</a:t>
            </a:r>
          </a:p>
        </p:txBody>
      </p:sp>
      <p:sp>
        <p:nvSpPr>
          <p:cNvPr id="8" name="TextBox 7"/>
          <p:cNvSpPr txBox="1"/>
          <p:nvPr/>
        </p:nvSpPr>
        <p:spPr>
          <a:xfrm>
            <a:off x="11155680" y="6400800"/>
            <a:ext cx="731520" cy="320040"/>
          </a:xfrm>
          <a:prstGeom prst="rect">
            <a:avLst/>
          </a:prstGeom>
          <a:noFill/>
        </p:spPr>
        <p:txBody>
          <a:bodyPr wrap="none">
            <a:spAutoFit/>
          </a:bodyPr>
          <a:lstStyle/>
          <a:p>
            <a:pPr algn="r">
              <a:defRPr sz="1100">
                <a:solidFill>
                  <a:srgbClr val="6B6B6B"/>
                </a:solidFill>
                <a:latin typeface="Microsoft YaHei"/>
              </a:defRPr>
            </a:pPr>
            <a:r>
              <a:t>24</a:t>
            </a:r>
          </a:p>
        </p:txBody>
      </p:sp>
      <p:sp>
        <p:nvSpPr>
          <p:cNvPr id="9" name="Rectangle 8"/>
          <p:cNvSpPr/>
          <p:nvPr/>
        </p:nvSpPr>
        <p:spPr>
          <a:xfrm>
            <a:off x="45720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86400" cy="502920"/>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399032"/>
            <a:ext cx="5120640" cy="365760"/>
          </a:xfrm>
          <a:prstGeom prst="rect">
            <a:avLst/>
          </a:prstGeom>
          <a:noFill/>
        </p:spPr>
        <p:txBody>
          <a:bodyPr wrap="none">
            <a:spAutoFit/>
          </a:bodyPr>
          <a:lstStyle/>
          <a:p>
            <a:pPr>
              <a:defRPr sz="1600" b="1">
                <a:solidFill>
                  <a:srgbClr val="FFFFFF"/>
                </a:solidFill>
                <a:latin typeface="Microsoft YaHei"/>
              </a:defRPr>
            </a:pPr>
            <a:r>
              <a:t>3. 经营者集中审查 (Merger Control)</a:t>
            </a:r>
          </a:p>
        </p:txBody>
      </p:sp>
      <p:sp>
        <p:nvSpPr>
          <p:cNvPr id="12" name="TextBox 11"/>
          <p:cNvSpPr txBox="1"/>
          <p:nvPr/>
        </p:nvSpPr>
        <p:spPr>
          <a:xfrm>
            <a:off x="64008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政策导向：既鼓励依法兼并做大做强发展规模经济，又防止过度集中形成垄断。</a:t>
            </a:r>
          </a:p>
          <a:p>
            <a:pPr>
              <a:spcAft>
                <a:spcPts val="600"/>
              </a:spcAft>
              <a:defRPr sz="1300">
                <a:solidFill>
                  <a:srgbClr val="2C2C2C"/>
                </a:solidFill>
                <a:latin typeface="Microsoft YaHei"/>
              </a:defRPr>
            </a:pPr>
            <a:r>
              <a:t>· 事前申报：达到国务院规定条件的集中，未申报不得实施集中。</a:t>
            </a:r>
          </a:p>
          <a:p>
            <a:pPr>
              <a:spcAft>
                <a:spcPts val="600"/>
              </a:spcAft>
              <a:defRPr sz="1300">
                <a:solidFill>
                  <a:srgbClr val="2C2C2C"/>
                </a:solidFill>
                <a:latin typeface="Microsoft YaHei"/>
              </a:defRPr>
            </a:pPr>
            <a:r>
              <a:t>· 考虑因素：市场份额、控制力、集中度、对技术进步与消费者影响。</a:t>
            </a:r>
          </a:p>
        </p:txBody>
      </p:sp>
      <p:sp>
        <p:nvSpPr>
          <p:cNvPr id="13" name="Rectangle 12"/>
          <p:cNvSpPr/>
          <p:nvPr/>
        </p:nvSpPr>
        <p:spPr>
          <a:xfrm>
            <a:off x="621792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325880"/>
            <a:ext cx="5486400" cy="50292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399032"/>
            <a:ext cx="5120640" cy="365760"/>
          </a:xfrm>
          <a:prstGeom prst="rect">
            <a:avLst/>
          </a:prstGeom>
          <a:noFill/>
        </p:spPr>
        <p:txBody>
          <a:bodyPr wrap="none">
            <a:spAutoFit/>
          </a:bodyPr>
          <a:lstStyle/>
          <a:p>
            <a:pPr>
              <a:defRPr sz="1600" b="1">
                <a:solidFill>
                  <a:srgbClr val="FFFFFF"/>
                </a:solidFill>
                <a:latin typeface="Microsoft YaHei"/>
              </a:defRPr>
            </a:pPr>
            <a:r>
              <a:t>4. 滥用行政权力排除限制竞争（行政垄断）</a:t>
            </a:r>
          </a:p>
        </p:txBody>
      </p:sp>
      <p:sp>
        <p:nvSpPr>
          <p:cNvPr id="16" name="TextBox 15"/>
          <p:cNvSpPr txBox="1"/>
          <p:nvPr/>
        </p:nvSpPr>
        <p:spPr>
          <a:xfrm>
            <a:off x="640080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中国特色战线：重点打掉行政强制交易、地区封锁、排除外地商品。</a:t>
            </a:r>
          </a:p>
          <a:p>
            <a:pPr>
              <a:spcAft>
                <a:spcPts val="600"/>
              </a:spcAft>
              <a:defRPr sz="1300">
                <a:solidFill>
                  <a:srgbClr val="2C2C2C"/>
                </a:solidFill>
                <a:latin typeface="Microsoft YaHei"/>
              </a:defRPr>
            </a:pPr>
            <a:r>
              <a:t>· 约谈制度：授权反垄断执法机构约谈涉嫌违法行政机关法定代表人。</a:t>
            </a:r>
          </a:p>
          <a:p>
            <a:pPr>
              <a:spcAft>
                <a:spcPts val="600"/>
              </a:spcAft>
              <a:defRPr sz="1300">
                <a:solidFill>
                  <a:srgbClr val="2C2C2C"/>
                </a:solidFill>
                <a:latin typeface="Microsoft YaHei"/>
              </a:defRPr>
            </a:pPr>
            <a:r>
              <a:t>· 法律责任：上级机关责令改正、处分直接责任人员，向有关上级提出处理建议。</a:t>
            </a:r>
          </a:p>
        </p:txBody>
      </p:sp>
      <p:sp>
        <p:nvSpPr>
          <p:cNvPr id="17" name="TextBox 16"/>
          <p:cNvSpPr txBox="1"/>
          <p:nvPr/>
        </p:nvSpPr>
        <p:spPr>
          <a:xfrm>
            <a:off x="457200" y="5897880"/>
            <a:ext cx="11274552" cy="411480"/>
          </a:xfrm>
          <a:prstGeom prst="rect">
            <a:avLst/>
          </a:prstGeom>
          <a:noFill/>
        </p:spPr>
        <p:txBody>
          <a:bodyPr wrap="square">
            <a:spAutoFit/>
          </a:bodyPr>
          <a:lstStyle/>
          <a:p>
            <a:pPr>
              <a:defRPr sz="1300" b="1">
                <a:solidFill>
                  <a:srgbClr val="C88C1B"/>
                </a:solidFill>
                <a:latin typeface="Microsoft YaHei"/>
              </a:defRPr>
            </a:pPr>
            <a:r>
              <a:t>坚决打破行政垄断与地方保护，是建设全国统一大市场的根本保障。</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
            <a:ext cx="5486400" cy="320040"/>
          </a:xfrm>
          <a:prstGeom prst="rect">
            <a:avLst/>
          </a:prstGeom>
          <a:noFill/>
        </p:spPr>
        <p:txBody>
          <a:bodyPr wrap="square">
            <a:spAutoFit/>
          </a:bodyPr>
          <a:lstStyle/>
          <a:p>
            <a:pPr>
              <a:defRPr sz="1200" b="1">
                <a:solidFill>
                  <a:srgbClr val="2E86C1"/>
                </a:solidFill>
                <a:latin typeface="Microsoft YaHei"/>
              </a:defRPr>
            </a:pPr>
            <a:r>
              <a:t>第二节 我国的竞争政策</a:t>
            </a:r>
          </a:p>
        </p:txBody>
      </p:sp>
      <p:sp>
        <p:nvSpPr>
          <p:cNvPr id="5" name="TextBox 4"/>
          <p:cNvSpPr txBox="1"/>
          <p:nvPr/>
        </p:nvSpPr>
        <p:spPr>
          <a:xfrm>
            <a:off x="457200" y="502920"/>
            <a:ext cx="10515600" cy="548640"/>
          </a:xfrm>
          <a:prstGeom prst="rect">
            <a:avLst/>
          </a:prstGeom>
          <a:noFill/>
        </p:spPr>
        <p:txBody>
          <a:bodyPr wrap="square">
            <a:spAutoFit/>
          </a:bodyPr>
          <a:lstStyle/>
          <a:p>
            <a:pPr>
              <a:defRPr sz="2600" b="1">
                <a:solidFill>
                  <a:srgbClr val="1B3A5C"/>
                </a:solidFill>
                <a:latin typeface="Microsoft YaHei"/>
              </a:defRPr>
            </a:pPr>
            <a:r>
              <a:t>我国反垄断执法机构的历史重组与演变</a:t>
            </a:r>
          </a:p>
        </p:txBody>
      </p:sp>
      <p:sp>
        <p:nvSpPr>
          <p:cNvPr id="6" name="Rectangle 5"/>
          <p:cNvSpPr/>
          <p:nvPr/>
        </p:nvSpPr>
        <p:spPr>
          <a:xfrm>
            <a:off x="457200" y="1078992"/>
            <a:ext cx="1097280" cy="3657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a:spAutoFit/>
          </a:bodyPr>
          <a:lstStyle/>
          <a:p>
            <a:pPr>
              <a:defRPr sz="1000">
                <a:solidFill>
                  <a:srgbClr val="6B6B6B"/>
                </a:solidFill>
                <a:latin typeface="Microsoft YaHei"/>
              </a:defRPr>
            </a:pPr>
            <a:r>
              <a:t>产业经济学 · 刘志彪（第3版）</a:t>
            </a:r>
          </a:p>
        </p:txBody>
      </p:sp>
      <p:sp>
        <p:nvSpPr>
          <p:cNvPr id="8" name="TextBox 7"/>
          <p:cNvSpPr txBox="1"/>
          <p:nvPr/>
        </p:nvSpPr>
        <p:spPr>
          <a:xfrm>
            <a:off x="11155680" y="6400800"/>
            <a:ext cx="731520" cy="320040"/>
          </a:xfrm>
          <a:prstGeom prst="rect">
            <a:avLst/>
          </a:prstGeom>
          <a:noFill/>
        </p:spPr>
        <p:txBody>
          <a:bodyPr wrap="none">
            <a:spAutoFit/>
          </a:bodyPr>
          <a:lstStyle/>
          <a:p>
            <a:pPr algn="r">
              <a:defRPr sz="1100">
                <a:solidFill>
                  <a:srgbClr val="6B6B6B"/>
                </a:solidFill>
                <a:latin typeface="Microsoft YaHei"/>
              </a:defRPr>
            </a:pPr>
            <a:r>
              <a:t>25</a:t>
            </a:r>
          </a:p>
        </p:txBody>
      </p:sp>
      <p:sp>
        <p:nvSpPr>
          <p:cNvPr id="9" name="Rectangle 8"/>
          <p:cNvSpPr/>
          <p:nvPr/>
        </p:nvSpPr>
        <p:spPr>
          <a:xfrm>
            <a:off x="45720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8640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399032"/>
            <a:ext cx="5120640" cy="365760"/>
          </a:xfrm>
          <a:prstGeom prst="rect">
            <a:avLst/>
          </a:prstGeom>
          <a:noFill/>
        </p:spPr>
        <p:txBody>
          <a:bodyPr wrap="none">
            <a:spAutoFit/>
          </a:bodyPr>
          <a:lstStyle/>
          <a:p>
            <a:pPr>
              <a:defRPr sz="1600" b="1">
                <a:solidFill>
                  <a:srgbClr val="FFFFFF"/>
                </a:solidFill>
                <a:latin typeface="Microsoft YaHei"/>
              </a:defRPr>
            </a:pPr>
            <a:r>
              <a:t>三头执法的历史阶段 (2008 - 2018)</a:t>
            </a:r>
          </a:p>
        </p:txBody>
      </p:sp>
      <p:sp>
        <p:nvSpPr>
          <p:cNvPr id="12" name="TextBox 11"/>
          <p:cNvSpPr txBox="1"/>
          <p:nvPr/>
        </p:nvSpPr>
        <p:spPr>
          <a:xfrm>
            <a:off x="64008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国家发改委：负责价格垄断协议及价格滥用执法。</a:t>
            </a:r>
          </a:p>
          <a:p>
            <a:pPr>
              <a:spcAft>
                <a:spcPts val="600"/>
              </a:spcAft>
              <a:defRPr sz="1300">
                <a:solidFill>
                  <a:srgbClr val="2C2C2C"/>
                </a:solidFill>
                <a:latin typeface="Microsoft YaHei"/>
              </a:defRPr>
            </a:pPr>
            <a:r>
              <a:t>· 国家工商总局：负责非价格垄断协议、滥用及行政垄断执法。</a:t>
            </a:r>
          </a:p>
          <a:p>
            <a:pPr>
              <a:spcAft>
                <a:spcPts val="600"/>
              </a:spcAft>
              <a:defRPr sz="1300">
                <a:solidFill>
                  <a:srgbClr val="2C2C2C"/>
                </a:solidFill>
                <a:latin typeface="Microsoft YaHei"/>
              </a:defRPr>
            </a:pPr>
            <a:r>
              <a:t>· 商务部：负责经营者集中反垄断审查。</a:t>
            </a:r>
          </a:p>
          <a:p>
            <a:pPr>
              <a:spcAft>
                <a:spcPts val="600"/>
              </a:spcAft>
              <a:defRPr sz="1300">
                <a:solidFill>
                  <a:srgbClr val="2C2C2C"/>
                </a:solidFill>
                <a:latin typeface="Microsoft YaHei"/>
              </a:defRPr>
            </a:pPr>
            <a:r>
              <a:t>· 国务院反垄断委员会：负责宏观组织、协调、指导。</a:t>
            </a:r>
          </a:p>
        </p:txBody>
      </p:sp>
      <p:sp>
        <p:nvSpPr>
          <p:cNvPr id="13" name="Rectangle 12"/>
          <p:cNvSpPr/>
          <p:nvPr/>
        </p:nvSpPr>
        <p:spPr>
          <a:xfrm>
            <a:off x="621792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325880"/>
            <a:ext cx="548640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399032"/>
            <a:ext cx="5120640" cy="365760"/>
          </a:xfrm>
          <a:prstGeom prst="rect">
            <a:avLst/>
          </a:prstGeom>
          <a:noFill/>
        </p:spPr>
        <p:txBody>
          <a:bodyPr wrap="none">
            <a:spAutoFit/>
          </a:bodyPr>
          <a:lstStyle/>
          <a:p>
            <a:pPr>
              <a:defRPr sz="1600" b="1">
                <a:solidFill>
                  <a:srgbClr val="FFFFFF"/>
                </a:solidFill>
                <a:latin typeface="Microsoft YaHei"/>
              </a:defRPr>
            </a:pPr>
            <a:r>
              <a:t>统一执法新时代 (2018 至今)</a:t>
            </a:r>
          </a:p>
        </p:txBody>
      </p:sp>
      <p:sp>
        <p:nvSpPr>
          <p:cNvPr id="16" name="TextBox 15"/>
          <p:cNvSpPr txBox="1"/>
          <p:nvPr/>
        </p:nvSpPr>
        <p:spPr>
          <a:xfrm>
            <a:off x="640080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2018年机构改革：整合三家职能，由国家市场监督管理总局统一负责反垄断执法。</a:t>
            </a:r>
          </a:p>
          <a:p>
            <a:pPr>
              <a:spcAft>
                <a:spcPts val="600"/>
              </a:spcAft>
              <a:defRPr sz="1300">
                <a:solidFill>
                  <a:srgbClr val="2C2C2C"/>
                </a:solidFill>
                <a:latin typeface="Microsoft YaHei"/>
              </a:defRPr>
            </a:pPr>
            <a:r>
              <a:t>· 2021年11月：国家反垄断局正式挂牌，提升为副部级架构，大幅充实专业执法力量。</a:t>
            </a:r>
          </a:p>
          <a:p>
            <a:pPr>
              <a:spcAft>
                <a:spcPts val="600"/>
              </a:spcAft>
              <a:defRPr sz="1300">
                <a:solidFill>
                  <a:srgbClr val="2C2C2C"/>
                </a:solidFill>
                <a:latin typeface="Microsoft YaHei"/>
              </a:defRPr>
            </a:pPr>
            <a:r>
              <a:t>· 地方授权：授权省、自治区、直辖市市监局开展地方反垄断执法。</a:t>
            </a:r>
          </a:p>
        </p:txBody>
      </p:sp>
      <p:sp>
        <p:nvSpPr>
          <p:cNvPr id="17" name="TextBox 16"/>
          <p:cNvSpPr txBox="1"/>
          <p:nvPr/>
        </p:nvSpPr>
        <p:spPr>
          <a:xfrm>
            <a:off x="457200" y="5897880"/>
            <a:ext cx="11274552" cy="411480"/>
          </a:xfrm>
          <a:prstGeom prst="rect">
            <a:avLst/>
          </a:prstGeom>
          <a:noFill/>
        </p:spPr>
        <p:txBody>
          <a:bodyPr wrap="square">
            <a:spAutoFit/>
          </a:bodyPr>
          <a:lstStyle/>
          <a:p>
            <a:pPr>
              <a:defRPr sz="1300" b="1">
                <a:solidFill>
                  <a:srgbClr val="2E86C1"/>
                </a:solidFill>
                <a:latin typeface="Microsoft YaHei"/>
              </a:defRPr>
            </a:pPr>
            <a:r>
              <a:t>国家反垄断局的独立挂牌，标志着我国反垄断执法体制实现了高度专业化与统一化。</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
            <a:ext cx="5486400" cy="320040"/>
          </a:xfrm>
          <a:prstGeom prst="rect">
            <a:avLst/>
          </a:prstGeom>
          <a:noFill/>
        </p:spPr>
        <p:txBody>
          <a:bodyPr wrap="square">
            <a:spAutoFit/>
          </a:bodyPr>
          <a:lstStyle/>
          <a:p>
            <a:pPr>
              <a:defRPr sz="1200" b="1">
                <a:solidFill>
                  <a:srgbClr val="2E86C1"/>
                </a:solidFill>
                <a:latin typeface="Microsoft YaHei"/>
              </a:defRPr>
            </a:pPr>
            <a:r>
              <a:t>第二节 我国的竞争政策</a:t>
            </a:r>
          </a:p>
        </p:txBody>
      </p:sp>
      <p:sp>
        <p:nvSpPr>
          <p:cNvPr id="5" name="TextBox 4"/>
          <p:cNvSpPr txBox="1"/>
          <p:nvPr/>
        </p:nvSpPr>
        <p:spPr>
          <a:xfrm>
            <a:off x="457200" y="502920"/>
            <a:ext cx="10515600" cy="548640"/>
          </a:xfrm>
          <a:prstGeom prst="rect">
            <a:avLst/>
          </a:prstGeom>
          <a:noFill/>
        </p:spPr>
        <p:txBody>
          <a:bodyPr wrap="square">
            <a:spAutoFit/>
          </a:bodyPr>
          <a:lstStyle/>
          <a:p>
            <a:pPr>
              <a:defRPr sz="2600" b="1">
                <a:solidFill>
                  <a:srgbClr val="1B3A5C"/>
                </a:solidFill>
                <a:latin typeface="Microsoft YaHei"/>
              </a:defRPr>
            </a:pPr>
            <a:r>
              <a:t>WTO 框架下的国际竞争政策协调</a:t>
            </a:r>
          </a:p>
        </p:txBody>
      </p:sp>
      <p:sp>
        <p:nvSpPr>
          <p:cNvPr id="6" name="Rectangle 5"/>
          <p:cNvSpPr/>
          <p:nvPr/>
        </p:nvSpPr>
        <p:spPr>
          <a:xfrm>
            <a:off x="457200" y="1078992"/>
            <a:ext cx="1097280" cy="3657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a:spAutoFit/>
          </a:bodyPr>
          <a:lstStyle/>
          <a:p>
            <a:pPr>
              <a:defRPr sz="1000">
                <a:solidFill>
                  <a:srgbClr val="6B6B6B"/>
                </a:solidFill>
                <a:latin typeface="Microsoft YaHei"/>
              </a:defRPr>
            </a:pPr>
            <a:r>
              <a:t>产业经济学 · 刘志彪（第3版）</a:t>
            </a:r>
          </a:p>
        </p:txBody>
      </p:sp>
      <p:sp>
        <p:nvSpPr>
          <p:cNvPr id="8" name="TextBox 7"/>
          <p:cNvSpPr txBox="1"/>
          <p:nvPr/>
        </p:nvSpPr>
        <p:spPr>
          <a:xfrm>
            <a:off x="11155680" y="6400800"/>
            <a:ext cx="731520" cy="320040"/>
          </a:xfrm>
          <a:prstGeom prst="rect">
            <a:avLst/>
          </a:prstGeom>
          <a:noFill/>
        </p:spPr>
        <p:txBody>
          <a:bodyPr wrap="none">
            <a:spAutoFit/>
          </a:bodyPr>
          <a:lstStyle/>
          <a:p>
            <a:pPr algn="r">
              <a:defRPr sz="1100">
                <a:solidFill>
                  <a:srgbClr val="6B6B6B"/>
                </a:solidFill>
                <a:latin typeface="Microsoft YaHei"/>
              </a:defRPr>
            </a:pPr>
            <a:r>
              <a:t>26</a:t>
            </a:r>
          </a:p>
        </p:txBody>
      </p:sp>
      <p:sp>
        <p:nvSpPr>
          <p:cNvPr id="9" name="Rectangle 8"/>
          <p:cNvSpPr/>
          <p:nvPr/>
        </p:nvSpPr>
        <p:spPr>
          <a:xfrm>
            <a:off x="45720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8640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399032"/>
            <a:ext cx="5120640" cy="365760"/>
          </a:xfrm>
          <a:prstGeom prst="rect">
            <a:avLst/>
          </a:prstGeom>
          <a:noFill/>
        </p:spPr>
        <p:txBody>
          <a:bodyPr wrap="none">
            <a:spAutoFit/>
          </a:bodyPr>
          <a:lstStyle/>
          <a:p>
            <a:pPr>
              <a:defRPr sz="1600" b="1">
                <a:solidFill>
                  <a:srgbClr val="FFFFFF"/>
                </a:solidFill>
                <a:latin typeface="Microsoft YaHei"/>
              </a:defRPr>
            </a:pPr>
            <a:r>
              <a:t>国际竞争挑战与 WTO 基本原则</a:t>
            </a:r>
          </a:p>
        </p:txBody>
      </p:sp>
      <p:sp>
        <p:nvSpPr>
          <p:cNvPr id="12" name="TextBox 11"/>
          <p:cNvSpPr txBox="1"/>
          <p:nvPr/>
        </p:nvSpPr>
        <p:spPr>
          <a:xfrm>
            <a:off x="64008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跨国卡特尔危害：维生素、石墨电极等国际卡特尔对发展中国家危害极大。</a:t>
            </a:r>
          </a:p>
          <a:p>
            <a:pPr>
              <a:spcAft>
                <a:spcPts val="600"/>
              </a:spcAft>
              <a:defRPr sz="1300">
                <a:solidFill>
                  <a:srgbClr val="2C2C2C"/>
                </a:solidFill>
                <a:latin typeface="Microsoft YaHei"/>
              </a:defRPr>
            </a:pPr>
            <a:r>
              <a:t>· WTO四大原则体现：国民待遇、最惠国待遇、透明度、程序合理原则。</a:t>
            </a:r>
          </a:p>
          <a:p>
            <a:pPr>
              <a:spcAft>
                <a:spcPts val="600"/>
              </a:spcAft>
              <a:defRPr sz="1300">
                <a:solidFill>
                  <a:srgbClr val="2C2C2C"/>
                </a:solidFill>
                <a:latin typeface="Microsoft YaHei"/>
              </a:defRPr>
            </a:pPr>
            <a:r>
              <a:t>· TRIPS 协定第8条：允许成员方采取措施防止知识产权所有人滥用知识产权限制贸易。</a:t>
            </a:r>
          </a:p>
        </p:txBody>
      </p:sp>
      <p:sp>
        <p:nvSpPr>
          <p:cNvPr id="13" name="Rectangle 12"/>
          <p:cNvSpPr/>
          <p:nvPr/>
        </p:nvSpPr>
        <p:spPr>
          <a:xfrm>
            <a:off x="621792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325880"/>
            <a:ext cx="548640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399032"/>
            <a:ext cx="5120640" cy="365760"/>
          </a:xfrm>
          <a:prstGeom prst="rect">
            <a:avLst/>
          </a:prstGeom>
          <a:noFill/>
        </p:spPr>
        <p:txBody>
          <a:bodyPr wrap="none">
            <a:spAutoFit/>
          </a:bodyPr>
          <a:lstStyle/>
          <a:p>
            <a:pPr>
              <a:defRPr sz="1600" b="1">
                <a:solidFill>
                  <a:srgbClr val="FFFFFF"/>
                </a:solidFill>
                <a:latin typeface="Microsoft YaHei"/>
              </a:defRPr>
            </a:pPr>
            <a:r>
              <a:t>多边协调机制与中国适应</a:t>
            </a:r>
          </a:p>
        </p:txBody>
      </p:sp>
      <p:sp>
        <p:nvSpPr>
          <p:cNvPr id="16" name="TextBox 15"/>
          <p:cNvSpPr txBox="1"/>
          <p:nvPr/>
        </p:nvSpPr>
        <p:spPr>
          <a:xfrm>
            <a:off x="640080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局限：WTO 原则上仅规制政府市场壁垒，对私人限制竞争缺乏直接管辖权。</a:t>
            </a:r>
          </a:p>
          <a:p>
            <a:pPr>
              <a:spcAft>
                <a:spcPts val="600"/>
              </a:spcAft>
              <a:defRPr sz="1300">
                <a:solidFill>
                  <a:srgbClr val="2C2C2C"/>
                </a:solidFill>
                <a:latin typeface="Microsoft YaHei"/>
              </a:defRPr>
            </a:pPr>
            <a:r>
              <a:t>· 国际合作：美欧1991合作协定；欧盟主张在 WTO 框架下建立多边竞争协议。</a:t>
            </a:r>
          </a:p>
          <a:p>
            <a:pPr>
              <a:spcAft>
                <a:spcPts val="600"/>
              </a:spcAft>
              <a:defRPr sz="1300">
                <a:solidFill>
                  <a:srgbClr val="2C2C2C"/>
                </a:solidFill>
                <a:latin typeface="Microsoft YaHei"/>
              </a:defRPr>
            </a:pPr>
            <a:r>
              <a:t>· 中国回应：反垄断法高度契合透明度原则，在国家援助与 WTO 规制间寻求动态平衡。</a:t>
            </a:r>
          </a:p>
        </p:txBody>
      </p:sp>
      <p:sp>
        <p:nvSpPr>
          <p:cNvPr id="17" name="TextBox 16"/>
          <p:cNvSpPr txBox="1"/>
          <p:nvPr/>
        </p:nvSpPr>
        <p:spPr>
          <a:xfrm>
            <a:off x="457200" y="5897880"/>
            <a:ext cx="11274552" cy="411480"/>
          </a:xfrm>
          <a:prstGeom prst="rect">
            <a:avLst/>
          </a:prstGeom>
          <a:noFill/>
        </p:spPr>
        <p:txBody>
          <a:bodyPr wrap="square">
            <a:spAutoFit/>
          </a:bodyPr>
          <a:lstStyle/>
          <a:p>
            <a:pPr>
              <a:defRPr sz="1300" b="1">
                <a:solidFill>
                  <a:srgbClr val="2E86C1"/>
                </a:solidFill>
                <a:latin typeface="Microsoft YaHei"/>
              </a:defRPr>
            </a:pPr>
            <a:r>
              <a:t>积极参与国际竞争政策协调，有助于遏制跨国公司限制竞争行为，提升我国国际话语权。</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B3A5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103120"/>
            <a:ext cx="4572000" cy="731520"/>
          </a:xfrm>
          <a:prstGeom prst="rect">
            <a:avLst/>
          </a:prstGeom>
          <a:noFill/>
        </p:spPr>
        <p:txBody>
          <a:bodyPr wrap="none">
            <a:spAutoFit/>
          </a:bodyPr>
          <a:lstStyle/>
          <a:p>
            <a:pPr>
              <a:defRPr sz="2800" b="1">
                <a:solidFill>
                  <a:srgbClr val="D6EAF8"/>
                </a:solidFill>
                <a:latin typeface="Microsoft YaHei"/>
              </a:defRPr>
            </a:pPr>
            <a:r>
              <a:t>第三节</a:t>
            </a:r>
          </a:p>
        </p:txBody>
      </p:sp>
      <p:sp>
        <p:nvSpPr>
          <p:cNvPr id="4" name="TextBox 3"/>
          <p:cNvSpPr txBox="1"/>
          <p:nvPr/>
        </p:nvSpPr>
        <p:spPr>
          <a:xfrm>
            <a:off x="914400" y="2834640"/>
            <a:ext cx="10058400" cy="1097280"/>
          </a:xfrm>
          <a:prstGeom prst="rect">
            <a:avLst/>
          </a:prstGeom>
          <a:noFill/>
        </p:spPr>
        <p:txBody>
          <a:bodyPr wrap="none">
            <a:spAutoFit/>
          </a:bodyPr>
          <a:lstStyle/>
          <a:p>
            <a:pPr>
              <a:defRPr sz="4400" b="1">
                <a:solidFill>
                  <a:srgbClr val="FFFFFF"/>
                </a:solidFill>
                <a:latin typeface="Microsoft YaHei"/>
              </a:defRPr>
            </a:pPr>
            <a:r>
              <a:t>管制政策</a:t>
            </a:r>
          </a:p>
        </p:txBody>
      </p:sp>
      <p:sp>
        <p:nvSpPr>
          <p:cNvPr id="5" name="TextBox 4"/>
          <p:cNvSpPr txBox="1"/>
          <p:nvPr/>
        </p:nvSpPr>
        <p:spPr>
          <a:xfrm>
            <a:off x="914400" y="4023360"/>
            <a:ext cx="10058400" cy="731520"/>
          </a:xfrm>
          <a:prstGeom prst="rect">
            <a:avLst/>
          </a:prstGeom>
          <a:noFill/>
        </p:spPr>
        <p:txBody>
          <a:bodyPr wrap="none">
            <a:spAutoFit/>
          </a:bodyPr>
          <a:lstStyle/>
          <a:p>
            <a:pPr>
              <a:defRPr sz="1800">
                <a:solidFill>
                  <a:srgbClr val="D6EAF8"/>
                </a:solidFill>
                <a:latin typeface="Microsoft YaHei"/>
              </a:defRPr>
            </a:pPr>
            <a:r>
              <a:t>经济管制 · 自然垄断困境 · 价格管制模式 · 竞标与公有企业</a:t>
            </a:r>
          </a:p>
        </p:txBody>
      </p:sp>
      <p:sp>
        <p:nvSpPr>
          <p:cNvPr id="6" name="TextBox 5"/>
          <p:cNvSpPr txBox="1"/>
          <p:nvPr/>
        </p:nvSpPr>
        <p:spPr>
          <a:xfrm>
            <a:off x="914400" y="6217920"/>
            <a:ext cx="731520" cy="320040"/>
          </a:xfrm>
          <a:prstGeom prst="rect">
            <a:avLst/>
          </a:prstGeom>
          <a:noFill/>
        </p:spPr>
        <p:txBody>
          <a:bodyPr wrap="none">
            <a:spAutoFit/>
          </a:bodyPr>
          <a:lstStyle/>
          <a:p>
            <a:pPr>
              <a:defRPr sz="1100">
                <a:solidFill>
                  <a:srgbClr val="D6EAF8"/>
                </a:solidFill>
                <a:latin typeface="Microsoft YaHei"/>
              </a:defRPr>
            </a:pPr>
            <a: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
            <a:ext cx="5486400" cy="320040"/>
          </a:xfrm>
          <a:prstGeom prst="rect">
            <a:avLst/>
          </a:prstGeom>
          <a:noFill/>
        </p:spPr>
        <p:txBody>
          <a:bodyPr wrap="square">
            <a:spAutoFit/>
          </a:bodyPr>
          <a:lstStyle/>
          <a:p>
            <a:pPr>
              <a:defRPr sz="1200" b="1">
                <a:solidFill>
                  <a:srgbClr val="2E86C1"/>
                </a:solidFill>
                <a:latin typeface="Microsoft YaHei"/>
              </a:defRPr>
            </a:pPr>
            <a:r>
              <a:t>第三节 管制政策</a:t>
            </a:r>
          </a:p>
        </p:txBody>
      </p:sp>
      <p:sp>
        <p:nvSpPr>
          <p:cNvPr id="5" name="TextBox 4"/>
          <p:cNvSpPr txBox="1"/>
          <p:nvPr/>
        </p:nvSpPr>
        <p:spPr>
          <a:xfrm>
            <a:off x="457200" y="502920"/>
            <a:ext cx="10515600" cy="548640"/>
          </a:xfrm>
          <a:prstGeom prst="rect">
            <a:avLst/>
          </a:prstGeom>
          <a:noFill/>
        </p:spPr>
        <p:txBody>
          <a:bodyPr wrap="square">
            <a:spAutoFit/>
          </a:bodyPr>
          <a:lstStyle/>
          <a:p>
            <a:pPr>
              <a:defRPr sz="2600" b="1">
                <a:solidFill>
                  <a:srgbClr val="1B3A5C"/>
                </a:solidFill>
                <a:latin typeface="Microsoft YaHei"/>
              </a:defRPr>
            </a:pPr>
            <a:r>
              <a:t>管制政策的基本概念与分类</a:t>
            </a:r>
          </a:p>
        </p:txBody>
      </p:sp>
      <p:sp>
        <p:nvSpPr>
          <p:cNvPr id="6" name="Rectangle 5"/>
          <p:cNvSpPr/>
          <p:nvPr/>
        </p:nvSpPr>
        <p:spPr>
          <a:xfrm>
            <a:off x="457200" y="1078992"/>
            <a:ext cx="1097280" cy="3657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a:spAutoFit/>
          </a:bodyPr>
          <a:lstStyle/>
          <a:p>
            <a:pPr>
              <a:defRPr sz="1000">
                <a:solidFill>
                  <a:srgbClr val="6B6B6B"/>
                </a:solidFill>
                <a:latin typeface="Microsoft YaHei"/>
              </a:defRPr>
            </a:pPr>
            <a:r>
              <a:t>产业经济学 · 刘志彪（第3版）</a:t>
            </a:r>
          </a:p>
        </p:txBody>
      </p:sp>
      <p:sp>
        <p:nvSpPr>
          <p:cNvPr id="8" name="TextBox 7"/>
          <p:cNvSpPr txBox="1"/>
          <p:nvPr/>
        </p:nvSpPr>
        <p:spPr>
          <a:xfrm>
            <a:off x="11155680" y="6400800"/>
            <a:ext cx="731520" cy="320040"/>
          </a:xfrm>
          <a:prstGeom prst="rect">
            <a:avLst/>
          </a:prstGeom>
          <a:noFill/>
        </p:spPr>
        <p:txBody>
          <a:bodyPr wrap="none">
            <a:spAutoFit/>
          </a:bodyPr>
          <a:lstStyle/>
          <a:p>
            <a:pPr algn="r">
              <a:defRPr sz="1100">
                <a:solidFill>
                  <a:srgbClr val="6B6B6B"/>
                </a:solidFill>
                <a:latin typeface="Microsoft YaHei"/>
              </a:defRPr>
            </a:pPr>
            <a:r>
              <a:t>28</a:t>
            </a:r>
          </a:p>
        </p:txBody>
      </p:sp>
      <p:sp>
        <p:nvSpPr>
          <p:cNvPr id="9" name="Rectangle 8"/>
          <p:cNvSpPr/>
          <p:nvPr/>
        </p:nvSpPr>
        <p:spPr>
          <a:xfrm>
            <a:off x="45720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8640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399032"/>
            <a:ext cx="5120640" cy="365760"/>
          </a:xfrm>
          <a:prstGeom prst="rect">
            <a:avLst/>
          </a:prstGeom>
          <a:noFill/>
        </p:spPr>
        <p:txBody>
          <a:bodyPr wrap="none">
            <a:spAutoFit/>
          </a:bodyPr>
          <a:lstStyle/>
          <a:p>
            <a:pPr>
              <a:defRPr sz="1600" b="1">
                <a:solidFill>
                  <a:srgbClr val="FFFFFF"/>
                </a:solidFill>
                <a:latin typeface="Microsoft YaHei"/>
              </a:defRPr>
            </a:pPr>
            <a:r>
              <a:t>经济管制 (Economic Regulation)</a:t>
            </a:r>
          </a:p>
        </p:txBody>
      </p:sp>
      <p:sp>
        <p:nvSpPr>
          <p:cNvPr id="12" name="TextBox 11"/>
          <p:cNvSpPr txBox="1"/>
          <p:nvPr/>
        </p:nvSpPr>
        <p:spPr>
          <a:xfrm>
            <a:off x="64008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概念：政府对特定行业企业的价格、产量、进入与退出等决策进行的行政干预与限制。</a:t>
            </a:r>
          </a:p>
          <a:p>
            <a:pPr>
              <a:spcAft>
                <a:spcPts val="600"/>
              </a:spcAft>
              <a:defRPr sz="1300">
                <a:solidFill>
                  <a:srgbClr val="2C2C2C"/>
                </a:solidFill>
                <a:latin typeface="Microsoft YaHei"/>
              </a:defRPr>
            </a:pPr>
            <a:r>
              <a:t>· 典型行业：电力、天然气、自来水、铁路、电信等公用事业。</a:t>
            </a:r>
          </a:p>
          <a:p>
            <a:pPr>
              <a:spcAft>
                <a:spcPts val="600"/>
              </a:spcAft>
              <a:defRPr sz="1300">
                <a:solidFill>
                  <a:srgbClr val="2C2C2C"/>
                </a:solidFill>
                <a:latin typeface="Microsoft YaHei"/>
              </a:defRPr>
            </a:pPr>
            <a:r>
              <a:t>· 法规实例：《城市供水条例》规定“生活用水保本微利、生产经营合理计价”。</a:t>
            </a:r>
          </a:p>
        </p:txBody>
      </p:sp>
      <p:sp>
        <p:nvSpPr>
          <p:cNvPr id="13" name="Rectangle 12"/>
          <p:cNvSpPr/>
          <p:nvPr/>
        </p:nvSpPr>
        <p:spPr>
          <a:xfrm>
            <a:off x="621792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325880"/>
            <a:ext cx="5486400" cy="502920"/>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399032"/>
            <a:ext cx="5120640" cy="365760"/>
          </a:xfrm>
          <a:prstGeom prst="rect">
            <a:avLst/>
          </a:prstGeom>
          <a:noFill/>
        </p:spPr>
        <p:txBody>
          <a:bodyPr wrap="none">
            <a:spAutoFit/>
          </a:bodyPr>
          <a:lstStyle/>
          <a:p>
            <a:pPr>
              <a:defRPr sz="1600" b="1">
                <a:solidFill>
                  <a:srgbClr val="FFFFFF"/>
                </a:solidFill>
                <a:latin typeface="Microsoft YaHei"/>
              </a:defRPr>
            </a:pPr>
            <a:r>
              <a:t>社会管制 (Social Regulation)</a:t>
            </a:r>
          </a:p>
        </p:txBody>
      </p:sp>
      <p:sp>
        <p:nvSpPr>
          <p:cNvPr id="16" name="TextBox 15"/>
          <p:cNvSpPr txBox="1"/>
          <p:nvPr/>
        </p:nvSpPr>
        <p:spPr>
          <a:xfrm>
            <a:off x="640080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概念：针对环境风险、工作场所安全及消费产品风险制定的保护性法规。</a:t>
            </a:r>
          </a:p>
          <a:p>
            <a:pPr>
              <a:spcAft>
                <a:spcPts val="600"/>
              </a:spcAft>
              <a:defRPr sz="1300">
                <a:solidFill>
                  <a:srgbClr val="2C2C2C"/>
                </a:solidFill>
                <a:latin typeface="Microsoft YaHei"/>
              </a:defRPr>
            </a:pPr>
            <a:r>
              <a:t>· 三大领域：环境保护管制、职业健康与安全管制、食品药品安全管制。</a:t>
            </a:r>
          </a:p>
          <a:p>
            <a:pPr>
              <a:spcAft>
                <a:spcPts val="600"/>
              </a:spcAft>
              <a:defRPr sz="1300">
                <a:solidFill>
                  <a:srgbClr val="2C2C2C"/>
                </a:solidFill>
                <a:latin typeface="Microsoft YaHei"/>
              </a:defRPr>
            </a:pPr>
            <a:r>
              <a:t>· 本节聚焦：受篇幅所限，本章重点深化探讨“经济管制”。</a:t>
            </a:r>
          </a:p>
        </p:txBody>
      </p:sp>
      <p:sp>
        <p:nvSpPr>
          <p:cNvPr id="17" name="TextBox 16"/>
          <p:cNvSpPr txBox="1"/>
          <p:nvPr/>
        </p:nvSpPr>
        <p:spPr>
          <a:xfrm>
            <a:off x="457200" y="5897880"/>
            <a:ext cx="11274552" cy="411480"/>
          </a:xfrm>
          <a:prstGeom prst="rect">
            <a:avLst/>
          </a:prstGeom>
          <a:noFill/>
        </p:spPr>
        <p:txBody>
          <a:bodyPr wrap="square">
            <a:spAutoFit/>
          </a:bodyPr>
          <a:lstStyle/>
          <a:p>
            <a:pPr>
              <a:defRPr sz="1300" b="1">
                <a:solidFill>
                  <a:srgbClr val="1B3A5C"/>
                </a:solidFill>
                <a:latin typeface="Microsoft YaHei"/>
              </a:defRPr>
            </a:pPr>
            <a:r>
              <a:t>市场机制在公用事业领域存在天然失灵，政府经济管制是维持基础公用事业运转的必要手段。</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
            <a:ext cx="5486400" cy="320040"/>
          </a:xfrm>
          <a:prstGeom prst="rect">
            <a:avLst/>
          </a:prstGeom>
          <a:noFill/>
        </p:spPr>
        <p:txBody>
          <a:bodyPr wrap="square">
            <a:spAutoFit/>
          </a:bodyPr>
          <a:lstStyle/>
          <a:p>
            <a:pPr>
              <a:defRPr sz="1200" b="1">
                <a:solidFill>
                  <a:srgbClr val="2E86C1"/>
                </a:solidFill>
                <a:latin typeface="Microsoft YaHei"/>
              </a:defRPr>
            </a:pPr>
            <a:r>
              <a:t>第三节 管制政策</a:t>
            </a:r>
          </a:p>
        </p:txBody>
      </p:sp>
      <p:sp>
        <p:nvSpPr>
          <p:cNvPr id="5" name="TextBox 4"/>
          <p:cNvSpPr txBox="1"/>
          <p:nvPr/>
        </p:nvSpPr>
        <p:spPr>
          <a:xfrm>
            <a:off x="457200" y="502920"/>
            <a:ext cx="10515600" cy="548640"/>
          </a:xfrm>
          <a:prstGeom prst="rect">
            <a:avLst/>
          </a:prstGeom>
          <a:noFill/>
        </p:spPr>
        <p:txBody>
          <a:bodyPr wrap="square">
            <a:spAutoFit/>
          </a:bodyPr>
          <a:lstStyle/>
          <a:p>
            <a:pPr>
              <a:defRPr sz="2600" b="1">
                <a:solidFill>
                  <a:srgbClr val="1B3A5C"/>
                </a:solidFill>
                <a:latin typeface="Microsoft YaHei"/>
              </a:defRPr>
            </a:pPr>
            <a:r>
              <a:t>管制原因：自然垄断与网络成本结构</a:t>
            </a:r>
          </a:p>
        </p:txBody>
      </p:sp>
      <p:sp>
        <p:nvSpPr>
          <p:cNvPr id="6" name="Rectangle 5"/>
          <p:cNvSpPr/>
          <p:nvPr/>
        </p:nvSpPr>
        <p:spPr>
          <a:xfrm>
            <a:off x="457200" y="1078992"/>
            <a:ext cx="1097280" cy="3657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a:spAutoFit/>
          </a:bodyPr>
          <a:lstStyle/>
          <a:p>
            <a:pPr>
              <a:defRPr sz="1000">
                <a:solidFill>
                  <a:srgbClr val="6B6B6B"/>
                </a:solidFill>
                <a:latin typeface="Microsoft YaHei"/>
              </a:defRPr>
            </a:pPr>
            <a:r>
              <a:t>产业经济学 · 刘志彪（第3版）</a:t>
            </a:r>
          </a:p>
        </p:txBody>
      </p:sp>
      <p:sp>
        <p:nvSpPr>
          <p:cNvPr id="8" name="TextBox 7"/>
          <p:cNvSpPr txBox="1"/>
          <p:nvPr/>
        </p:nvSpPr>
        <p:spPr>
          <a:xfrm>
            <a:off x="11155680" y="6400800"/>
            <a:ext cx="731520" cy="320040"/>
          </a:xfrm>
          <a:prstGeom prst="rect">
            <a:avLst/>
          </a:prstGeom>
          <a:noFill/>
        </p:spPr>
        <p:txBody>
          <a:bodyPr wrap="none">
            <a:spAutoFit/>
          </a:bodyPr>
          <a:lstStyle/>
          <a:p>
            <a:pPr algn="r">
              <a:defRPr sz="1100">
                <a:solidFill>
                  <a:srgbClr val="6B6B6B"/>
                </a:solidFill>
                <a:latin typeface="Microsoft YaHei"/>
              </a:defRPr>
            </a:pPr>
            <a:r>
              <a:t>29</a:t>
            </a:r>
          </a:p>
        </p:txBody>
      </p:sp>
      <p:sp>
        <p:nvSpPr>
          <p:cNvPr id="9" name="Rectangle 8"/>
          <p:cNvSpPr/>
          <p:nvPr/>
        </p:nvSpPr>
        <p:spPr>
          <a:xfrm>
            <a:off x="45720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8640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399032"/>
            <a:ext cx="5120640" cy="365760"/>
          </a:xfrm>
          <a:prstGeom prst="rect">
            <a:avLst/>
          </a:prstGeom>
          <a:noFill/>
        </p:spPr>
        <p:txBody>
          <a:bodyPr wrap="none">
            <a:spAutoFit/>
          </a:bodyPr>
          <a:lstStyle/>
          <a:p>
            <a:pPr>
              <a:defRPr sz="1600" b="1">
                <a:solidFill>
                  <a:srgbClr val="FFFFFF"/>
                </a:solidFill>
                <a:latin typeface="Microsoft YaHei"/>
              </a:defRPr>
            </a:pPr>
            <a:r>
              <a:t>自然垄断 (Natural Monopoly) 的定义</a:t>
            </a:r>
          </a:p>
        </p:txBody>
      </p:sp>
      <p:sp>
        <p:nvSpPr>
          <p:cNvPr id="12" name="TextBox 11"/>
          <p:cNvSpPr txBox="1"/>
          <p:nvPr/>
        </p:nvSpPr>
        <p:spPr>
          <a:xfrm>
            <a:off x="64008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定义：当一种产品或服务的生产由一家厂商单独完成时总成本最小，该产业即为自然垄断产业。</a:t>
            </a:r>
          </a:p>
          <a:p>
            <a:pPr>
              <a:spcAft>
                <a:spcPts val="600"/>
              </a:spcAft>
              <a:defRPr sz="1300">
                <a:solidFill>
                  <a:srgbClr val="2C2C2C"/>
                </a:solidFill>
                <a:latin typeface="Microsoft YaHei"/>
              </a:defRPr>
            </a:pPr>
            <a:r>
              <a:t>· 核心特征：具备巨额固定资产投入构成的网络供应系统（电网、路网、管道网等）。</a:t>
            </a:r>
          </a:p>
          <a:p>
            <a:pPr>
              <a:spcAft>
                <a:spcPts val="600"/>
              </a:spcAft>
              <a:defRPr sz="1300">
                <a:solidFill>
                  <a:srgbClr val="2C2C2C"/>
                </a:solidFill>
                <a:latin typeface="Microsoft YaHei"/>
              </a:defRPr>
            </a:pPr>
            <a:r>
              <a:t>· 成本递减：固定成本比重极高，随规模扩张，单位边际成本（MC）与平均成本（AC）持续下降。</a:t>
            </a:r>
          </a:p>
        </p:txBody>
      </p:sp>
      <p:sp>
        <p:nvSpPr>
          <p:cNvPr id="13" name="Rectangle 12"/>
          <p:cNvSpPr/>
          <p:nvPr/>
        </p:nvSpPr>
        <p:spPr>
          <a:xfrm>
            <a:off x="621792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325880"/>
            <a:ext cx="5486400" cy="502920"/>
          </a:xfrm>
          <a:prstGeom prst="rect">
            <a:avLst/>
          </a:prstGeom>
          <a:solidFill>
            <a:srgbClr val="C84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399032"/>
            <a:ext cx="5120640" cy="365760"/>
          </a:xfrm>
          <a:prstGeom prst="rect">
            <a:avLst/>
          </a:prstGeom>
          <a:noFill/>
        </p:spPr>
        <p:txBody>
          <a:bodyPr wrap="none">
            <a:spAutoFit/>
          </a:bodyPr>
          <a:lstStyle/>
          <a:p>
            <a:pPr>
              <a:defRPr sz="1600" b="1">
                <a:solidFill>
                  <a:srgbClr val="FFFFFF"/>
                </a:solidFill>
                <a:latin typeface="Microsoft YaHei"/>
              </a:defRPr>
            </a:pPr>
            <a:r>
              <a:t>自然垄断的政策两难困境 (Dilemma)</a:t>
            </a:r>
          </a:p>
        </p:txBody>
      </p:sp>
      <p:sp>
        <p:nvSpPr>
          <p:cNvPr id="16" name="TextBox 15"/>
          <p:cNvSpPr txBox="1"/>
          <p:nvPr/>
        </p:nvSpPr>
        <p:spPr>
          <a:xfrm>
            <a:off x="640080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困境维度一（成本效率）：从生产效率看，全行业只需要一家企业经营即可实现成本最小化。</a:t>
            </a:r>
          </a:p>
          <a:p>
            <a:pPr>
              <a:spcAft>
                <a:spcPts val="600"/>
              </a:spcAft>
              <a:defRPr sz="1300">
                <a:solidFill>
                  <a:srgbClr val="2C2C2C"/>
                </a:solidFill>
                <a:latin typeface="Microsoft YaHei"/>
              </a:defRPr>
            </a:pPr>
            <a:r>
              <a:t>· 困境维度二（垄断高价）：若无管制，单一家企业会制定垄断高价 P_M，造成社会福利净损失。</a:t>
            </a:r>
          </a:p>
          <a:p>
            <a:pPr>
              <a:spcAft>
                <a:spcPts val="600"/>
              </a:spcAft>
              <a:defRPr sz="1300">
                <a:solidFill>
                  <a:srgbClr val="2C2C2C"/>
                </a:solidFill>
                <a:latin typeface="Microsoft YaHei"/>
              </a:defRPr>
            </a:pPr>
            <a:r>
              <a:t>· 困境维度三（过度进入）：若允许自由进入，潜在竞争者跟风重复建设网络，导致资源极大浪费。</a:t>
            </a:r>
          </a:p>
        </p:txBody>
      </p:sp>
      <p:sp>
        <p:nvSpPr>
          <p:cNvPr id="17" name="TextBox 16"/>
          <p:cNvSpPr txBox="1"/>
          <p:nvPr/>
        </p:nvSpPr>
        <p:spPr>
          <a:xfrm>
            <a:off x="457200" y="5897880"/>
            <a:ext cx="11274552" cy="411480"/>
          </a:xfrm>
          <a:prstGeom prst="rect">
            <a:avLst/>
          </a:prstGeom>
          <a:noFill/>
        </p:spPr>
        <p:txBody>
          <a:bodyPr wrap="square">
            <a:spAutoFit/>
          </a:bodyPr>
          <a:lstStyle/>
          <a:p>
            <a:pPr>
              <a:defRPr sz="1300" b="1">
                <a:solidFill>
                  <a:srgbClr val="C84B1B"/>
                </a:solidFill>
                <a:latin typeface="Microsoft YaHei"/>
              </a:defRPr>
            </a:pPr>
            <a:r>
              <a:t>自然垄断的两难困境：要么面对高价格垄断危害，要么面对重复建设过度竞争，必须引入政府管制。</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
            <a:ext cx="5486400" cy="320040"/>
          </a:xfrm>
          <a:prstGeom prst="rect">
            <a:avLst/>
          </a:prstGeom>
          <a:noFill/>
        </p:spPr>
        <p:txBody>
          <a:bodyPr wrap="square">
            <a:spAutoFit/>
          </a:bodyPr>
          <a:lstStyle/>
          <a:p>
            <a:pPr>
              <a:defRPr sz="1200" b="1">
                <a:solidFill>
                  <a:srgbClr val="2E86C1"/>
                </a:solidFill>
                <a:latin typeface="Microsoft YaHei"/>
              </a:defRPr>
            </a:pPr>
            <a:r>
              <a:t>第三节 管制政策</a:t>
            </a:r>
          </a:p>
        </p:txBody>
      </p:sp>
      <p:sp>
        <p:nvSpPr>
          <p:cNvPr id="5" name="TextBox 4"/>
          <p:cNvSpPr txBox="1"/>
          <p:nvPr/>
        </p:nvSpPr>
        <p:spPr>
          <a:xfrm>
            <a:off x="457200" y="502920"/>
            <a:ext cx="10515600" cy="548640"/>
          </a:xfrm>
          <a:prstGeom prst="rect">
            <a:avLst/>
          </a:prstGeom>
          <a:noFill/>
        </p:spPr>
        <p:txBody>
          <a:bodyPr wrap="square">
            <a:spAutoFit/>
          </a:bodyPr>
          <a:lstStyle/>
          <a:p>
            <a:pPr>
              <a:defRPr sz="2600" b="1">
                <a:solidFill>
                  <a:srgbClr val="1B3A5C"/>
                </a:solidFill>
                <a:latin typeface="Microsoft YaHei"/>
              </a:defRPr>
            </a:pPr>
            <a:r>
              <a:t>价格管制方式（一）：边际成本定价 vs 平均成本定价</a:t>
            </a:r>
          </a:p>
        </p:txBody>
      </p:sp>
      <p:sp>
        <p:nvSpPr>
          <p:cNvPr id="6" name="Rectangle 5"/>
          <p:cNvSpPr/>
          <p:nvPr/>
        </p:nvSpPr>
        <p:spPr>
          <a:xfrm>
            <a:off x="457200" y="1078992"/>
            <a:ext cx="1097280" cy="3657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a:spAutoFit/>
          </a:bodyPr>
          <a:lstStyle/>
          <a:p>
            <a:pPr>
              <a:defRPr sz="1000">
                <a:solidFill>
                  <a:srgbClr val="6B6B6B"/>
                </a:solidFill>
                <a:latin typeface="Microsoft YaHei"/>
              </a:defRPr>
            </a:pPr>
            <a:r>
              <a:t>产业经济学 · 刘志彪（第3版）</a:t>
            </a:r>
          </a:p>
        </p:txBody>
      </p:sp>
      <p:sp>
        <p:nvSpPr>
          <p:cNvPr id="8" name="TextBox 7"/>
          <p:cNvSpPr txBox="1"/>
          <p:nvPr/>
        </p:nvSpPr>
        <p:spPr>
          <a:xfrm>
            <a:off x="11155680" y="6400800"/>
            <a:ext cx="731520" cy="320040"/>
          </a:xfrm>
          <a:prstGeom prst="rect">
            <a:avLst/>
          </a:prstGeom>
          <a:noFill/>
        </p:spPr>
        <p:txBody>
          <a:bodyPr wrap="none">
            <a:spAutoFit/>
          </a:bodyPr>
          <a:lstStyle/>
          <a:p>
            <a:pPr algn="r">
              <a:defRPr sz="1100">
                <a:solidFill>
                  <a:srgbClr val="6B6B6B"/>
                </a:solidFill>
                <a:latin typeface="Microsoft YaHei"/>
              </a:defRPr>
            </a:pPr>
            <a:r>
              <a:t>30</a:t>
            </a:r>
          </a:p>
        </p:txBody>
      </p:sp>
      <p:sp>
        <p:nvSpPr>
          <p:cNvPr id="9" name="Rectangle 8"/>
          <p:cNvSpPr/>
          <p:nvPr/>
        </p:nvSpPr>
        <p:spPr>
          <a:xfrm>
            <a:off x="45720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86400" cy="502920"/>
          </a:xfrm>
          <a:prstGeom prst="rect">
            <a:avLst/>
          </a:prstGeom>
          <a:solidFill>
            <a:srgbClr val="C84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399032"/>
            <a:ext cx="5120640" cy="365760"/>
          </a:xfrm>
          <a:prstGeom prst="rect">
            <a:avLst/>
          </a:prstGeom>
          <a:noFill/>
        </p:spPr>
        <p:txBody>
          <a:bodyPr wrap="none">
            <a:spAutoFit/>
          </a:bodyPr>
          <a:lstStyle/>
          <a:p>
            <a:pPr>
              <a:defRPr sz="1600" b="1">
                <a:solidFill>
                  <a:srgbClr val="FFFFFF"/>
                </a:solidFill>
                <a:latin typeface="Microsoft YaHei"/>
              </a:defRPr>
            </a:pPr>
            <a:r>
              <a:t>1. 边际成本定价 (P = MC)</a:t>
            </a:r>
          </a:p>
        </p:txBody>
      </p:sp>
      <p:sp>
        <p:nvSpPr>
          <p:cNvPr id="12" name="TextBox 11"/>
          <p:cNvSpPr txBox="1"/>
          <p:nvPr/>
        </p:nvSpPr>
        <p:spPr>
          <a:xfrm>
            <a:off x="64008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理论最优：实现帕累托最优与社会福利最大化，福利损失为0。</a:t>
            </a:r>
          </a:p>
          <a:p>
            <a:pPr>
              <a:spcAft>
                <a:spcPts val="600"/>
              </a:spcAft>
              <a:defRPr sz="1300">
                <a:solidFill>
                  <a:srgbClr val="2C2C2C"/>
                </a:solidFill>
                <a:latin typeface="Microsoft YaHei"/>
              </a:defRPr>
            </a:pPr>
            <a:r>
              <a:t>· 现实致命缺陷：因 AC &gt; MC，企业必定面临巨额固定成本亏损！</a:t>
            </a:r>
          </a:p>
          <a:p>
            <a:pPr>
              <a:spcAft>
                <a:spcPts val="600"/>
              </a:spcAft>
              <a:defRPr sz="1300">
                <a:solidFill>
                  <a:srgbClr val="2C2C2C"/>
                </a:solidFill>
                <a:latin typeface="Microsoft YaHei"/>
              </a:defRPr>
            </a:pPr>
            <a:r>
              <a:t>· 财政补贴困境：若政府税收补贴，会产生无谓损失与管理者控本激励缺失（道德风险）。</a:t>
            </a:r>
          </a:p>
        </p:txBody>
      </p:sp>
      <p:sp>
        <p:nvSpPr>
          <p:cNvPr id="13" name="Rectangle 12"/>
          <p:cNvSpPr/>
          <p:nvPr/>
        </p:nvSpPr>
        <p:spPr>
          <a:xfrm>
            <a:off x="621792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325880"/>
            <a:ext cx="548640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399032"/>
            <a:ext cx="5120640" cy="365760"/>
          </a:xfrm>
          <a:prstGeom prst="rect">
            <a:avLst/>
          </a:prstGeom>
          <a:noFill/>
        </p:spPr>
        <p:txBody>
          <a:bodyPr wrap="none">
            <a:spAutoFit/>
          </a:bodyPr>
          <a:lstStyle/>
          <a:p>
            <a:pPr>
              <a:defRPr sz="1600" b="1">
                <a:solidFill>
                  <a:srgbClr val="FFFFFF"/>
                </a:solidFill>
                <a:latin typeface="Microsoft YaHei"/>
              </a:defRPr>
            </a:pPr>
            <a:r>
              <a:t>2. 平均成本定价 (P = AC / 次优)</a:t>
            </a:r>
          </a:p>
        </p:txBody>
      </p:sp>
      <p:sp>
        <p:nvSpPr>
          <p:cNvPr id="16" name="TextBox 15"/>
          <p:cNvSpPr txBox="1"/>
          <p:nvPr/>
        </p:nvSpPr>
        <p:spPr>
          <a:xfrm>
            <a:off x="640080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保本微利：企业总收益等于总成本，经济利润为零（实现合理资本回报率）。</a:t>
            </a:r>
          </a:p>
          <a:p>
            <a:pPr>
              <a:spcAft>
                <a:spcPts val="600"/>
              </a:spcAft>
              <a:defRPr sz="1300">
                <a:solidFill>
                  <a:srgbClr val="2C2C2C"/>
                </a:solidFill>
                <a:latin typeface="Microsoft YaHei"/>
              </a:defRPr>
            </a:pPr>
            <a:r>
              <a:t>· 现实应用：收益率管制（Rate of Return Regulation），如《城市供水条例》。</a:t>
            </a:r>
          </a:p>
          <a:p>
            <a:pPr>
              <a:spcAft>
                <a:spcPts val="600"/>
              </a:spcAft>
              <a:defRPr sz="1300">
                <a:solidFill>
                  <a:srgbClr val="2C2C2C"/>
                </a:solidFill>
                <a:latin typeface="Microsoft YaHei"/>
              </a:defRPr>
            </a:pPr>
            <a:r>
              <a:t>· 副作用：弱化控本增效动机；诱发 A-J 效应（过度使用资本过度投资以增加利润总额）。</a:t>
            </a:r>
          </a:p>
        </p:txBody>
      </p:sp>
      <p:sp>
        <p:nvSpPr>
          <p:cNvPr id="17" name="TextBox 16"/>
          <p:cNvSpPr txBox="1"/>
          <p:nvPr/>
        </p:nvSpPr>
        <p:spPr>
          <a:xfrm>
            <a:off x="457200" y="5897880"/>
            <a:ext cx="11274552" cy="411480"/>
          </a:xfrm>
          <a:prstGeom prst="rect">
            <a:avLst/>
          </a:prstGeom>
          <a:noFill/>
        </p:spPr>
        <p:txBody>
          <a:bodyPr wrap="square">
            <a:spAutoFit/>
          </a:bodyPr>
          <a:lstStyle/>
          <a:p>
            <a:pPr>
              <a:defRPr sz="1300" b="1">
                <a:solidFill>
                  <a:srgbClr val="C88C1B"/>
                </a:solidFill>
                <a:latin typeface="Microsoft YaHei"/>
              </a:defRPr>
            </a:pPr>
            <a:r>
              <a:t>边际成本定价社会最优但企业巨亏，平均成本定价解决生存但存在 A-J 效应等效率损失。</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
            <a:ext cx="5486400" cy="320040"/>
          </a:xfrm>
          <a:prstGeom prst="rect">
            <a:avLst/>
          </a:prstGeom>
          <a:noFill/>
        </p:spPr>
        <p:txBody>
          <a:bodyPr wrap="square">
            <a:spAutoFit/>
          </a:bodyPr>
          <a:lstStyle/>
          <a:p>
            <a:pPr>
              <a:defRPr sz="1200" b="1">
                <a:solidFill>
                  <a:srgbClr val="2E86C1"/>
                </a:solidFill>
                <a:latin typeface="Microsoft YaHei"/>
              </a:defRPr>
            </a:pPr>
            <a:r>
              <a:t>第三节 管制政策</a:t>
            </a:r>
          </a:p>
        </p:txBody>
      </p:sp>
      <p:sp>
        <p:nvSpPr>
          <p:cNvPr id="5" name="TextBox 4"/>
          <p:cNvSpPr txBox="1"/>
          <p:nvPr/>
        </p:nvSpPr>
        <p:spPr>
          <a:xfrm>
            <a:off x="457200" y="502920"/>
            <a:ext cx="10515600" cy="548640"/>
          </a:xfrm>
          <a:prstGeom prst="rect">
            <a:avLst/>
          </a:prstGeom>
          <a:noFill/>
        </p:spPr>
        <p:txBody>
          <a:bodyPr wrap="square">
            <a:spAutoFit/>
          </a:bodyPr>
          <a:lstStyle/>
          <a:p>
            <a:pPr>
              <a:defRPr sz="2600" b="1">
                <a:solidFill>
                  <a:srgbClr val="1B3A5C"/>
                </a:solidFill>
                <a:latin typeface="Microsoft YaHei"/>
              </a:defRPr>
            </a:pPr>
            <a:r>
              <a:t>价格管制方式（二）：两部分价目表 (Two-part Tariff)</a:t>
            </a:r>
          </a:p>
        </p:txBody>
      </p:sp>
      <p:sp>
        <p:nvSpPr>
          <p:cNvPr id="6" name="Rectangle 5"/>
          <p:cNvSpPr/>
          <p:nvPr/>
        </p:nvSpPr>
        <p:spPr>
          <a:xfrm>
            <a:off x="457200" y="1078992"/>
            <a:ext cx="1097280" cy="3657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a:spAutoFit/>
          </a:bodyPr>
          <a:lstStyle/>
          <a:p>
            <a:pPr>
              <a:defRPr sz="1000">
                <a:solidFill>
                  <a:srgbClr val="6B6B6B"/>
                </a:solidFill>
                <a:latin typeface="Microsoft YaHei"/>
              </a:defRPr>
            </a:pPr>
            <a:r>
              <a:t>产业经济学 · 刘志彪（第3版）</a:t>
            </a:r>
          </a:p>
        </p:txBody>
      </p:sp>
      <p:sp>
        <p:nvSpPr>
          <p:cNvPr id="8" name="TextBox 7"/>
          <p:cNvSpPr txBox="1"/>
          <p:nvPr/>
        </p:nvSpPr>
        <p:spPr>
          <a:xfrm>
            <a:off x="11155680" y="6400800"/>
            <a:ext cx="731520" cy="320040"/>
          </a:xfrm>
          <a:prstGeom prst="rect">
            <a:avLst/>
          </a:prstGeom>
          <a:noFill/>
        </p:spPr>
        <p:txBody>
          <a:bodyPr wrap="none">
            <a:spAutoFit/>
          </a:bodyPr>
          <a:lstStyle/>
          <a:p>
            <a:pPr algn="r">
              <a:defRPr sz="1100">
                <a:solidFill>
                  <a:srgbClr val="6B6B6B"/>
                </a:solidFill>
                <a:latin typeface="Microsoft YaHei"/>
              </a:defRPr>
            </a:pPr>
            <a:r>
              <a:t>31</a:t>
            </a:r>
          </a:p>
        </p:txBody>
      </p:sp>
      <p:sp>
        <p:nvSpPr>
          <p:cNvPr id="9" name="Rectangle 8"/>
          <p:cNvSpPr/>
          <p:nvPr/>
        </p:nvSpPr>
        <p:spPr>
          <a:xfrm>
            <a:off x="45720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8640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399032"/>
            <a:ext cx="5120640" cy="365760"/>
          </a:xfrm>
          <a:prstGeom prst="rect">
            <a:avLst/>
          </a:prstGeom>
          <a:noFill/>
        </p:spPr>
        <p:txBody>
          <a:bodyPr wrap="none">
            <a:spAutoFit/>
          </a:bodyPr>
          <a:lstStyle/>
          <a:p>
            <a:pPr>
              <a:defRPr sz="1600" b="1">
                <a:solidFill>
                  <a:srgbClr val="FFFFFF"/>
                </a:solidFill>
                <a:latin typeface="Microsoft YaHei"/>
              </a:defRPr>
            </a:pPr>
            <a:r>
              <a:t>两部分价目表基本机制</a:t>
            </a:r>
          </a:p>
        </p:txBody>
      </p:sp>
      <p:sp>
        <p:nvSpPr>
          <p:cNvPr id="12" name="TextBox 11"/>
          <p:cNvSpPr txBox="1"/>
          <p:nvPr/>
        </p:nvSpPr>
        <p:spPr>
          <a:xfrm>
            <a:off x="64008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构成：固定费用（Fixed Fee） + 计量使用费（Usage Fee）。</a:t>
            </a:r>
          </a:p>
          <a:p>
            <a:pPr>
              <a:spcAft>
                <a:spcPts val="600"/>
              </a:spcAft>
              <a:defRPr sz="1300">
                <a:solidFill>
                  <a:srgbClr val="2C2C2C"/>
                </a:solidFill>
                <a:latin typeface="Microsoft YaHei"/>
              </a:defRPr>
            </a:pPr>
            <a:r>
              <a:t>· 逻辑：固定费用平摊固定沉没成本 F/N；单位使用费设为边际成本 P = MC。</a:t>
            </a:r>
          </a:p>
          <a:p>
            <a:pPr>
              <a:spcAft>
                <a:spcPts val="600"/>
              </a:spcAft>
              <a:defRPr sz="1300">
                <a:solidFill>
                  <a:srgbClr val="2C2C2C"/>
                </a:solidFill>
                <a:latin typeface="Microsoft YaHei"/>
              </a:defRPr>
            </a:pPr>
            <a:r>
              <a:t>· 优势：既实现了使用阶段的边际成本效率定价，又确保了企业收回固定投资、不发生亏损。</a:t>
            </a:r>
          </a:p>
        </p:txBody>
      </p:sp>
      <p:sp>
        <p:nvSpPr>
          <p:cNvPr id="13" name="Rectangle 12"/>
          <p:cNvSpPr/>
          <p:nvPr/>
        </p:nvSpPr>
        <p:spPr>
          <a:xfrm>
            <a:off x="621792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325880"/>
            <a:ext cx="548640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399032"/>
            <a:ext cx="5120640" cy="365760"/>
          </a:xfrm>
          <a:prstGeom prst="rect">
            <a:avLst/>
          </a:prstGeom>
          <a:noFill/>
        </p:spPr>
        <p:txBody>
          <a:bodyPr wrap="none">
            <a:spAutoFit/>
          </a:bodyPr>
          <a:lstStyle/>
          <a:p>
            <a:pPr>
              <a:defRPr sz="1600" b="1">
                <a:solidFill>
                  <a:srgbClr val="FFFFFF"/>
                </a:solidFill>
                <a:latin typeface="Microsoft YaHei"/>
              </a:defRPr>
            </a:pPr>
            <a:r>
              <a:t>局限性与多部分价目表演化</a:t>
            </a:r>
          </a:p>
        </p:txBody>
      </p:sp>
      <p:sp>
        <p:nvSpPr>
          <p:cNvPr id="16" name="TextBox 15"/>
          <p:cNvSpPr txBox="1"/>
          <p:nvPr/>
        </p:nvSpPr>
        <p:spPr>
          <a:xfrm>
            <a:off x="640080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局限：统一的高额初装费会把低支付意愿消费者逐出市场（如90年代5000元电话初装费）。</a:t>
            </a:r>
          </a:p>
          <a:p>
            <a:pPr>
              <a:spcAft>
                <a:spcPts val="600"/>
              </a:spcAft>
              <a:defRPr sz="1300">
                <a:solidFill>
                  <a:srgbClr val="2C2C2C"/>
                </a:solidFill>
                <a:latin typeface="Microsoft YaHei"/>
              </a:defRPr>
            </a:pPr>
            <a:r>
              <a:t>· 演化：多部分价目表（套餐选择）。</a:t>
            </a:r>
          </a:p>
          <a:p>
            <a:pPr>
              <a:spcAft>
                <a:spcPts val="600"/>
              </a:spcAft>
              <a:defRPr sz="1300">
                <a:solidFill>
                  <a:srgbClr val="2C2C2C"/>
                </a:solidFill>
                <a:latin typeface="Microsoft YaHei"/>
              </a:defRPr>
            </a:pPr>
            <a:r>
              <a:t>· 实例：电信月租套餐（如58元/88元套餐），消费者根据偏好自选，不构成非法价格歧视。</a:t>
            </a:r>
          </a:p>
        </p:txBody>
      </p:sp>
      <p:sp>
        <p:nvSpPr>
          <p:cNvPr id="17" name="TextBox 16"/>
          <p:cNvSpPr txBox="1"/>
          <p:nvPr/>
        </p:nvSpPr>
        <p:spPr>
          <a:xfrm>
            <a:off x="457200" y="5897880"/>
            <a:ext cx="11274552" cy="411480"/>
          </a:xfrm>
          <a:prstGeom prst="rect">
            <a:avLst/>
          </a:prstGeom>
          <a:noFill/>
        </p:spPr>
        <p:txBody>
          <a:bodyPr wrap="square">
            <a:spAutoFit/>
          </a:bodyPr>
          <a:lstStyle/>
          <a:p>
            <a:pPr>
              <a:defRPr sz="1300" b="1">
                <a:solidFill>
                  <a:srgbClr val="1B3A5C"/>
                </a:solidFill>
                <a:latin typeface="Microsoft YaHei"/>
              </a:defRPr>
            </a:pPr>
            <a:r>
              <a:t>两部分价目表是兼顾“边际效率”与“成本回收”的极具智慧的非线性定价方案。</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
            <a:ext cx="5486400" cy="320040"/>
          </a:xfrm>
          <a:prstGeom prst="rect">
            <a:avLst/>
          </a:prstGeom>
          <a:noFill/>
        </p:spPr>
        <p:txBody>
          <a:bodyPr wrap="square">
            <a:spAutoFit/>
          </a:bodyPr>
          <a:lstStyle/>
          <a:p>
            <a:pPr>
              <a:defRPr sz="1200" b="1">
                <a:solidFill>
                  <a:srgbClr val="2E86C1"/>
                </a:solidFill>
                <a:latin typeface="Microsoft YaHei"/>
              </a:defRPr>
            </a:pPr>
            <a:r>
              <a:t>第三节 管制政策</a:t>
            </a:r>
          </a:p>
        </p:txBody>
      </p:sp>
      <p:sp>
        <p:nvSpPr>
          <p:cNvPr id="5" name="TextBox 4"/>
          <p:cNvSpPr txBox="1"/>
          <p:nvPr/>
        </p:nvSpPr>
        <p:spPr>
          <a:xfrm>
            <a:off x="457200" y="502920"/>
            <a:ext cx="10515600" cy="548640"/>
          </a:xfrm>
          <a:prstGeom prst="rect">
            <a:avLst/>
          </a:prstGeom>
          <a:noFill/>
        </p:spPr>
        <p:txBody>
          <a:bodyPr wrap="square">
            <a:spAutoFit/>
          </a:bodyPr>
          <a:lstStyle/>
          <a:p>
            <a:pPr>
              <a:defRPr sz="2600" b="1">
                <a:solidFill>
                  <a:srgbClr val="1B3A5C"/>
                </a:solidFill>
                <a:latin typeface="Microsoft YaHei"/>
              </a:defRPr>
            </a:pPr>
            <a:r>
              <a:t>价格管制方式（三）：拉姆齐定价原则 (Ramsey Pricing)</a:t>
            </a:r>
          </a:p>
        </p:txBody>
      </p:sp>
      <p:sp>
        <p:nvSpPr>
          <p:cNvPr id="6" name="Rectangle 5"/>
          <p:cNvSpPr/>
          <p:nvPr/>
        </p:nvSpPr>
        <p:spPr>
          <a:xfrm>
            <a:off x="457200" y="1078992"/>
            <a:ext cx="1097280" cy="3657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a:spAutoFit/>
          </a:bodyPr>
          <a:lstStyle/>
          <a:p>
            <a:pPr>
              <a:defRPr sz="1000">
                <a:solidFill>
                  <a:srgbClr val="6B6B6B"/>
                </a:solidFill>
                <a:latin typeface="Microsoft YaHei"/>
              </a:defRPr>
            </a:pPr>
            <a:r>
              <a:t>产业经济学 · 刘志彪（第3版）</a:t>
            </a:r>
          </a:p>
        </p:txBody>
      </p:sp>
      <p:sp>
        <p:nvSpPr>
          <p:cNvPr id="8" name="TextBox 7"/>
          <p:cNvSpPr txBox="1"/>
          <p:nvPr/>
        </p:nvSpPr>
        <p:spPr>
          <a:xfrm>
            <a:off x="11155680" y="6400800"/>
            <a:ext cx="731520" cy="320040"/>
          </a:xfrm>
          <a:prstGeom prst="rect">
            <a:avLst/>
          </a:prstGeom>
          <a:noFill/>
        </p:spPr>
        <p:txBody>
          <a:bodyPr wrap="none">
            <a:spAutoFit/>
          </a:bodyPr>
          <a:lstStyle/>
          <a:p>
            <a:pPr algn="r">
              <a:defRPr sz="1100">
                <a:solidFill>
                  <a:srgbClr val="6B6B6B"/>
                </a:solidFill>
                <a:latin typeface="Microsoft YaHei"/>
              </a:defRPr>
            </a:pPr>
            <a:r>
              <a:t>32</a:t>
            </a:r>
          </a:p>
        </p:txBody>
      </p:sp>
      <p:sp>
        <p:nvSpPr>
          <p:cNvPr id="9" name="Rectangle 8"/>
          <p:cNvSpPr/>
          <p:nvPr/>
        </p:nvSpPr>
        <p:spPr>
          <a:xfrm>
            <a:off x="45720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8640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399032"/>
            <a:ext cx="5120640" cy="365760"/>
          </a:xfrm>
          <a:prstGeom prst="rect">
            <a:avLst/>
          </a:prstGeom>
          <a:noFill/>
        </p:spPr>
        <p:txBody>
          <a:bodyPr wrap="none">
            <a:spAutoFit/>
          </a:bodyPr>
          <a:lstStyle/>
          <a:p>
            <a:pPr>
              <a:defRPr sz="1600" b="1">
                <a:solidFill>
                  <a:srgbClr val="FFFFFF"/>
                </a:solidFill>
                <a:latin typeface="Microsoft YaHei"/>
              </a:defRPr>
            </a:pPr>
            <a:r>
              <a:t>拉姆齐定价的核心数学逻辑</a:t>
            </a:r>
          </a:p>
        </p:txBody>
      </p:sp>
      <p:sp>
        <p:nvSpPr>
          <p:cNvPr id="12" name="TextBox 11"/>
          <p:cNvSpPr txBox="1"/>
          <p:nvPr/>
        </p:nvSpPr>
        <p:spPr>
          <a:xfrm>
            <a:off x="64008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解决问题：多产品/多用户自然垄断企业，如何在顾客间社会福利最优地分摊固定成本？</a:t>
            </a:r>
          </a:p>
          <a:p>
            <a:pPr>
              <a:spcAft>
                <a:spcPts val="600"/>
              </a:spcAft>
              <a:defRPr sz="1300">
                <a:solidFill>
                  <a:srgbClr val="2C2C2C"/>
                </a:solidFill>
                <a:latin typeface="Microsoft YaHei"/>
              </a:defRPr>
            </a:pPr>
            <a:r>
              <a:t>· 约束条件：企业总收益等于总成本（收支平衡）且社会福利最大化。</a:t>
            </a:r>
          </a:p>
          <a:p>
            <a:pPr>
              <a:spcAft>
                <a:spcPts val="600"/>
              </a:spcAft>
              <a:defRPr sz="1300">
                <a:solidFill>
                  <a:srgbClr val="2C2C2C"/>
                </a:solidFill>
                <a:latin typeface="Microsoft YaHei"/>
              </a:defRPr>
            </a:pPr>
            <a:r>
              <a:t>· 定价公式法则：(P_i - c) / P_i = k / |η_i|</a:t>
            </a:r>
          </a:p>
          <a:p>
            <a:pPr>
              <a:spcAft>
                <a:spcPts val="600"/>
              </a:spcAft>
              <a:defRPr sz="1300">
                <a:solidFill>
                  <a:srgbClr val="2C2C2C"/>
                </a:solidFill>
                <a:latin typeface="Microsoft YaHei"/>
              </a:defRPr>
            </a:pPr>
            <a:r>
              <a:t>· 结论：价格加成率应与需求弹性绝对值成反比！</a:t>
            </a:r>
          </a:p>
        </p:txBody>
      </p:sp>
      <p:sp>
        <p:nvSpPr>
          <p:cNvPr id="13" name="Rectangle 12"/>
          <p:cNvSpPr/>
          <p:nvPr/>
        </p:nvSpPr>
        <p:spPr>
          <a:xfrm>
            <a:off x="621792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325880"/>
            <a:ext cx="5486400" cy="502920"/>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399032"/>
            <a:ext cx="5120640" cy="365760"/>
          </a:xfrm>
          <a:prstGeom prst="rect">
            <a:avLst/>
          </a:prstGeom>
          <a:noFill/>
        </p:spPr>
        <p:txBody>
          <a:bodyPr wrap="none">
            <a:spAutoFit/>
          </a:bodyPr>
          <a:lstStyle/>
          <a:p>
            <a:pPr>
              <a:defRPr sz="1600" b="1">
                <a:solidFill>
                  <a:srgbClr val="FFFFFF"/>
                </a:solidFill>
                <a:latin typeface="Microsoft YaHei"/>
              </a:defRPr>
            </a:pPr>
            <a:r>
              <a:t>经济解释与现实反思</a:t>
            </a:r>
          </a:p>
        </p:txBody>
      </p:sp>
      <p:sp>
        <p:nvSpPr>
          <p:cNvPr id="16" name="TextBox 15"/>
          <p:cNvSpPr txBox="1"/>
          <p:nvPr/>
        </p:nvSpPr>
        <p:spPr>
          <a:xfrm>
            <a:off x="640080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直觉分析：弹性大的需求（如工业用电）加价小，死重损失小；弹性小的需求（家庭用电）加价大。</a:t>
            </a:r>
          </a:p>
          <a:p>
            <a:pPr>
              <a:spcAft>
                <a:spcPts val="600"/>
              </a:spcAft>
              <a:defRPr sz="1300">
                <a:solidFill>
                  <a:srgbClr val="2C2C2C"/>
                </a:solidFill>
                <a:latin typeface="Microsoft YaHei"/>
              </a:defRPr>
            </a:pPr>
            <a:r>
              <a:t>· 现实偏差：现实中常常相反（长途电话弹性大却高价补贴市话），导致巨大福利损失。</a:t>
            </a:r>
          </a:p>
          <a:p>
            <a:pPr>
              <a:spcAft>
                <a:spcPts val="600"/>
              </a:spcAft>
              <a:defRPr sz="1300">
                <a:solidFill>
                  <a:srgbClr val="2C2C2C"/>
                </a:solidFill>
                <a:latin typeface="Microsoft YaHei"/>
              </a:defRPr>
            </a:pPr>
            <a:r>
              <a:t>· 研究估计：若按拉姆齐原则定价取代美国传统电话规制，每年可增加约300亿美元社会福利。</a:t>
            </a:r>
          </a:p>
        </p:txBody>
      </p:sp>
      <p:sp>
        <p:nvSpPr>
          <p:cNvPr id="17" name="TextBox 16"/>
          <p:cNvSpPr txBox="1"/>
          <p:nvPr/>
        </p:nvSpPr>
        <p:spPr>
          <a:xfrm>
            <a:off x="457200" y="5897880"/>
            <a:ext cx="11274552" cy="411480"/>
          </a:xfrm>
          <a:prstGeom prst="rect">
            <a:avLst/>
          </a:prstGeom>
          <a:noFill/>
        </p:spPr>
        <p:txBody>
          <a:bodyPr wrap="square">
            <a:spAutoFit/>
          </a:bodyPr>
          <a:lstStyle/>
          <a:p>
            <a:pPr>
              <a:defRPr sz="1300" b="1">
                <a:solidFill>
                  <a:srgbClr val="1A8C5D"/>
                </a:solidFill>
                <a:latin typeface="Microsoft YaHei"/>
              </a:defRPr>
            </a:pPr>
            <a:r>
              <a:t>拉姆齐法则表明：对需求弹性越小的用户承担更高的固定成本分摊，社会福利损失最小。</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
            <a:ext cx="5486400" cy="320040"/>
          </a:xfrm>
          <a:prstGeom prst="rect">
            <a:avLst/>
          </a:prstGeom>
          <a:noFill/>
        </p:spPr>
        <p:txBody>
          <a:bodyPr wrap="square">
            <a:spAutoFit/>
          </a:bodyPr>
          <a:lstStyle/>
          <a:p>
            <a:pPr>
              <a:defRPr sz="1200" b="1">
                <a:solidFill>
                  <a:srgbClr val="2E86C1"/>
                </a:solidFill>
                <a:latin typeface="Microsoft YaHei"/>
              </a:defRPr>
            </a:pPr>
            <a:r>
              <a:t>第三节 管制政策</a:t>
            </a:r>
          </a:p>
        </p:txBody>
      </p:sp>
      <p:sp>
        <p:nvSpPr>
          <p:cNvPr id="5" name="TextBox 4"/>
          <p:cNvSpPr txBox="1"/>
          <p:nvPr/>
        </p:nvSpPr>
        <p:spPr>
          <a:xfrm>
            <a:off x="457200" y="502920"/>
            <a:ext cx="10515600" cy="548640"/>
          </a:xfrm>
          <a:prstGeom prst="rect">
            <a:avLst/>
          </a:prstGeom>
          <a:noFill/>
        </p:spPr>
        <p:txBody>
          <a:bodyPr wrap="square">
            <a:spAutoFit/>
          </a:bodyPr>
          <a:lstStyle/>
          <a:p>
            <a:pPr>
              <a:defRPr sz="2600" b="1">
                <a:solidFill>
                  <a:srgbClr val="1B3A5C"/>
                </a:solidFill>
                <a:latin typeface="Microsoft YaHei"/>
              </a:defRPr>
            </a:pPr>
            <a:r>
              <a:t>自然垄断治理新思路：特许经营权招标投标</a:t>
            </a:r>
          </a:p>
        </p:txBody>
      </p:sp>
      <p:sp>
        <p:nvSpPr>
          <p:cNvPr id="6" name="Rectangle 5"/>
          <p:cNvSpPr/>
          <p:nvPr/>
        </p:nvSpPr>
        <p:spPr>
          <a:xfrm>
            <a:off x="457200" y="1078992"/>
            <a:ext cx="1097280" cy="3657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a:spAutoFit/>
          </a:bodyPr>
          <a:lstStyle/>
          <a:p>
            <a:pPr>
              <a:defRPr sz="1000">
                <a:solidFill>
                  <a:srgbClr val="6B6B6B"/>
                </a:solidFill>
                <a:latin typeface="Microsoft YaHei"/>
              </a:defRPr>
            </a:pPr>
            <a:r>
              <a:t>产业经济学 · 刘志彪（第3版）</a:t>
            </a:r>
          </a:p>
        </p:txBody>
      </p:sp>
      <p:sp>
        <p:nvSpPr>
          <p:cNvPr id="8" name="TextBox 7"/>
          <p:cNvSpPr txBox="1"/>
          <p:nvPr/>
        </p:nvSpPr>
        <p:spPr>
          <a:xfrm>
            <a:off x="11155680" y="6400800"/>
            <a:ext cx="731520" cy="320040"/>
          </a:xfrm>
          <a:prstGeom prst="rect">
            <a:avLst/>
          </a:prstGeom>
          <a:noFill/>
        </p:spPr>
        <p:txBody>
          <a:bodyPr wrap="none">
            <a:spAutoFit/>
          </a:bodyPr>
          <a:lstStyle/>
          <a:p>
            <a:pPr algn="r">
              <a:defRPr sz="1100">
                <a:solidFill>
                  <a:srgbClr val="6B6B6B"/>
                </a:solidFill>
                <a:latin typeface="Microsoft YaHei"/>
              </a:defRPr>
            </a:pPr>
            <a:r>
              <a:t>33</a:t>
            </a:r>
          </a:p>
        </p:txBody>
      </p:sp>
      <p:sp>
        <p:nvSpPr>
          <p:cNvPr id="9" name="Rectangle 8"/>
          <p:cNvSpPr/>
          <p:nvPr/>
        </p:nvSpPr>
        <p:spPr>
          <a:xfrm>
            <a:off x="45720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8640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399032"/>
            <a:ext cx="5120640" cy="365760"/>
          </a:xfrm>
          <a:prstGeom prst="rect">
            <a:avLst/>
          </a:prstGeom>
          <a:noFill/>
        </p:spPr>
        <p:txBody>
          <a:bodyPr wrap="none">
            <a:spAutoFit/>
          </a:bodyPr>
          <a:lstStyle/>
          <a:p>
            <a:pPr>
              <a:defRPr sz="1600" b="1">
                <a:solidFill>
                  <a:srgbClr val="FFFFFF"/>
                </a:solidFill>
                <a:latin typeface="Microsoft YaHei"/>
              </a:defRPr>
            </a:pPr>
            <a:r>
              <a:t>德姆塞茨竞标机制 (Demsetz, 1968)</a:t>
            </a:r>
          </a:p>
        </p:txBody>
      </p:sp>
      <p:sp>
        <p:nvSpPr>
          <p:cNvPr id="12" name="TextBox 11"/>
          <p:cNvSpPr txBox="1"/>
          <p:nvPr/>
        </p:nvSpPr>
        <p:spPr>
          <a:xfrm>
            <a:off x="64008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核心思想：用“争夺市场的竞争”代替“市场内的竞争”和直接价格管制。</a:t>
            </a:r>
          </a:p>
          <a:p>
            <a:pPr>
              <a:spcAft>
                <a:spcPts val="600"/>
              </a:spcAft>
              <a:defRPr sz="1300">
                <a:solidFill>
                  <a:srgbClr val="2C2C2C"/>
                </a:solidFill>
                <a:latin typeface="Microsoft YaHei"/>
              </a:defRPr>
            </a:pPr>
            <a:r>
              <a:t>· 操作方法：政府对特许经营权公开招标，以“承诺提供的最低服务价格”为标的。</a:t>
            </a:r>
          </a:p>
          <a:p>
            <a:pPr>
              <a:spcAft>
                <a:spcPts val="600"/>
              </a:spcAft>
              <a:defRPr sz="1300">
                <a:solidFill>
                  <a:srgbClr val="2C2C2C"/>
                </a:solidFill>
                <a:latin typeface="Microsoft YaHei"/>
              </a:defRPr>
            </a:pPr>
            <a:r>
              <a:t>· 理想效果：最强效率厂商击败对手得标，价格自动下降至平均成本 P = AC，政府无需掌握成本信息。</a:t>
            </a:r>
          </a:p>
        </p:txBody>
      </p:sp>
      <p:sp>
        <p:nvSpPr>
          <p:cNvPr id="13" name="Rectangle 12"/>
          <p:cNvSpPr/>
          <p:nvPr/>
        </p:nvSpPr>
        <p:spPr>
          <a:xfrm>
            <a:off x="621792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325880"/>
            <a:ext cx="5486400" cy="502920"/>
          </a:xfrm>
          <a:prstGeom prst="rect">
            <a:avLst/>
          </a:prstGeom>
          <a:solidFill>
            <a:srgbClr val="C84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399032"/>
            <a:ext cx="5120640" cy="365760"/>
          </a:xfrm>
          <a:prstGeom prst="rect">
            <a:avLst/>
          </a:prstGeom>
          <a:noFill/>
        </p:spPr>
        <p:txBody>
          <a:bodyPr wrap="none">
            <a:spAutoFit/>
          </a:bodyPr>
          <a:lstStyle/>
          <a:p>
            <a:pPr>
              <a:defRPr sz="1600" b="1">
                <a:solidFill>
                  <a:srgbClr val="FFFFFF"/>
                </a:solidFill>
                <a:latin typeface="Microsoft YaHei"/>
              </a:defRPr>
            </a:pPr>
            <a:r>
              <a:t>现实运行四大难题</a:t>
            </a:r>
          </a:p>
        </p:txBody>
      </p:sp>
      <p:sp>
        <p:nvSpPr>
          <p:cNvPr id="16" name="TextBox 15"/>
          <p:cNvSpPr txBox="1"/>
          <p:nvPr/>
        </p:nvSpPr>
        <p:spPr>
          <a:xfrm>
            <a:off x="640080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1. 充分竞争要件：竞标者不足可能导致串标；</a:t>
            </a:r>
          </a:p>
          <a:p>
            <a:pPr>
              <a:spcAft>
                <a:spcPts val="600"/>
              </a:spcAft>
              <a:defRPr sz="1300">
                <a:solidFill>
                  <a:srgbClr val="2C2C2C"/>
                </a:solidFill>
                <a:latin typeface="Microsoft YaHei"/>
              </a:defRPr>
            </a:pPr>
            <a:r>
              <a:t>2. 质量隐患：低价竞标可能牺牲产品质量（需多维竞标或质量约束）；</a:t>
            </a:r>
          </a:p>
          <a:p>
            <a:pPr>
              <a:spcAft>
                <a:spcPts val="600"/>
              </a:spcAft>
              <a:defRPr sz="1300">
                <a:solidFill>
                  <a:srgbClr val="2C2C2C"/>
                </a:solidFill>
                <a:latin typeface="Microsoft YaHei"/>
              </a:defRPr>
            </a:pPr>
            <a:r>
              <a:t>3. 长期契约机会主义：得标后借口成本变动敲竹杠抬价；</a:t>
            </a:r>
          </a:p>
          <a:p>
            <a:pPr>
              <a:spcAft>
                <a:spcPts val="600"/>
              </a:spcAft>
              <a:defRPr sz="1300">
                <a:solidFill>
                  <a:srgbClr val="2C2C2C"/>
                </a:solidFill>
                <a:latin typeface="Microsoft YaHei"/>
              </a:defRPr>
            </a:pPr>
            <a:r>
              <a:t>4. 资产移交困境：特许期满后固定沉没资产的估值与交接困难。</a:t>
            </a:r>
          </a:p>
        </p:txBody>
      </p:sp>
      <p:sp>
        <p:nvSpPr>
          <p:cNvPr id="17" name="TextBox 16"/>
          <p:cNvSpPr txBox="1"/>
          <p:nvPr/>
        </p:nvSpPr>
        <p:spPr>
          <a:xfrm>
            <a:off x="457200" y="5897880"/>
            <a:ext cx="11274552" cy="411480"/>
          </a:xfrm>
          <a:prstGeom prst="rect">
            <a:avLst/>
          </a:prstGeom>
          <a:noFill/>
        </p:spPr>
        <p:txBody>
          <a:bodyPr wrap="square">
            <a:spAutoFit/>
          </a:bodyPr>
          <a:lstStyle/>
          <a:p>
            <a:pPr>
              <a:defRPr sz="1300" b="1">
                <a:solidFill>
                  <a:srgbClr val="C88C1B"/>
                </a:solidFill>
                <a:latin typeface="Microsoft YaHei"/>
              </a:defRPr>
            </a:pPr>
            <a:r>
              <a:t>特许经营权竞标巧用事先竞争，但在应对质量监管与契约不确定性时仍需信息支撑。</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
            <a:ext cx="5486400" cy="320040"/>
          </a:xfrm>
          <a:prstGeom prst="rect">
            <a:avLst/>
          </a:prstGeom>
          <a:noFill/>
        </p:spPr>
        <p:txBody>
          <a:bodyPr wrap="square">
            <a:spAutoFit/>
          </a:bodyPr>
          <a:lstStyle/>
          <a:p>
            <a:pPr>
              <a:defRPr sz="1200" b="1">
                <a:solidFill>
                  <a:srgbClr val="2E86C1"/>
                </a:solidFill>
                <a:latin typeface="Microsoft YaHei"/>
              </a:defRPr>
            </a:pPr>
            <a:r>
              <a:t>第三节 管制政策</a:t>
            </a:r>
          </a:p>
        </p:txBody>
      </p:sp>
      <p:sp>
        <p:nvSpPr>
          <p:cNvPr id="5" name="TextBox 4"/>
          <p:cNvSpPr txBox="1"/>
          <p:nvPr/>
        </p:nvSpPr>
        <p:spPr>
          <a:xfrm>
            <a:off x="457200" y="502920"/>
            <a:ext cx="10515600" cy="548640"/>
          </a:xfrm>
          <a:prstGeom prst="rect">
            <a:avLst/>
          </a:prstGeom>
          <a:noFill/>
        </p:spPr>
        <p:txBody>
          <a:bodyPr wrap="square">
            <a:spAutoFit/>
          </a:bodyPr>
          <a:lstStyle/>
          <a:p>
            <a:pPr>
              <a:defRPr sz="2600" b="1">
                <a:solidFill>
                  <a:srgbClr val="1B3A5C"/>
                </a:solidFill>
                <a:latin typeface="Microsoft YaHei"/>
              </a:defRPr>
            </a:pPr>
            <a:r>
              <a:t>公有企业运行机制与 Peltzman 模型</a:t>
            </a:r>
          </a:p>
        </p:txBody>
      </p:sp>
      <p:sp>
        <p:nvSpPr>
          <p:cNvPr id="6" name="Rectangle 5"/>
          <p:cNvSpPr/>
          <p:nvPr/>
        </p:nvSpPr>
        <p:spPr>
          <a:xfrm>
            <a:off x="457200" y="1078992"/>
            <a:ext cx="1097280" cy="3657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a:spAutoFit/>
          </a:bodyPr>
          <a:lstStyle/>
          <a:p>
            <a:pPr>
              <a:defRPr sz="1000">
                <a:solidFill>
                  <a:srgbClr val="6B6B6B"/>
                </a:solidFill>
                <a:latin typeface="Microsoft YaHei"/>
              </a:defRPr>
            </a:pPr>
            <a:r>
              <a:t>产业经济学 · 刘志彪（第3版）</a:t>
            </a:r>
          </a:p>
        </p:txBody>
      </p:sp>
      <p:sp>
        <p:nvSpPr>
          <p:cNvPr id="8" name="TextBox 7"/>
          <p:cNvSpPr txBox="1"/>
          <p:nvPr/>
        </p:nvSpPr>
        <p:spPr>
          <a:xfrm>
            <a:off x="11155680" y="6400800"/>
            <a:ext cx="731520" cy="320040"/>
          </a:xfrm>
          <a:prstGeom prst="rect">
            <a:avLst/>
          </a:prstGeom>
          <a:noFill/>
        </p:spPr>
        <p:txBody>
          <a:bodyPr wrap="none">
            <a:spAutoFit/>
          </a:bodyPr>
          <a:lstStyle/>
          <a:p>
            <a:pPr algn="r">
              <a:defRPr sz="1100">
                <a:solidFill>
                  <a:srgbClr val="6B6B6B"/>
                </a:solidFill>
                <a:latin typeface="Microsoft YaHei"/>
              </a:defRPr>
            </a:pPr>
            <a:r>
              <a:t>34</a:t>
            </a:r>
          </a:p>
        </p:txBody>
      </p:sp>
      <p:sp>
        <p:nvSpPr>
          <p:cNvPr id="9" name="Rectangle 8"/>
          <p:cNvSpPr/>
          <p:nvPr/>
        </p:nvSpPr>
        <p:spPr>
          <a:xfrm>
            <a:off x="45720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8640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399032"/>
            <a:ext cx="5120640" cy="365760"/>
          </a:xfrm>
          <a:prstGeom prst="rect">
            <a:avLst/>
          </a:prstGeom>
          <a:noFill/>
        </p:spPr>
        <p:txBody>
          <a:bodyPr wrap="none">
            <a:spAutoFit/>
          </a:bodyPr>
          <a:lstStyle/>
          <a:p>
            <a:pPr>
              <a:defRPr sz="1600" b="1">
                <a:solidFill>
                  <a:srgbClr val="FFFFFF"/>
                </a:solidFill>
                <a:latin typeface="Microsoft YaHei"/>
              </a:defRPr>
            </a:pPr>
            <a:r>
              <a:t>公有企业的运行逻辑与定价 (Peltzman, 1971)</a:t>
            </a:r>
          </a:p>
        </p:txBody>
      </p:sp>
      <p:sp>
        <p:nvSpPr>
          <p:cNvPr id="12" name="TextBox 11"/>
          <p:cNvSpPr txBox="1"/>
          <p:nvPr/>
        </p:nvSpPr>
        <p:spPr>
          <a:xfrm>
            <a:off x="64008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设立逻辑：直接由政府公有运营，摆脱私有企业单一追求利润最大化的高价倾向。</a:t>
            </a:r>
          </a:p>
          <a:p>
            <a:pPr>
              <a:spcAft>
                <a:spcPts val="600"/>
              </a:spcAft>
              <a:defRPr sz="1300">
                <a:solidFill>
                  <a:srgbClr val="2C2C2C"/>
                </a:solidFill>
                <a:latin typeface="Microsoft YaHei"/>
              </a:defRPr>
            </a:pPr>
            <a:r>
              <a:t>· 佩尔兹曼模型：公有企业管理者追求政治升迁/民意满意度。</a:t>
            </a:r>
          </a:p>
          <a:p>
            <a:pPr>
              <a:spcAft>
                <a:spcPts val="600"/>
              </a:spcAft>
              <a:defRPr sz="1300">
                <a:solidFill>
                  <a:srgbClr val="2C2C2C"/>
                </a:solidFill>
                <a:latin typeface="Microsoft YaHei"/>
              </a:defRPr>
            </a:pPr>
            <a:r>
              <a:t>· 定价结果：公有企业定价介于边际成本与垄断价格之间，有效抑制了私有垄断暴利。</a:t>
            </a:r>
          </a:p>
        </p:txBody>
      </p:sp>
      <p:sp>
        <p:nvSpPr>
          <p:cNvPr id="13" name="Rectangle 12"/>
          <p:cNvSpPr/>
          <p:nvPr/>
        </p:nvSpPr>
        <p:spPr>
          <a:xfrm>
            <a:off x="621792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325880"/>
            <a:ext cx="5486400" cy="502920"/>
          </a:xfrm>
          <a:prstGeom prst="rect">
            <a:avLst/>
          </a:prstGeom>
          <a:solidFill>
            <a:srgbClr val="C84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399032"/>
            <a:ext cx="5120640" cy="365760"/>
          </a:xfrm>
          <a:prstGeom prst="rect">
            <a:avLst/>
          </a:prstGeom>
          <a:noFill/>
        </p:spPr>
        <p:txBody>
          <a:bodyPr wrap="none">
            <a:spAutoFit/>
          </a:bodyPr>
          <a:lstStyle/>
          <a:p>
            <a:pPr>
              <a:defRPr sz="1600" b="1">
                <a:solidFill>
                  <a:srgbClr val="FFFFFF"/>
                </a:solidFill>
                <a:latin typeface="Microsoft YaHei"/>
              </a:defRPr>
            </a:pPr>
            <a:r>
              <a:t>公有企业的 X-非效率 困境</a:t>
            </a:r>
          </a:p>
        </p:txBody>
      </p:sp>
      <p:sp>
        <p:nvSpPr>
          <p:cNvPr id="16" name="TextBox 15"/>
          <p:cNvSpPr txBox="1"/>
          <p:nvPr/>
        </p:nvSpPr>
        <p:spPr>
          <a:xfrm>
            <a:off x="640080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成本控制软约束：缺少硬性亏损破产压力，管理者缺乏降低成本的动力。</a:t>
            </a:r>
          </a:p>
          <a:p>
            <a:pPr>
              <a:spcAft>
                <a:spcPts val="600"/>
              </a:spcAft>
              <a:defRPr sz="1300">
                <a:solidFill>
                  <a:srgbClr val="2C2C2C"/>
                </a:solidFill>
                <a:latin typeface="Microsoft YaHei"/>
              </a:defRPr>
            </a:pPr>
            <a:r>
              <a:t>· 效率偏低：倾向于给员工丰厚薪酬、过度投资产能以避免服务短缺与公众抱怨。</a:t>
            </a:r>
          </a:p>
          <a:p>
            <a:pPr>
              <a:spcAft>
                <a:spcPts val="600"/>
              </a:spcAft>
              <a:defRPr sz="1300">
                <a:solidFill>
                  <a:srgbClr val="2C2C2C"/>
                </a:solidFill>
                <a:latin typeface="Microsoft YaHei"/>
              </a:defRPr>
            </a:pPr>
            <a:r>
              <a:t>· 结论：公有企业解决了定价过高问题，但带来了内部 X-非效率（X-inefficiency）。</a:t>
            </a:r>
          </a:p>
        </p:txBody>
      </p:sp>
      <p:sp>
        <p:nvSpPr>
          <p:cNvPr id="17" name="TextBox 16"/>
          <p:cNvSpPr txBox="1"/>
          <p:nvPr/>
        </p:nvSpPr>
        <p:spPr>
          <a:xfrm>
            <a:off x="457200" y="5897880"/>
            <a:ext cx="11274552" cy="411480"/>
          </a:xfrm>
          <a:prstGeom prst="rect">
            <a:avLst/>
          </a:prstGeom>
          <a:noFill/>
        </p:spPr>
        <p:txBody>
          <a:bodyPr wrap="square">
            <a:spAutoFit/>
          </a:bodyPr>
          <a:lstStyle/>
          <a:p>
            <a:pPr>
              <a:defRPr sz="1300" b="1">
                <a:solidFill>
                  <a:srgbClr val="C84B1B"/>
                </a:solidFill>
                <a:latin typeface="Microsoft YaHei"/>
              </a:defRPr>
            </a:pPr>
            <a:r>
              <a:t>公有企业用较低的价格改善了民生满意度，但也面临着效率偏低与成本软约束的制度挑战。</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
            <a:ext cx="5486400" cy="320040"/>
          </a:xfrm>
          <a:prstGeom prst="rect">
            <a:avLst/>
          </a:prstGeom>
          <a:noFill/>
        </p:spPr>
        <p:txBody>
          <a:bodyPr wrap="square">
            <a:spAutoFit/>
          </a:bodyPr>
          <a:lstStyle/>
          <a:p>
            <a:pPr>
              <a:defRPr sz="1200" b="1">
                <a:solidFill>
                  <a:srgbClr val="2E86C1"/>
                </a:solidFill>
                <a:latin typeface="Microsoft YaHei"/>
              </a:defRPr>
            </a:pPr>
            <a:r>
              <a:t>第三节 管制政策</a:t>
            </a:r>
          </a:p>
        </p:txBody>
      </p:sp>
      <p:sp>
        <p:nvSpPr>
          <p:cNvPr id="5" name="TextBox 4"/>
          <p:cNvSpPr txBox="1"/>
          <p:nvPr/>
        </p:nvSpPr>
        <p:spPr>
          <a:xfrm>
            <a:off x="457200" y="502920"/>
            <a:ext cx="10515600" cy="548640"/>
          </a:xfrm>
          <a:prstGeom prst="rect">
            <a:avLst/>
          </a:prstGeom>
          <a:noFill/>
        </p:spPr>
        <p:txBody>
          <a:bodyPr wrap="square">
            <a:spAutoFit/>
          </a:bodyPr>
          <a:lstStyle/>
          <a:p>
            <a:pPr>
              <a:defRPr sz="2600" b="1">
                <a:solidFill>
                  <a:srgbClr val="1B3A5C"/>
                </a:solidFill>
                <a:latin typeface="Microsoft YaHei"/>
              </a:defRPr>
            </a:pPr>
            <a:r>
              <a:t>三大自然垄断管制方式综合对比分析</a:t>
            </a:r>
          </a:p>
        </p:txBody>
      </p:sp>
      <p:sp>
        <p:nvSpPr>
          <p:cNvPr id="6" name="Rectangle 5"/>
          <p:cNvSpPr/>
          <p:nvPr/>
        </p:nvSpPr>
        <p:spPr>
          <a:xfrm>
            <a:off x="457200" y="1078992"/>
            <a:ext cx="1097280" cy="3657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a:spAutoFit/>
          </a:bodyPr>
          <a:lstStyle/>
          <a:p>
            <a:pPr>
              <a:defRPr sz="1000">
                <a:solidFill>
                  <a:srgbClr val="6B6B6B"/>
                </a:solidFill>
                <a:latin typeface="Microsoft YaHei"/>
              </a:defRPr>
            </a:pPr>
            <a:r>
              <a:t>产业经济学 · 刘志彪（第3版）</a:t>
            </a:r>
          </a:p>
        </p:txBody>
      </p:sp>
      <p:sp>
        <p:nvSpPr>
          <p:cNvPr id="8" name="TextBox 7"/>
          <p:cNvSpPr txBox="1"/>
          <p:nvPr/>
        </p:nvSpPr>
        <p:spPr>
          <a:xfrm>
            <a:off x="11155680" y="6400800"/>
            <a:ext cx="731520" cy="320040"/>
          </a:xfrm>
          <a:prstGeom prst="rect">
            <a:avLst/>
          </a:prstGeom>
          <a:noFill/>
        </p:spPr>
        <p:txBody>
          <a:bodyPr wrap="none">
            <a:spAutoFit/>
          </a:bodyPr>
          <a:lstStyle/>
          <a:p>
            <a:pPr algn="r">
              <a:defRPr sz="1100">
                <a:solidFill>
                  <a:srgbClr val="6B6B6B"/>
                </a:solidFill>
                <a:latin typeface="Microsoft YaHei"/>
              </a:defRPr>
            </a:pPr>
            <a:r>
              <a:t>35</a:t>
            </a:r>
          </a:p>
        </p:txBody>
      </p:sp>
      <p:sp>
        <p:nvSpPr>
          <p:cNvPr id="9" name="Rectangle 8"/>
          <p:cNvSpPr/>
          <p:nvPr/>
        </p:nvSpPr>
        <p:spPr>
          <a:xfrm>
            <a:off x="457200" y="1325880"/>
            <a:ext cx="361188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36118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399032"/>
            <a:ext cx="3246120" cy="365760"/>
          </a:xfrm>
          <a:prstGeom prst="rect">
            <a:avLst/>
          </a:prstGeom>
          <a:noFill/>
        </p:spPr>
        <p:txBody>
          <a:bodyPr wrap="none">
            <a:spAutoFit/>
          </a:bodyPr>
          <a:lstStyle/>
          <a:p>
            <a:pPr>
              <a:defRPr sz="1600" b="1">
                <a:solidFill>
                  <a:srgbClr val="FFFFFF"/>
                </a:solidFill>
                <a:latin typeface="Microsoft YaHei"/>
              </a:defRPr>
            </a:pPr>
            <a:r>
              <a:t>价格管制 (Price Regulation)</a:t>
            </a:r>
          </a:p>
        </p:txBody>
      </p:sp>
      <p:sp>
        <p:nvSpPr>
          <p:cNvPr id="12" name="TextBox 11"/>
          <p:cNvSpPr txBox="1"/>
          <p:nvPr/>
        </p:nvSpPr>
        <p:spPr>
          <a:xfrm>
            <a:off x="640080" y="1920240"/>
            <a:ext cx="3246120" cy="3703320"/>
          </a:xfrm>
          <a:prstGeom prst="rect">
            <a:avLst/>
          </a:prstGeom>
          <a:noFill/>
        </p:spPr>
        <p:txBody>
          <a:bodyPr wrap="square">
            <a:spAutoFit/>
          </a:bodyPr>
          <a:lstStyle/>
          <a:p>
            <a:pPr>
              <a:spcAft>
                <a:spcPts val="600"/>
              </a:spcAft>
              <a:defRPr sz="1300">
                <a:solidFill>
                  <a:srgbClr val="2C2C2C"/>
                </a:solidFill>
                <a:latin typeface="Microsoft YaHei"/>
              </a:defRPr>
            </a:pPr>
            <a:r>
              <a:t>· 优点：直接约束垄断高价，保障基础公用事业稳定供应。</a:t>
            </a:r>
          </a:p>
          <a:p>
            <a:pPr>
              <a:spcAft>
                <a:spcPts val="600"/>
              </a:spcAft>
              <a:defRPr sz="1300">
                <a:solidFill>
                  <a:srgbClr val="2C2C2C"/>
                </a:solidFill>
                <a:latin typeface="Microsoft YaHei"/>
              </a:defRPr>
            </a:pPr>
            <a:r>
              <a:t>· 缺点：依赖政府掌握高度对称的信息；存在 A-J 效应与滞后性。</a:t>
            </a:r>
          </a:p>
          <a:p>
            <a:pPr>
              <a:spcAft>
                <a:spcPts val="600"/>
              </a:spcAft>
              <a:defRPr sz="1300">
                <a:solidFill>
                  <a:srgbClr val="2C2C2C"/>
                </a:solidFill>
                <a:latin typeface="Microsoft YaHei"/>
              </a:defRPr>
            </a:pPr>
            <a:r>
              <a:t>· 适用：网络沉没成本高、服务不可中断的行业（电网、水网）。</a:t>
            </a:r>
          </a:p>
        </p:txBody>
      </p:sp>
      <p:sp>
        <p:nvSpPr>
          <p:cNvPr id="13" name="Rectangle 12"/>
          <p:cNvSpPr/>
          <p:nvPr/>
        </p:nvSpPr>
        <p:spPr>
          <a:xfrm>
            <a:off x="4215384" y="1325880"/>
            <a:ext cx="361188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15384" y="1325880"/>
            <a:ext cx="36118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98264" y="1399032"/>
            <a:ext cx="3246120" cy="365760"/>
          </a:xfrm>
          <a:prstGeom prst="rect">
            <a:avLst/>
          </a:prstGeom>
          <a:noFill/>
        </p:spPr>
        <p:txBody>
          <a:bodyPr wrap="none">
            <a:spAutoFit/>
          </a:bodyPr>
          <a:lstStyle/>
          <a:p>
            <a:pPr>
              <a:defRPr sz="1600" b="1">
                <a:solidFill>
                  <a:srgbClr val="FFFFFF"/>
                </a:solidFill>
                <a:latin typeface="Microsoft YaHei"/>
              </a:defRPr>
            </a:pPr>
            <a:r>
              <a:t>特许竞标 (Franchise Bidding)</a:t>
            </a:r>
          </a:p>
        </p:txBody>
      </p:sp>
      <p:sp>
        <p:nvSpPr>
          <p:cNvPr id="16" name="TextBox 15"/>
          <p:cNvSpPr txBox="1"/>
          <p:nvPr/>
        </p:nvSpPr>
        <p:spPr>
          <a:xfrm>
            <a:off x="4398264" y="1920240"/>
            <a:ext cx="3246120" cy="3703320"/>
          </a:xfrm>
          <a:prstGeom prst="rect">
            <a:avLst/>
          </a:prstGeom>
          <a:noFill/>
        </p:spPr>
        <p:txBody>
          <a:bodyPr wrap="square">
            <a:spAutoFit/>
          </a:bodyPr>
          <a:lstStyle/>
          <a:p>
            <a:pPr>
              <a:spcAft>
                <a:spcPts val="600"/>
              </a:spcAft>
              <a:defRPr sz="1300">
                <a:solidFill>
                  <a:srgbClr val="2C2C2C"/>
                </a:solidFill>
                <a:latin typeface="Microsoft YaHei"/>
              </a:defRPr>
            </a:pPr>
            <a:r>
              <a:t>· 优点：引入事先竞争，降低政府信息搜集负担。</a:t>
            </a:r>
          </a:p>
          <a:p>
            <a:pPr>
              <a:spcAft>
                <a:spcPts val="600"/>
              </a:spcAft>
              <a:defRPr sz="1300">
                <a:solidFill>
                  <a:srgbClr val="2C2C2C"/>
                </a:solidFill>
                <a:latin typeface="Microsoft YaHei"/>
              </a:defRPr>
            </a:pPr>
            <a:r>
              <a:t>· 缺点：容易引发质量打折与事后机会主义敲竹杠。</a:t>
            </a:r>
          </a:p>
          <a:p>
            <a:pPr>
              <a:spcAft>
                <a:spcPts val="600"/>
              </a:spcAft>
              <a:defRPr sz="1300">
                <a:solidFill>
                  <a:srgbClr val="2C2C2C"/>
                </a:solidFill>
                <a:latin typeface="Microsoft YaHei"/>
              </a:defRPr>
            </a:pPr>
            <a:r>
              <a:t>· 适用：可标准化定义质量、资产易清算的公用事业（公交、垃圾处理）。</a:t>
            </a:r>
          </a:p>
        </p:txBody>
      </p:sp>
      <p:sp>
        <p:nvSpPr>
          <p:cNvPr id="17" name="Rectangle 16"/>
          <p:cNvSpPr/>
          <p:nvPr/>
        </p:nvSpPr>
        <p:spPr>
          <a:xfrm>
            <a:off x="7973568" y="1325880"/>
            <a:ext cx="361188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973568" y="1325880"/>
            <a:ext cx="3611880" cy="502920"/>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56448" y="1399032"/>
            <a:ext cx="3246120" cy="365760"/>
          </a:xfrm>
          <a:prstGeom prst="rect">
            <a:avLst/>
          </a:prstGeom>
          <a:noFill/>
        </p:spPr>
        <p:txBody>
          <a:bodyPr wrap="none">
            <a:spAutoFit/>
          </a:bodyPr>
          <a:lstStyle/>
          <a:p>
            <a:pPr>
              <a:defRPr sz="1600" b="1">
                <a:solidFill>
                  <a:srgbClr val="FFFFFF"/>
                </a:solidFill>
                <a:latin typeface="Microsoft YaHei"/>
              </a:defRPr>
            </a:pPr>
            <a:r>
              <a:t>公有企业 (SOE)</a:t>
            </a:r>
          </a:p>
        </p:txBody>
      </p:sp>
      <p:sp>
        <p:nvSpPr>
          <p:cNvPr id="20" name="TextBox 19"/>
          <p:cNvSpPr txBox="1"/>
          <p:nvPr/>
        </p:nvSpPr>
        <p:spPr>
          <a:xfrm>
            <a:off x="8156448" y="1920240"/>
            <a:ext cx="3246120" cy="3703320"/>
          </a:xfrm>
          <a:prstGeom prst="rect">
            <a:avLst/>
          </a:prstGeom>
          <a:noFill/>
        </p:spPr>
        <p:txBody>
          <a:bodyPr wrap="square">
            <a:spAutoFit/>
          </a:bodyPr>
          <a:lstStyle/>
          <a:p>
            <a:pPr>
              <a:spcAft>
                <a:spcPts val="600"/>
              </a:spcAft>
              <a:defRPr sz="1300">
                <a:solidFill>
                  <a:srgbClr val="2C2C2C"/>
                </a:solidFill>
                <a:latin typeface="Microsoft YaHei"/>
              </a:defRPr>
            </a:pPr>
            <a:r>
              <a:t>· 优点：导向公共福利，不盲目追求利润最大化，定价合理。</a:t>
            </a:r>
          </a:p>
          <a:p>
            <a:pPr>
              <a:spcAft>
                <a:spcPts val="600"/>
              </a:spcAft>
              <a:defRPr sz="1300">
                <a:solidFill>
                  <a:srgbClr val="2C2C2C"/>
                </a:solidFill>
                <a:latin typeface="Microsoft YaHei"/>
              </a:defRPr>
            </a:pPr>
            <a:r>
              <a:t>· 缺点：成本控制硬约束缺失，面临 X-非效率与高运营成本。</a:t>
            </a:r>
          </a:p>
          <a:p>
            <a:pPr>
              <a:spcAft>
                <a:spcPts val="600"/>
              </a:spcAft>
              <a:defRPr sz="1300">
                <a:solidFill>
                  <a:srgbClr val="2C2C2C"/>
                </a:solidFill>
                <a:latin typeface="Microsoft YaHei"/>
              </a:defRPr>
            </a:pPr>
            <a:r>
              <a:t>· 适用：关乎国家安全、普遍服务责任极高的基础设施。</a:t>
            </a:r>
          </a:p>
        </p:txBody>
      </p:sp>
      <p:sp>
        <p:nvSpPr>
          <p:cNvPr id="21" name="TextBox 20"/>
          <p:cNvSpPr txBox="1"/>
          <p:nvPr/>
        </p:nvSpPr>
        <p:spPr>
          <a:xfrm>
            <a:off x="457200" y="5897880"/>
            <a:ext cx="11274552" cy="411480"/>
          </a:xfrm>
          <a:prstGeom prst="rect">
            <a:avLst/>
          </a:prstGeom>
          <a:noFill/>
        </p:spPr>
        <p:txBody>
          <a:bodyPr wrap="square">
            <a:spAutoFit/>
          </a:bodyPr>
          <a:lstStyle/>
          <a:p>
            <a:pPr>
              <a:defRPr sz="1300" b="1">
                <a:solidFill>
                  <a:srgbClr val="1B3A5C"/>
                </a:solidFill>
                <a:latin typeface="Microsoft YaHei"/>
              </a:defRPr>
            </a:pPr>
            <a:r>
              <a:t>没有任何一种规制模式完美无缺，实际政策设计须因地制宜结合产业特征做权衡选择。</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
            <a:ext cx="5486400" cy="320040"/>
          </a:xfrm>
          <a:prstGeom prst="rect">
            <a:avLst/>
          </a:prstGeom>
          <a:noFill/>
        </p:spPr>
        <p:txBody>
          <a:bodyPr wrap="square">
            <a:spAutoFit/>
          </a:bodyPr>
          <a:lstStyle/>
          <a:p>
            <a:pPr>
              <a:defRPr sz="1200" b="1">
                <a:solidFill>
                  <a:srgbClr val="2E86C1"/>
                </a:solidFill>
                <a:latin typeface="Microsoft YaHei"/>
              </a:defRPr>
            </a:pPr>
            <a:r>
              <a:t>避免管制的副作用</a:t>
            </a:r>
          </a:p>
        </p:txBody>
      </p:sp>
      <p:sp>
        <p:nvSpPr>
          <p:cNvPr id="5" name="TextBox 4"/>
          <p:cNvSpPr txBox="1"/>
          <p:nvPr/>
        </p:nvSpPr>
        <p:spPr>
          <a:xfrm>
            <a:off x="457200" y="502920"/>
            <a:ext cx="10515600" cy="548640"/>
          </a:xfrm>
          <a:prstGeom prst="rect">
            <a:avLst/>
          </a:prstGeom>
          <a:noFill/>
        </p:spPr>
        <p:txBody>
          <a:bodyPr wrap="square">
            <a:spAutoFit/>
          </a:bodyPr>
          <a:lstStyle/>
          <a:p>
            <a:pPr>
              <a:defRPr sz="2600" b="1">
                <a:solidFill>
                  <a:srgbClr val="1B3A5C"/>
                </a:solidFill>
                <a:latin typeface="Microsoft YaHei"/>
              </a:defRPr>
            </a:pPr>
            <a:r>
              <a:t>规制俘获、政府失灵与管制质量提升</a:t>
            </a:r>
          </a:p>
        </p:txBody>
      </p:sp>
      <p:sp>
        <p:nvSpPr>
          <p:cNvPr id="6" name="Rectangle 5"/>
          <p:cNvSpPr/>
          <p:nvPr/>
        </p:nvSpPr>
        <p:spPr>
          <a:xfrm>
            <a:off x="457200" y="1078992"/>
            <a:ext cx="1097280" cy="3657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a:spAutoFit/>
          </a:bodyPr>
          <a:lstStyle/>
          <a:p>
            <a:pPr>
              <a:defRPr sz="1000">
                <a:solidFill>
                  <a:srgbClr val="6B6B6B"/>
                </a:solidFill>
                <a:latin typeface="Microsoft YaHei"/>
              </a:defRPr>
            </a:pPr>
            <a:r>
              <a:t>产业经济学 · 刘志彪（第3版）</a:t>
            </a:r>
          </a:p>
        </p:txBody>
      </p:sp>
      <p:sp>
        <p:nvSpPr>
          <p:cNvPr id="8" name="TextBox 7"/>
          <p:cNvSpPr txBox="1"/>
          <p:nvPr/>
        </p:nvSpPr>
        <p:spPr>
          <a:xfrm>
            <a:off x="11155680" y="6400800"/>
            <a:ext cx="731520" cy="320040"/>
          </a:xfrm>
          <a:prstGeom prst="rect">
            <a:avLst/>
          </a:prstGeom>
          <a:noFill/>
        </p:spPr>
        <p:txBody>
          <a:bodyPr wrap="none">
            <a:spAutoFit/>
          </a:bodyPr>
          <a:lstStyle/>
          <a:p>
            <a:pPr algn="r">
              <a:defRPr sz="1100">
                <a:solidFill>
                  <a:srgbClr val="6B6B6B"/>
                </a:solidFill>
                <a:latin typeface="Microsoft YaHei"/>
              </a:defRPr>
            </a:pPr>
            <a:r>
              <a:t>36</a:t>
            </a:r>
          </a:p>
        </p:txBody>
      </p:sp>
      <p:sp>
        <p:nvSpPr>
          <p:cNvPr id="9" name="Rectangle 8"/>
          <p:cNvSpPr/>
          <p:nvPr/>
        </p:nvSpPr>
        <p:spPr>
          <a:xfrm>
            <a:off x="45720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86400" cy="502920"/>
          </a:xfrm>
          <a:prstGeom prst="rect">
            <a:avLst/>
          </a:prstGeom>
          <a:solidFill>
            <a:srgbClr val="C84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399032"/>
            <a:ext cx="5120640" cy="365760"/>
          </a:xfrm>
          <a:prstGeom prst="rect">
            <a:avLst/>
          </a:prstGeom>
          <a:noFill/>
        </p:spPr>
        <p:txBody>
          <a:bodyPr wrap="none">
            <a:spAutoFit/>
          </a:bodyPr>
          <a:lstStyle/>
          <a:p>
            <a:pPr>
              <a:defRPr sz="1600" b="1">
                <a:solidFill>
                  <a:srgbClr val="FFFFFF"/>
                </a:solidFill>
                <a:latin typeface="Microsoft YaHei"/>
              </a:defRPr>
            </a:pPr>
            <a:r>
              <a:t>规制副作用与“规制俘获” (Regulatory Capture)</a:t>
            </a:r>
          </a:p>
        </p:txBody>
      </p:sp>
      <p:sp>
        <p:nvSpPr>
          <p:cNvPr id="12" name="TextBox 11"/>
          <p:cNvSpPr txBox="1"/>
          <p:nvPr/>
        </p:nvSpPr>
        <p:spPr>
          <a:xfrm>
            <a:off x="64008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规制俘获理论：管制机构逐渐被受管制的垄断企业所控制/利益绑定，反过来为其谋取垄断利益。</a:t>
            </a:r>
          </a:p>
          <a:p>
            <a:pPr>
              <a:spcAft>
                <a:spcPts val="600"/>
              </a:spcAft>
              <a:defRPr sz="1300">
                <a:solidFill>
                  <a:srgbClr val="2C2C2C"/>
                </a:solidFill>
                <a:latin typeface="Microsoft YaHei"/>
              </a:defRPr>
            </a:pPr>
            <a:r>
              <a:t>· 政府失灵：管制机构信息不对称、行政效率低下、简单的粗放定价带来巨大社会福利损失。</a:t>
            </a:r>
          </a:p>
          <a:p>
            <a:pPr>
              <a:spcAft>
                <a:spcPts val="600"/>
              </a:spcAft>
              <a:defRPr sz="1300">
                <a:solidFill>
                  <a:srgbClr val="2C2C2C"/>
                </a:solidFill>
                <a:latin typeface="Microsoft YaHei"/>
              </a:defRPr>
            </a:pPr>
            <a:r>
              <a:t>· 成本效益考量：管制的效果取决于“市场失灵程度”与“政府失灵程度”的现实权衡。</a:t>
            </a:r>
          </a:p>
        </p:txBody>
      </p:sp>
      <p:sp>
        <p:nvSpPr>
          <p:cNvPr id="13" name="Rectangle 12"/>
          <p:cNvSpPr/>
          <p:nvPr/>
        </p:nvSpPr>
        <p:spPr>
          <a:xfrm>
            <a:off x="6217920" y="1325880"/>
            <a:ext cx="5486400" cy="4389120"/>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325880"/>
            <a:ext cx="548640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399032"/>
            <a:ext cx="5120640" cy="365760"/>
          </a:xfrm>
          <a:prstGeom prst="rect">
            <a:avLst/>
          </a:prstGeom>
          <a:noFill/>
        </p:spPr>
        <p:txBody>
          <a:bodyPr wrap="none">
            <a:spAutoFit/>
          </a:bodyPr>
          <a:lstStyle/>
          <a:p>
            <a:pPr>
              <a:defRPr sz="1600" b="1">
                <a:solidFill>
                  <a:srgbClr val="FFFFFF"/>
                </a:solidFill>
                <a:latin typeface="Microsoft YaHei"/>
              </a:defRPr>
            </a:pPr>
            <a:r>
              <a:t>国际竞争力与“更好的管制”</a:t>
            </a:r>
          </a:p>
        </p:txBody>
      </p:sp>
      <p:sp>
        <p:nvSpPr>
          <p:cNvPr id="16" name="TextBox 15"/>
          <p:cNvSpPr txBox="1"/>
          <p:nvPr/>
        </p:nvSpPr>
        <p:spPr>
          <a:xfrm>
            <a:off x="6400800" y="1920240"/>
            <a:ext cx="5120640" cy="3703320"/>
          </a:xfrm>
          <a:prstGeom prst="rect">
            <a:avLst/>
          </a:prstGeom>
          <a:noFill/>
        </p:spPr>
        <p:txBody>
          <a:bodyPr wrap="square">
            <a:spAutoFit/>
          </a:bodyPr>
          <a:lstStyle/>
          <a:p>
            <a:pPr>
              <a:spcAft>
                <a:spcPts val="600"/>
              </a:spcAft>
              <a:defRPr sz="1300">
                <a:solidFill>
                  <a:srgbClr val="2C2C2C"/>
                </a:solidFill>
                <a:latin typeface="Microsoft YaHei"/>
              </a:defRPr>
            </a:pPr>
            <a:r>
              <a:t>· 制度比较优势：低效管制增加企业沉重负担，导致要素外流；高质量管制形成国家制度竞争优势。</a:t>
            </a:r>
          </a:p>
          <a:p>
            <a:pPr>
              <a:spcAft>
                <a:spcPts val="600"/>
              </a:spcAft>
              <a:defRPr sz="1300">
                <a:solidFill>
                  <a:srgbClr val="2C2C2C"/>
                </a:solidFill>
                <a:latin typeface="Microsoft YaHei"/>
              </a:defRPr>
            </a:pPr>
            <a:r>
              <a:t>· 英国经验：2002年颁布《管制改革——政府行动计划》，承诺实现更好更高质量的管制。</a:t>
            </a:r>
          </a:p>
          <a:p>
            <a:pPr>
              <a:spcAft>
                <a:spcPts val="600"/>
              </a:spcAft>
              <a:defRPr sz="1300">
                <a:solidFill>
                  <a:srgbClr val="2C2C2C"/>
                </a:solidFill>
                <a:latin typeface="Microsoft YaHei"/>
              </a:defRPr>
            </a:pPr>
            <a:r>
              <a:t>· 中国路径：明确管制目标为福利最大化，防范规制俘获，推进行政审批与规制精细化改革。</a:t>
            </a:r>
          </a:p>
        </p:txBody>
      </p:sp>
      <p:sp>
        <p:nvSpPr>
          <p:cNvPr id="17" name="TextBox 16"/>
          <p:cNvSpPr txBox="1"/>
          <p:nvPr/>
        </p:nvSpPr>
        <p:spPr>
          <a:xfrm>
            <a:off x="457200" y="5897880"/>
            <a:ext cx="11274552" cy="411480"/>
          </a:xfrm>
          <a:prstGeom prst="rect">
            <a:avLst/>
          </a:prstGeom>
          <a:noFill/>
        </p:spPr>
        <p:txBody>
          <a:bodyPr wrap="square">
            <a:spAutoFit/>
          </a:bodyPr>
          <a:lstStyle/>
          <a:p>
            <a:pPr>
              <a:defRPr sz="1300" b="1">
                <a:solidFill>
                  <a:srgbClr val="C88C1B"/>
                </a:solidFill>
                <a:latin typeface="Microsoft YaHei"/>
              </a:defRPr>
            </a:pPr>
            <a:r>
              <a:t>高质量的经济管制能形成国家比较优势，低质量的管制则会拖累整个国民经济的国际竞争力。</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
            <a:ext cx="5486400" cy="320040"/>
          </a:xfrm>
          <a:prstGeom prst="rect">
            <a:avLst/>
          </a:prstGeom>
          <a:noFill/>
        </p:spPr>
        <p:txBody>
          <a:bodyPr wrap="square">
            <a:spAutoFit/>
          </a:bodyPr>
          <a:lstStyle/>
          <a:p>
            <a:pPr>
              <a:defRPr sz="1200" b="1">
                <a:solidFill>
                  <a:srgbClr val="2E86C1"/>
                </a:solidFill>
                <a:latin typeface="Microsoft YaHei"/>
              </a:defRPr>
            </a:pPr>
            <a:r>
              <a:t>本章小结</a:t>
            </a:r>
          </a:p>
        </p:txBody>
      </p:sp>
      <p:sp>
        <p:nvSpPr>
          <p:cNvPr id="5" name="TextBox 4"/>
          <p:cNvSpPr txBox="1"/>
          <p:nvPr/>
        </p:nvSpPr>
        <p:spPr>
          <a:xfrm>
            <a:off x="457200" y="502920"/>
            <a:ext cx="10515600" cy="548640"/>
          </a:xfrm>
          <a:prstGeom prst="rect">
            <a:avLst/>
          </a:prstGeom>
          <a:noFill/>
        </p:spPr>
        <p:txBody>
          <a:bodyPr wrap="square">
            <a:spAutoFit/>
          </a:bodyPr>
          <a:lstStyle/>
          <a:p>
            <a:pPr>
              <a:defRPr sz="2600" b="1">
                <a:solidFill>
                  <a:srgbClr val="1B3A5C"/>
                </a:solidFill>
                <a:latin typeface="Microsoft YaHei"/>
              </a:defRPr>
            </a:pPr>
            <a:r>
              <a:t>第十章核心知识点回顾</a:t>
            </a:r>
          </a:p>
        </p:txBody>
      </p:sp>
      <p:sp>
        <p:nvSpPr>
          <p:cNvPr id="6" name="Rectangle 5"/>
          <p:cNvSpPr/>
          <p:nvPr/>
        </p:nvSpPr>
        <p:spPr>
          <a:xfrm>
            <a:off x="457200" y="1078992"/>
            <a:ext cx="1097280" cy="3657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a:spAutoFit/>
          </a:bodyPr>
          <a:lstStyle/>
          <a:p>
            <a:pPr>
              <a:defRPr sz="1000">
                <a:solidFill>
                  <a:srgbClr val="6B6B6B"/>
                </a:solidFill>
                <a:latin typeface="Microsoft YaHei"/>
              </a:defRPr>
            </a:pPr>
            <a:r>
              <a:t>产业经济学 · 刘志彪（第3版）</a:t>
            </a:r>
          </a:p>
        </p:txBody>
      </p:sp>
      <p:sp>
        <p:nvSpPr>
          <p:cNvPr id="8" name="TextBox 7"/>
          <p:cNvSpPr txBox="1"/>
          <p:nvPr/>
        </p:nvSpPr>
        <p:spPr>
          <a:xfrm>
            <a:off x="11155680" y="6400800"/>
            <a:ext cx="731520" cy="320040"/>
          </a:xfrm>
          <a:prstGeom prst="rect">
            <a:avLst/>
          </a:prstGeom>
          <a:noFill/>
        </p:spPr>
        <p:txBody>
          <a:bodyPr wrap="none">
            <a:spAutoFit/>
          </a:bodyPr>
          <a:lstStyle/>
          <a:p>
            <a:pPr algn="r">
              <a:defRPr sz="1100">
                <a:solidFill>
                  <a:srgbClr val="6B6B6B"/>
                </a:solidFill>
                <a:latin typeface="Microsoft YaHei"/>
              </a:defRPr>
            </a:pPr>
            <a:r>
              <a:t>37</a:t>
            </a:r>
          </a:p>
        </p:txBody>
      </p:sp>
      <p:sp>
        <p:nvSpPr>
          <p:cNvPr id="9" name="Rectangle 8"/>
          <p:cNvSpPr/>
          <p:nvPr/>
        </p:nvSpPr>
        <p:spPr>
          <a:xfrm>
            <a:off x="457200" y="1325880"/>
            <a:ext cx="11247120" cy="1078992"/>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822960" cy="107899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1600200"/>
            <a:ext cx="822960" cy="457200"/>
          </a:xfrm>
          <a:prstGeom prst="rect">
            <a:avLst/>
          </a:prstGeom>
          <a:noFill/>
        </p:spPr>
        <p:txBody>
          <a:bodyPr wrap="none">
            <a:spAutoFit/>
          </a:bodyPr>
          <a:lstStyle/>
          <a:p>
            <a:pPr algn="ctr">
              <a:defRPr sz="2000" b="1">
                <a:solidFill>
                  <a:srgbClr val="FFFFFF"/>
                </a:solidFill>
                <a:latin typeface="Microsoft YaHei"/>
              </a:defRPr>
            </a:pPr>
            <a:r>
              <a:t>01</a:t>
            </a:r>
          </a:p>
        </p:txBody>
      </p:sp>
      <p:sp>
        <p:nvSpPr>
          <p:cNvPr id="12" name="TextBox 11"/>
          <p:cNvSpPr txBox="1"/>
          <p:nvPr/>
        </p:nvSpPr>
        <p:spPr>
          <a:xfrm>
            <a:off x="1463040" y="1399032"/>
            <a:ext cx="3291840" cy="365760"/>
          </a:xfrm>
          <a:prstGeom prst="rect">
            <a:avLst/>
          </a:prstGeom>
          <a:noFill/>
        </p:spPr>
        <p:txBody>
          <a:bodyPr wrap="none">
            <a:spAutoFit/>
          </a:bodyPr>
          <a:lstStyle/>
          <a:p>
            <a:pPr>
              <a:defRPr sz="1350" b="1">
                <a:solidFill>
                  <a:srgbClr val="1B3A5C"/>
                </a:solidFill>
                <a:latin typeface="Microsoft YaHei"/>
              </a:defRPr>
            </a:pPr>
            <a:r>
              <a:t>欧美国家的反垄断法</a:t>
            </a:r>
          </a:p>
        </p:txBody>
      </p:sp>
      <p:sp>
        <p:nvSpPr>
          <p:cNvPr id="13" name="TextBox 12"/>
          <p:cNvSpPr txBox="1"/>
          <p:nvPr/>
        </p:nvSpPr>
        <p:spPr>
          <a:xfrm>
            <a:off x="4846320" y="1380744"/>
            <a:ext cx="6675120" cy="960120"/>
          </a:xfrm>
          <a:prstGeom prst="rect">
            <a:avLst/>
          </a:prstGeom>
          <a:noFill/>
        </p:spPr>
        <p:txBody>
          <a:bodyPr wrap="square">
            <a:spAutoFit/>
          </a:bodyPr>
          <a:lstStyle/>
          <a:p>
            <a:pPr>
              <a:defRPr sz="1100">
                <a:solidFill>
                  <a:srgbClr val="2C2C2C"/>
                </a:solidFill>
                <a:latin typeface="Microsoft YaHei"/>
              </a:defRPr>
            </a:pPr>
            <a:r>
              <a:t>《谢尔曼法》《克莱顿法》规制横向与纵向限制竞争行为；本身违法原则与合理推定原则裁决演进；《马约》第81/82条规制卡特尔、滥用支配地位与国家援助。</a:t>
            </a:r>
          </a:p>
        </p:txBody>
      </p:sp>
      <p:sp>
        <p:nvSpPr>
          <p:cNvPr id="14" name="Rectangle 13"/>
          <p:cNvSpPr/>
          <p:nvPr/>
        </p:nvSpPr>
        <p:spPr>
          <a:xfrm>
            <a:off x="457200" y="2532887"/>
            <a:ext cx="11247120" cy="1078992"/>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2532887"/>
            <a:ext cx="822960" cy="107899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2807207"/>
            <a:ext cx="822960" cy="457200"/>
          </a:xfrm>
          <a:prstGeom prst="rect">
            <a:avLst/>
          </a:prstGeom>
          <a:noFill/>
        </p:spPr>
        <p:txBody>
          <a:bodyPr wrap="none">
            <a:spAutoFit/>
          </a:bodyPr>
          <a:lstStyle/>
          <a:p>
            <a:pPr algn="ctr">
              <a:defRPr sz="2000" b="1">
                <a:solidFill>
                  <a:srgbClr val="FFFFFF"/>
                </a:solidFill>
                <a:latin typeface="Microsoft YaHei"/>
              </a:defRPr>
            </a:pPr>
            <a:r>
              <a:t>02</a:t>
            </a:r>
          </a:p>
        </p:txBody>
      </p:sp>
      <p:sp>
        <p:nvSpPr>
          <p:cNvPr id="17" name="TextBox 16"/>
          <p:cNvSpPr txBox="1"/>
          <p:nvPr/>
        </p:nvSpPr>
        <p:spPr>
          <a:xfrm>
            <a:off x="1463040" y="2606039"/>
            <a:ext cx="3291840" cy="365760"/>
          </a:xfrm>
          <a:prstGeom prst="rect">
            <a:avLst/>
          </a:prstGeom>
          <a:noFill/>
        </p:spPr>
        <p:txBody>
          <a:bodyPr wrap="none">
            <a:spAutoFit/>
          </a:bodyPr>
          <a:lstStyle/>
          <a:p>
            <a:pPr>
              <a:defRPr sz="1350" b="1">
                <a:solidFill>
                  <a:srgbClr val="1B3A5C"/>
                </a:solidFill>
                <a:latin typeface="Microsoft YaHei"/>
              </a:defRPr>
            </a:pPr>
            <a:r>
              <a:t>我国的竞争政策</a:t>
            </a:r>
          </a:p>
        </p:txBody>
      </p:sp>
      <p:sp>
        <p:nvSpPr>
          <p:cNvPr id="18" name="TextBox 17"/>
          <p:cNvSpPr txBox="1"/>
          <p:nvPr/>
        </p:nvSpPr>
        <p:spPr>
          <a:xfrm>
            <a:off x="4846320" y="2587751"/>
            <a:ext cx="6675120" cy="960120"/>
          </a:xfrm>
          <a:prstGeom prst="rect">
            <a:avLst/>
          </a:prstGeom>
          <a:noFill/>
        </p:spPr>
        <p:txBody>
          <a:bodyPr wrap="square">
            <a:spAutoFit/>
          </a:bodyPr>
          <a:lstStyle/>
          <a:p>
            <a:pPr>
              <a:defRPr sz="1100">
                <a:solidFill>
                  <a:srgbClr val="2C2C2C"/>
                </a:solidFill>
                <a:latin typeface="Microsoft YaHei"/>
              </a:defRPr>
            </a:pPr>
            <a:r>
              <a:t>从选择性产业政策转向公平普惠竞争政策，有效化解产能过剩危机；2022修正《反垄断法》明确四大垄断行为；国家反垄断局统一执法及WTO国际协调。</a:t>
            </a:r>
          </a:p>
        </p:txBody>
      </p:sp>
      <p:sp>
        <p:nvSpPr>
          <p:cNvPr id="19" name="Rectangle 18"/>
          <p:cNvSpPr/>
          <p:nvPr/>
        </p:nvSpPr>
        <p:spPr>
          <a:xfrm>
            <a:off x="457200" y="3739896"/>
            <a:ext cx="11247120" cy="1078992"/>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 y="3739896"/>
            <a:ext cx="822960" cy="1078992"/>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4014215"/>
            <a:ext cx="822960" cy="457200"/>
          </a:xfrm>
          <a:prstGeom prst="rect">
            <a:avLst/>
          </a:prstGeom>
          <a:noFill/>
        </p:spPr>
        <p:txBody>
          <a:bodyPr wrap="none">
            <a:spAutoFit/>
          </a:bodyPr>
          <a:lstStyle/>
          <a:p>
            <a:pPr algn="ctr">
              <a:defRPr sz="2000" b="1">
                <a:solidFill>
                  <a:srgbClr val="FFFFFF"/>
                </a:solidFill>
                <a:latin typeface="Microsoft YaHei"/>
              </a:defRPr>
            </a:pPr>
            <a:r>
              <a:t>03</a:t>
            </a:r>
          </a:p>
        </p:txBody>
      </p:sp>
      <p:sp>
        <p:nvSpPr>
          <p:cNvPr id="22" name="TextBox 21"/>
          <p:cNvSpPr txBox="1"/>
          <p:nvPr/>
        </p:nvSpPr>
        <p:spPr>
          <a:xfrm>
            <a:off x="1463040" y="3813048"/>
            <a:ext cx="3291840" cy="365760"/>
          </a:xfrm>
          <a:prstGeom prst="rect">
            <a:avLst/>
          </a:prstGeom>
          <a:noFill/>
        </p:spPr>
        <p:txBody>
          <a:bodyPr wrap="none">
            <a:spAutoFit/>
          </a:bodyPr>
          <a:lstStyle/>
          <a:p>
            <a:pPr>
              <a:defRPr sz="1350" b="1">
                <a:solidFill>
                  <a:srgbClr val="1B3A5C"/>
                </a:solidFill>
                <a:latin typeface="Microsoft YaHei"/>
              </a:defRPr>
            </a:pPr>
            <a:r>
              <a:t>自然垄断与价格管制</a:t>
            </a:r>
          </a:p>
        </p:txBody>
      </p:sp>
      <p:sp>
        <p:nvSpPr>
          <p:cNvPr id="23" name="TextBox 22"/>
          <p:cNvSpPr txBox="1"/>
          <p:nvPr/>
        </p:nvSpPr>
        <p:spPr>
          <a:xfrm>
            <a:off x="4846320" y="3794759"/>
            <a:ext cx="6675120" cy="960120"/>
          </a:xfrm>
          <a:prstGeom prst="rect">
            <a:avLst/>
          </a:prstGeom>
          <a:noFill/>
        </p:spPr>
        <p:txBody>
          <a:bodyPr wrap="square">
            <a:spAutoFit/>
          </a:bodyPr>
          <a:lstStyle/>
          <a:p>
            <a:pPr>
              <a:defRPr sz="1100">
                <a:solidFill>
                  <a:srgbClr val="2C2C2C"/>
                </a:solidFill>
                <a:latin typeface="Microsoft YaHei"/>
              </a:defRPr>
            </a:pPr>
            <a:r>
              <a:t>自然垄断面临“成本效率与垄断高价/过度进入”两难；边际成本定价社会最优但面临巨亏，平均成本定价保本微利但引发A-J效应；两部分价目表与拉姆齐定价实现高效成本分摊。</a:t>
            </a:r>
          </a:p>
        </p:txBody>
      </p:sp>
      <p:sp>
        <p:nvSpPr>
          <p:cNvPr id="24" name="Rectangle 23"/>
          <p:cNvSpPr/>
          <p:nvPr/>
        </p:nvSpPr>
        <p:spPr>
          <a:xfrm>
            <a:off x="457200" y="4946903"/>
            <a:ext cx="11247120" cy="1078992"/>
          </a:xfrm>
          <a:prstGeom prst="rect">
            <a:avLst/>
          </a:prstGeom>
          <a:solidFill>
            <a:srgbClr val="F5F7FA"/>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7200" y="4946903"/>
            <a:ext cx="822960" cy="107899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 y="5221223"/>
            <a:ext cx="822960" cy="457200"/>
          </a:xfrm>
          <a:prstGeom prst="rect">
            <a:avLst/>
          </a:prstGeom>
          <a:noFill/>
        </p:spPr>
        <p:txBody>
          <a:bodyPr wrap="none">
            <a:spAutoFit/>
          </a:bodyPr>
          <a:lstStyle/>
          <a:p>
            <a:pPr algn="ctr">
              <a:defRPr sz="2000" b="1">
                <a:solidFill>
                  <a:srgbClr val="FFFFFF"/>
                </a:solidFill>
                <a:latin typeface="Microsoft YaHei"/>
              </a:defRPr>
            </a:pPr>
            <a:r>
              <a:t>04</a:t>
            </a:r>
          </a:p>
        </p:txBody>
      </p:sp>
      <p:sp>
        <p:nvSpPr>
          <p:cNvPr id="27" name="TextBox 26"/>
          <p:cNvSpPr txBox="1"/>
          <p:nvPr/>
        </p:nvSpPr>
        <p:spPr>
          <a:xfrm>
            <a:off x="1463040" y="5020055"/>
            <a:ext cx="3291840" cy="365760"/>
          </a:xfrm>
          <a:prstGeom prst="rect">
            <a:avLst/>
          </a:prstGeom>
          <a:noFill/>
        </p:spPr>
        <p:txBody>
          <a:bodyPr wrap="none">
            <a:spAutoFit/>
          </a:bodyPr>
          <a:lstStyle/>
          <a:p>
            <a:pPr>
              <a:defRPr sz="1350" b="1">
                <a:solidFill>
                  <a:srgbClr val="1B3A5C"/>
                </a:solidFill>
                <a:latin typeface="Microsoft YaHei"/>
              </a:defRPr>
            </a:pPr>
            <a:r>
              <a:t>管制模式与规制副作用</a:t>
            </a:r>
          </a:p>
        </p:txBody>
      </p:sp>
      <p:sp>
        <p:nvSpPr>
          <p:cNvPr id="28" name="TextBox 27"/>
          <p:cNvSpPr txBox="1"/>
          <p:nvPr/>
        </p:nvSpPr>
        <p:spPr>
          <a:xfrm>
            <a:off x="4846320" y="5001767"/>
            <a:ext cx="6675120" cy="960120"/>
          </a:xfrm>
          <a:prstGeom prst="rect">
            <a:avLst/>
          </a:prstGeom>
          <a:noFill/>
        </p:spPr>
        <p:txBody>
          <a:bodyPr wrap="square">
            <a:spAutoFit/>
          </a:bodyPr>
          <a:lstStyle/>
          <a:p>
            <a:pPr>
              <a:defRPr sz="1100">
                <a:solidFill>
                  <a:srgbClr val="2C2C2C"/>
                </a:solidFill>
                <a:latin typeface="Microsoft YaHei"/>
              </a:defRPr>
            </a:pPr>
            <a:r>
              <a:t>德姆塞茨特许经营权竞标引入事先竞争，公有企业兼顾民意但面临X-非效率；必须防范规制俘获与政府失灵，打造高质量管制以形成国家竞争优势。</a:t>
            </a:r>
          </a:p>
        </p:txBody>
      </p:sp>
      <p:sp>
        <p:nvSpPr>
          <p:cNvPr id="29" name="TextBox 28"/>
          <p:cNvSpPr txBox="1"/>
          <p:nvPr/>
        </p:nvSpPr>
        <p:spPr>
          <a:xfrm>
            <a:off x="457200" y="6172200"/>
            <a:ext cx="11274552" cy="411480"/>
          </a:xfrm>
          <a:prstGeom prst="rect">
            <a:avLst/>
          </a:prstGeom>
          <a:noFill/>
        </p:spPr>
        <p:txBody>
          <a:bodyPr wrap="square">
            <a:spAutoFit/>
          </a:bodyPr>
          <a:lstStyle/>
          <a:p>
            <a:pPr>
              <a:defRPr sz="1300" b="1">
                <a:solidFill>
                  <a:srgbClr val="C88C1B"/>
                </a:solidFill>
                <a:latin typeface="Microsoft YaHei"/>
              </a:defRPr>
            </a:pPr>
            <a:r>
              <a:t>政策总结：反垄断与经济管制是维护市场竞争合理秩序、保障社会福利、打造高质量现代化经济体系的基础性柱石。</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
            <a:ext cx="5486400" cy="320040"/>
          </a:xfrm>
          <a:prstGeom prst="rect">
            <a:avLst/>
          </a:prstGeom>
          <a:noFill/>
        </p:spPr>
        <p:txBody>
          <a:bodyPr wrap="square">
            <a:spAutoFit/>
          </a:bodyPr>
          <a:lstStyle/>
          <a:p>
            <a:pPr>
              <a:defRPr sz="1200" b="1">
                <a:solidFill>
                  <a:srgbClr val="2E86C1"/>
                </a:solidFill>
                <a:latin typeface="Microsoft YaHei"/>
              </a:defRPr>
            </a:pPr>
            <a:r>
              <a:t>思考题</a:t>
            </a:r>
          </a:p>
        </p:txBody>
      </p:sp>
      <p:sp>
        <p:nvSpPr>
          <p:cNvPr id="5" name="TextBox 4"/>
          <p:cNvSpPr txBox="1"/>
          <p:nvPr/>
        </p:nvSpPr>
        <p:spPr>
          <a:xfrm>
            <a:off x="457200" y="502920"/>
            <a:ext cx="10515600" cy="548640"/>
          </a:xfrm>
          <a:prstGeom prst="rect">
            <a:avLst/>
          </a:prstGeom>
          <a:noFill/>
        </p:spPr>
        <p:txBody>
          <a:bodyPr wrap="square">
            <a:spAutoFit/>
          </a:bodyPr>
          <a:lstStyle/>
          <a:p>
            <a:pPr>
              <a:defRPr sz="2600" b="1">
                <a:solidFill>
                  <a:srgbClr val="1B3A5C"/>
                </a:solidFill>
                <a:latin typeface="Microsoft YaHei"/>
              </a:defRPr>
            </a:pPr>
            <a:r>
              <a:t>第十章 练习题</a:t>
            </a:r>
          </a:p>
        </p:txBody>
      </p:sp>
      <p:sp>
        <p:nvSpPr>
          <p:cNvPr id="6" name="Rectangle 5"/>
          <p:cNvSpPr/>
          <p:nvPr/>
        </p:nvSpPr>
        <p:spPr>
          <a:xfrm>
            <a:off x="457200" y="1078992"/>
            <a:ext cx="1097280" cy="3657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a:spAutoFit/>
          </a:bodyPr>
          <a:lstStyle/>
          <a:p>
            <a:pPr>
              <a:defRPr sz="1000">
                <a:solidFill>
                  <a:srgbClr val="6B6B6B"/>
                </a:solidFill>
                <a:latin typeface="Microsoft YaHei"/>
              </a:defRPr>
            </a:pPr>
            <a:r>
              <a:t>产业经济学 · 刘志彪（第3版）</a:t>
            </a:r>
          </a:p>
        </p:txBody>
      </p:sp>
      <p:sp>
        <p:nvSpPr>
          <p:cNvPr id="8" name="TextBox 7"/>
          <p:cNvSpPr txBox="1"/>
          <p:nvPr/>
        </p:nvSpPr>
        <p:spPr>
          <a:xfrm>
            <a:off x="11155680" y="6400800"/>
            <a:ext cx="731520" cy="320040"/>
          </a:xfrm>
          <a:prstGeom prst="rect">
            <a:avLst/>
          </a:prstGeom>
          <a:noFill/>
        </p:spPr>
        <p:txBody>
          <a:bodyPr wrap="none">
            <a:spAutoFit/>
          </a:bodyPr>
          <a:lstStyle/>
          <a:p>
            <a:pPr algn="r">
              <a:defRPr sz="1100">
                <a:solidFill>
                  <a:srgbClr val="6B6B6B"/>
                </a:solidFill>
                <a:latin typeface="Microsoft YaHei"/>
              </a:defRPr>
            </a:pPr>
            <a:r>
              <a:t>38</a:t>
            </a:r>
          </a:p>
        </p:txBody>
      </p:sp>
      <p:sp>
        <p:nvSpPr>
          <p:cNvPr id="9" name="TextBox 8"/>
          <p:cNvSpPr txBox="1"/>
          <p:nvPr/>
        </p:nvSpPr>
        <p:spPr>
          <a:xfrm>
            <a:off x="457200" y="1325880"/>
            <a:ext cx="5669280" cy="502920"/>
          </a:xfrm>
          <a:prstGeom prst="rect">
            <a:avLst/>
          </a:prstGeom>
          <a:noFill/>
        </p:spPr>
        <p:txBody>
          <a:bodyPr wrap="square">
            <a:spAutoFit/>
          </a:bodyPr>
          <a:lstStyle/>
          <a:p>
            <a:pPr>
              <a:defRPr sz="1100">
                <a:solidFill>
                  <a:srgbClr val="2C2C2C"/>
                </a:solidFill>
                <a:latin typeface="Microsoft YaHei"/>
              </a:defRPr>
            </a:pPr>
            <a:r>
              <a:t>1. 什么是反垄断法？为什么说反垄断法是一个国家的“经济宪法”？</a:t>
            </a:r>
          </a:p>
        </p:txBody>
      </p:sp>
      <p:sp>
        <p:nvSpPr>
          <p:cNvPr id="10" name="TextBox 9"/>
          <p:cNvSpPr txBox="1"/>
          <p:nvPr/>
        </p:nvSpPr>
        <p:spPr>
          <a:xfrm>
            <a:off x="457200" y="1920240"/>
            <a:ext cx="5669280" cy="502920"/>
          </a:xfrm>
          <a:prstGeom prst="rect">
            <a:avLst/>
          </a:prstGeom>
          <a:noFill/>
        </p:spPr>
        <p:txBody>
          <a:bodyPr wrap="square">
            <a:spAutoFit/>
          </a:bodyPr>
          <a:lstStyle/>
          <a:p>
            <a:pPr>
              <a:defRPr sz="1100">
                <a:solidFill>
                  <a:srgbClr val="2C2C2C"/>
                </a:solidFill>
                <a:latin typeface="Microsoft YaHei"/>
              </a:defRPr>
            </a:pPr>
            <a:r>
              <a:t>2. 结合远大医药案，分析原料药领域的横向协议与滥用支配地位对社会福利的危害。</a:t>
            </a:r>
          </a:p>
        </p:txBody>
      </p:sp>
      <p:sp>
        <p:nvSpPr>
          <p:cNvPr id="11" name="TextBox 10"/>
          <p:cNvSpPr txBox="1"/>
          <p:nvPr/>
        </p:nvSpPr>
        <p:spPr>
          <a:xfrm>
            <a:off x="457200" y="2514600"/>
            <a:ext cx="5669280" cy="502920"/>
          </a:xfrm>
          <a:prstGeom prst="rect">
            <a:avLst/>
          </a:prstGeom>
          <a:noFill/>
        </p:spPr>
        <p:txBody>
          <a:bodyPr wrap="square">
            <a:spAutoFit/>
          </a:bodyPr>
          <a:lstStyle/>
          <a:p>
            <a:pPr>
              <a:defRPr sz="1100">
                <a:solidFill>
                  <a:srgbClr val="2C2C2C"/>
                </a:solidFill>
                <a:latin typeface="Microsoft YaHei"/>
              </a:defRPr>
            </a:pPr>
            <a:r>
              <a:t>3. 比较美国《谢尔曼法》、《克莱顿法》与《联邦贸易委员会法》的核心监管重点。</a:t>
            </a:r>
          </a:p>
        </p:txBody>
      </p:sp>
      <p:sp>
        <p:nvSpPr>
          <p:cNvPr id="12" name="TextBox 11"/>
          <p:cNvSpPr txBox="1"/>
          <p:nvPr/>
        </p:nvSpPr>
        <p:spPr>
          <a:xfrm>
            <a:off x="457200" y="3108960"/>
            <a:ext cx="5669280" cy="502920"/>
          </a:xfrm>
          <a:prstGeom prst="rect">
            <a:avLst/>
          </a:prstGeom>
          <a:noFill/>
        </p:spPr>
        <p:txBody>
          <a:bodyPr wrap="square">
            <a:spAutoFit/>
          </a:bodyPr>
          <a:lstStyle/>
          <a:p>
            <a:pPr>
              <a:defRPr sz="1100">
                <a:solidFill>
                  <a:srgbClr val="2C2C2C"/>
                </a:solidFill>
                <a:latin typeface="Microsoft YaHei"/>
              </a:defRPr>
            </a:pPr>
            <a:r>
              <a:t>4. 解释本身违法原则与合理推定原则的区别，并举例说明各自的适用范围。</a:t>
            </a:r>
          </a:p>
        </p:txBody>
      </p:sp>
      <p:sp>
        <p:nvSpPr>
          <p:cNvPr id="13" name="TextBox 12"/>
          <p:cNvSpPr txBox="1"/>
          <p:nvPr/>
        </p:nvSpPr>
        <p:spPr>
          <a:xfrm>
            <a:off x="457200" y="3703320"/>
            <a:ext cx="5669280" cy="502920"/>
          </a:xfrm>
          <a:prstGeom prst="rect">
            <a:avLst/>
          </a:prstGeom>
          <a:noFill/>
        </p:spPr>
        <p:txBody>
          <a:bodyPr wrap="square">
            <a:spAutoFit/>
          </a:bodyPr>
          <a:lstStyle/>
          <a:p>
            <a:pPr>
              <a:defRPr sz="1100">
                <a:solidFill>
                  <a:srgbClr val="2C2C2C"/>
                </a:solidFill>
                <a:latin typeface="Microsoft YaHei"/>
              </a:defRPr>
            </a:pPr>
            <a:r>
              <a:t>5. 横向竞争限制有哪些具体形式？为什么市场划分比形式上的价格固定具有更大的反竞争效果？</a:t>
            </a:r>
          </a:p>
        </p:txBody>
      </p:sp>
      <p:sp>
        <p:nvSpPr>
          <p:cNvPr id="14" name="TextBox 13"/>
          <p:cNvSpPr txBox="1"/>
          <p:nvPr/>
        </p:nvSpPr>
        <p:spPr>
          <a:xfrm>
            <a:off x="457200" y="4297680"/>
            <a:ext cx="5669280" cy="502920"/>
          </a:xfrm>
          <a:prstGeom prst="rect">
            <a:avLst/>
          </a:prstGeom>
          <a:noFill/>
        </p:spPr>
        <p:txBody>
          <a:bodyPr wrap="square">
            <a:spAutoFit/>
          </a:bodyPr>
          <a:lstStyle/>
          <a:p>
            <a:pPr>
              <a:defRPr sz="1100">
                <a:solidFill>
                  <a:srgbClr val="2C2C2C"/>
                </a:solidFill>
                <a:latin typeface="Microsoft YaHei"/>
              </a:defRPr>
            </a:pPr>
            <a:r>
              <a:t>6. 什么是纵向约束？独占销售协议、地域限制与搭售行为在什么条件下违反反垄断法？</a:t>
            </a:r>
          </a:p>
        </p:txBody>
      </p:sp>
      <p:sp>
        <p:nvSpPr>
          <p:cNvPr id="15" name="TextBox 14"/>
          <p:cNvSpPr txBox="1"/>
          <p:nvPr/>
        </p:nvSpPr>
        <p:spPr>
          <a:xfrm>
            <a:off x="457200" y="4892040"/>
            <a:ext cx="5669280" cy="502920"/>
          </a:xfrm>
          <a:prstGeom prst="rect">
            <a:avLst/>
          </a:prstGeom>
          <a:noFill/>
        </p:spPr>
        <p:txBody>
          <a:bodyPr wrap="square">
            <a:spAutoFit/>
          </a:bodyPr>
          <a:lstStyle/>
          <a:p>
            <a:pPr>
              <a:defRPr sz="1100">
                <a:solidFill>
                  <a:srgbClr val="2C2C2C"/>
                </a:solidFill>
                <a:latin typeface="Microsoft YaHei"/>
              </a:defRPr>
            </a:pPr>
            <a:r>
              <a:t>7. 什么是 HHI 指数？《兼并指导原则》如何根据 HHI 指数划分市场集中度与兼并审查标准？</a:t>
            </a:r>
          </a:p>
        </p:txBody>
      </p:sp>
      <p:sp>
        <p:nvSpPr>
          <p:cNvPr id="16" name="TextBox 15"/>
          <p:cNvSpPr txBox="1"/>
          <p:nvPr/>
        </p:nvSpPr>
        <p:spPr>
          <a:xfrm>
            <a:off x="457200" y="5486400"/>
            <a:ext cx="5669280" cy="502920"/>
          </a:xfrm>
          <a:prstGeom prst="rect">
            <a:avLst/>
          </a:prstGeom>
          <a:noFill/>
        </p:spPr>
        <p:txBody>
          <a:bodyPr wrap="square">
            <a:spAutoFit/>
          </a:bodyPr>
          <a:lstStyle/>
          <a:p>
            <a:pPr>
              <a:defRPr sz="1100">
                <a:solidFill>
                  <a:srgbClr val="2C2C2C"/>
                </a:solidFill>
                <a:latin typeface="Microsoft YaHei"/>
              </a:defRPr>
            </a:pPr>
            <a:r>
              <a:t>8. 比较美国司法主导的反托拉斯模式与欧盟行政监管的竞争政策模式有何异同。</a:t>
            </a:r>
          </a:p>
        </p:txBody>
      </p:sp>
      <p:sp>
        <p:nvSpPr>
          <p:cNvPr id="17" name="TextBox 16"/>
          <p:cNvSpPr txBox="1"/>
          <p:nvPr/>
        </p:nvSpPr>
        <p:spPr>
          <a:xfrm>
            <a:off x="6263640" y="1325880"/>
            <a:ext cx="5669280" cy="502920"/>
          </a:xfrm>
          <a:prstGeom prst="rect">
            <a:avLst/>
          </a:prstGeom>
          <a:noFill/>
        </p:spPr>
        <p:txBody>
          <a:bodyPr wrap="square">
            <a:spAutoFit/>
          </a:bodyPr>
          <a:lstStyle/>
          <a:p>
            <a:pPr>
              <a:defRPr sz="1100">
                <a:solidFill>
                  <a:srgbClr val="2C2C2C"/>
                </a:solidFill>
                <a:latin typeface="Microsoft YaHei"/>
              </a:defRPr>
            </a:pPr>
            <a:r>
              <a:t>9. 我国为什么需要从选择性“产业政策”转向“竞争政策”的基础性地位？</a:t>
            </a:r>
          </a:p>
        </p:txBody>
      </p:sp>
      <p:sp>
        <p:nvSpPr>
          <p:cNvPr id="18" name="TextBox 17"/>
          <p:cNvSpPr txBox="1"/>
          <p:nvPr/>
        </p:nvSpPr>
        <p:spPr>
          <a:xfrm>
            <a:off x="6263640" y="1920240"/>
            <a:ext cx="5669280" cy="502920"/>
          </a:xfrm>
          <a:prstGeom prst="rect">
            <a:avLst/>
          </a:prstGeom>
          <a:noFill/>
        </p:spPr>
        <p:txBody>
          <a:bodyPr wrap="square">
            <a:spAutoFit/>
          </a:bodyPr>
          <a:lstStyle/>
          <a:p>
            <a:pPr>
              <a:defRPr sz="1100">
                <a:solidFill>
                  <a:srgbClr val="2C2C2C"/>
                </a:solidFill>
                <a:latin typeface="Microsoft YaHei"/>
              </a:defRPr>
            </a:pPr>
            <a:r>
              <a:t>10. 结合2012年产能过剩数据，分析盲目实施产业政策对市场竞争与行业利润的副作用。</a:t>
            </a:r>
          </a:p>
        </p:txBody>
      </p:sp>
      <p:sp>
        <p:nvSpPr>
          <p:cNvPr id="19" name="TextBox 18"/>
          <p:cNvSpPr txBox="1"/>
          <p:nvPr/>
        </p:nvSpPr>
        <p:spPr>
          <a:xfrm>
            <a:off x="6263640" y="2514600"/>
            <a:ext cx="5669280" cy="502920"/>
          </a:xfrm>
          <a:prstGeom prst="rect">
            <a:avLst/>
          </a:prstGeom>
          <a:noFill/>
        </p:spPr>
        <p:txBody>
          <a:bodyPr wrap="square">
            <a:spAutoFit/>
          </a:bodyPr>
          <a:lstStyle/>
          <a:p>
            <a:pPr>
              <a:defRPr sz="1100">
                <a:solidFill>
                  <a:srgbClr val="2C2C2C"/>
                </a:solidFill>
                <a:latin typeface="Microsoft YaHei"/>
              </a:defRPr>
            </a:pPr>
            <a:r>
              <a:t>11. 简述2022年新修正的《中华人民共和国反垄断法》规制的四大垄断行为。</a:t>
            </a:r>
          </a:p>
        </p:txBody>
      </p:sp>
      <p:sp>
        <p:nvSpPr>
          <p:cNvPr id="20" name="TextBox 19"/>
          <p:cNvSpPr txBox="1"/>
          <p:nvPr/>
        </p:nvSpPr>
        <p:spPr>
          <a:xfrm>
            <a:off x="6263640" y="3108960"/>
            <a:ext cx="5669280" cy="502920"/>
          </a:xfrm>
          <a:prstGeom prst="rect">
            <a:avLst/>
          </a:prstGeom>
          <a:noFill/>
        </p:spPr>
        <p:txBody>
          <a:bodyPr wrap="square">
            <a:spAutoFit/>
          </a:bodyPr>
          <a:lstStyle/>
          <a:p>
            <a:pPr>
              <a:defRPr sz="1100">
                <a:solidFill>
                  <a:srgbClr val="2C2C2C"/>
                </a:solidFill>
                <a:latin typeface="Microsoft YaHei"/>
              </a:defRPr>
            </a:pPr>
            <a:r>
              <a:t>12. 我国反垄断执法机构经历了怎样的重组与演变？国家反垄断局的设立有何意义？</a:t>
            </a:r>
          </a:p>
        </p:txBody>
      </p:sp>
      <p:sp>
        <p:nvSpPr>
          <p:cNvPr id="21" name="TextBox 20"/>
          <p:cNvSpPr txBox="1"/>
          <p:nvPr/>
        </p:nvSpPr>
        <p:spPr>
          <a:xfrm>
            <a:off x="6263640" y="3703320"/>
            <a:ext cx="5669280" cy="502920"/>
          </a:xfrm>
          <a:prstGeom prst="rect">
            <a:avLst/>
          </a:prstGeom>
          <a:noFill/>
        </p:spPr>
        <p:txBody>
          <a:bodyPr wrap="square">
            <a:spAutoFit/>
          </a:bodyPr>
          <a:lstStyle/>
          <a:p>
            <a:pPr>
              <a:defRPr sz="1100">
                <a:solidFill>
                  <a:srgbClr val="2C2C2C"/>
                </a:solidFill>
                <a:latin typeface="Microsoft YaHei"/>
              </a:defRPr>
            </a:pPr>
            <a:r>
              <a:t>13. 什么是自然垄断？为什么自然垄断行业在非管制环境下面临“两难困境”？</a:t>
            </a:r>
          </a:p>
        </p:txBody>
      </p:sp>
      <p:sp>
        <p:nvSpPr>
          <p:cNvPr id="22" name="TextBox 21"/>
          <p:cNvSpPr txBox="1"/>
          <p:nvPr/>
        </p:nvSpPr>
        <p:spPr>
          <a:xfrm>
            <a:off x="6263640" y="4297680"/>
            <a:ext cx="5669280" cy="502920"/>
          </a:xfrm>
          <a:prstGeom prst="rect">
            <a:avLst/>
          </a:prstGeom>
          <a:noFill/>
        </p:spPr>
        <p:txBody>
          <a:bodyPr wrap="square">
            <a:spAutoFit/>
          </a:bodyPr>
          <a:lstStyle/>
          <a:p>
            <a:pPr>
              <a:defRPr sz="1100">
                <a:solidFill>
                  <a:srgbClr val="2C2C2C"/>
                </a:solidFill>
                <a:latin typeface="Microsoft YaHei"/>
              </a:defRPr>
            </a:pPr>
            <a:r>
              <a:t>14. 比较边际成本定价、平均成本定价、两部分价目表与拉姆齐定价原则的优缺点。</a:t>
            </a:r>
          </a:p>
        </p:txBody>
      </p:sp>
      <p:sp>
        <p:nvSpPr>
          <p:cNvPr id="23" name="TextBox 22"/>
          <p:cNvSpPr txBox="1"/>
          <p:nvPr/>
        </p:nvSpPr>
        <p:spPr>
          <a:xfrm>
            <a:off x="6263640" y="4892040"/>
            <a:ext cx="5669280" cy="502920"/>
          </a:xfrm>
          <a:prstGeom prst="rect">
            <a:avLst/>
          </a:prstGeom>
          <a:noFill/>
        </p:spPr>
        <p:txBody>
          <a:bodyPr wrap="square">
            <a:spAutoFit/>
          </a:bodyPr>
          <a:lstStyle/>
          <a:p>
            <a:pPr>
              <a:defRPr sz="1100">
                <a:solidFill>
                  <a:srgbClr val="2C2C2C"/>
                </a:solidFill>
                <a:latin typeface="Microsoft YaHei"/>
              </a:defRPr>
            </a:pPr>
            <a:r>
              <a:t>15. 什么是特许经营权招标投标？德姆塞茨竞标机制在现实运行中面临哪些挑战？</a:t>
            </a:r>
          </a:p>
        </p:txBody>
      </p:sp>
      <p:sp>
        <p:nvSpPr>
          <p:cNvPr id="24" name="TextBox 23"/>
          <p:cNvSpPr txBox="1"/>
          <p:nvPr/>
        </p:nvSpPr>
        <p:spPr>
          <a:xfrm>
            <a:off x="6263640" y="5486400"/>
            <a:ext cx="5669280" cy="502920"/>
          </a:xfrm>
          <a:prstGeom prst="rect">
            <a:avLst/>
          </a:prstGeom>
          <a:noFill/>
        </p:spPr>
        <p:txBody>
          <a:bodyPr wrap="square">
            <a:spAutoFit/>
          </a:bodyPr>
          <a:lstStyle/>
          <a:p>
            <a:pPr>
              <a:defRPr sz="1100">
                <a:solidFill>
                  <a:srgbClr val="2C2C2C"/>
                </a:solidFill>
                <a:latin typeface="Microsoft YaHei"/>
              </a:defRPr>
            </a:pPr>
            <a:r>
              <a:t>16. 什么是规制俘获？如何避免管制的副作用以提高一国的规制竞争优势？</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