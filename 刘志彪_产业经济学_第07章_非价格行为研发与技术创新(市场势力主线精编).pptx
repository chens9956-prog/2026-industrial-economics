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914400"/>
            <a:ext cx="10362895" cy="13716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48495" cy="3657600"/>
          </a:xfrm>
          <a:prstGeom prst="rect">
            <a:avLst/>
          </a:prstGeom>
          <a:noFill/>
        </p:spPr>
        <p:txBody>
          <a:bodyPr wrap="square">
            <a:spAutoFit/>
          </a:bodyPr>
          <a:lstStyle/>
          <a:p>
            <a:pPr>
              <a:defRPr sz="1800" b="1">
                <a:solidFill>
                  <a:srgbClr val="2D6A4F"/>
                </a:solidFill>
                <a:latin typeface="微软雅黑"/>
              </a:defRPr>
            </a:pPr>
            <a:r>
              <a:t>产业经济学 · 核心教材精讲</a:t>
            </a:r>
          </a:p>
          <a:p>
            <a:pPr>
              <a:spcBef>
                <a:spcPts val="1000"/>
              </a:spcBef>
              <a:defRPr sz="3000" b="1">
                <a:solidFill>
                  <a:srgbClr val="1B4965"/>
                </a:solidFill>
                <a:latin typeface="微软雅黑"/>
              </a:defRPr>
            </a:pPr>
            <a:r>
              <a:t>第七章  非价格行为：研发与技术创新</a:t>
            </a:r>
          </a:p>
          <a:p>
            <a:pPr>
              <a:spcBef>
                <a:spcPts val="1500"/>
              </a:spcBef>
              <a:defRPr sz="1800" b="1">
                <a:solidFill>
                  <a:srgbClr val="C58A21"/>
                </a:solidFill>
                <a:latin typeface="微软雅黑"/>
              </a:defRPr>
            </a:pPr>
            <a:r>
              <a:t>【核心主线】：动态市场势力的创造、破坏与技术垄断壁垒</a:t>
            </a:r>
          </a:p>
          <a:p>
            <a:pPr>
              <a:spcBef>
                <a:spcPts val="2500"/>
              </a:spcBef>
              <a:defRPr sz="1400">
                <a:solidFill>
                  <a:srgbClr val="64748B"/>
                </a:solidFill>
                <a:latin typeface="宋体"/>
              </a:defRPr>
            </a:pPr>
            <a:r>
              <a:t>教材依据：刘志彪《产业经济学》（第3版·高等教育/机械工业出版社）</a:t>
            </a:r>
            <a:br/>
            <a:r>
              <a:t>制作风格：自然清新 · 排版高尚大气 · 浅色系精品课件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本章目录与市场势力（Market Power）主线映射</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2 / 16 页</a:t>
            </a:r>
          </a:p>
        </p:txBody>
      </p:sp>
      <p:sp>
        <p:nvSpPr>
          <p:cNvPr id="6" name="Rounded Rectangle 5"/>
          <p:cNvSpPr/>
          <p:nvPr/>
        </p:nvSpPr>
        <p:spPr>
          <a:xfrm>
            <a:off x="7315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4134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047695" cy="4297680"/>
          </a:xfrm>
          <a:prstGeom prst="rect">
            <a:avLst/>
          </a:prstGeom>
          <a:noFill/>
        </p:spPr>
        <p:txBody>
          <a:bodyPr wrap="square">
            <a:spAutoFit/>
          </a:bodyPr>
          <a:lstStyle/>
          <a:p>
            <a:pPr>
              <a:spcAft>
                <a:spcPts val="800"/>
              </a:spcAft>
              <a:defRPr sz="1500" b="1">
                <a:solidFill>
                  <a:srgbClr val="1B4965"/>
                </a:solidFill>
                <a:latin typeface="微软雅黑"/>
              </a:defRPr>
            </a:pPr>
            <a:r>
              <a:t>第一节 研发形式与机制</a:t>
            </a:r>
          </a:p>
          <a:p>
            <a:pPr>
              <a:spcAft>
                <a:spcPts val="600"/>
              </a:spcAft>
            </a:pPr>
            <a:r>
              <a:rPr b="1" sz="1250">
                <a:solidFill>
                  <a:srgbClr val="1E293B"/>
                </a:solidFill>
                <a:latin typeface="微软雅黑"/>
              </a:rPr>
              <a:t>核心内容：</a:t>
            </a:r>
            <a:r>
              <a:rPr sz="1250">
                <a:solidFill>
                  <a:srgbClr val="1E293B"/>
                </a:solidFill>
                <a:latin typeface="宋体"/>
              </a:rPr>
              <a:t>产品与工艺创新、熊彼特假说</a:t>
            </a:r>
          </a:p>
          <a:p>
            <a:pPr>
              <a:spcAft>
                <a:spcPts val="600"/>
              </a:spcAft>
            </a:pPr>
            <a:r>
              <a:rPr b="1" sz="1250">
                <a:solidFill>
                  <a:srgbClr val="1E293B"/>
                </a:solidFill>
                <a:latin typeface="微软雅黑"/>
              </a:rPr>
              <a:t>主线映射：</a:t>
            </a:r>
            <a:r>
              <a:rPr sz="1250">
                <a:solidFill>
                  <a:srgbClr val="1E293B"/>
                </a:solidFill>
                <a:latin typeface="宋体"/>
              </a:rPr>
              <a:t>创新是创造与破坏动态市场势力的源泉。</a:t>
            </a:r>
          </a:p>
        </p:txBody>
      </p:sp>
      <p:sp>
        <p:nvSpPr>
          <p:cNvPr id="9" name="Rounded Rectangle 8"/>
          <p:cNvSpPr/>
          <p:nvPr/>
        </p:nvSpPr>
        <p:spPr>
          <a:xfrm>
            <a:off x="43891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341345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3047695" cy="4297680"/>
          </a:xfrm>
          <a:prstGeom prst="rect">
            <a:avLst/>
          </a:prstGeom>
          <a:noFill/>
        </p:spPr>
        <p:txBody>
          <a:bodyPr wrap="square">
            <a:spAutoFit/>
          </a:bodyPr>
          <a:lstStyle/>
          <a:p>
            <a:pPr>
              <a:spcAft>
                <a:spcPts val="800"/>
              </a:spcAft>
              <a:defRPr sz="1500" b="1">
                <a:solidFill>
                  <a:srgbClr val="2D6A4F"/>
                </a:solidFill>
                <a:latin typeface="微软雅黑"/>
              </a:defRPr>
            </a:pPr>
            <a:r>
              <a:t>第二节 市场结构与创新</a:t>
            </a:r>
          </a:p>
          <a:p>
            <a:pPr>
              <a:spcAft>
                <a:spcPts val="600"/>
              </a:spcAft>
            </a:pPr>
            <a:r>
              <a:rPr b="1" sz="1250">
                <a:solidFill>
                  <a:srgbClr val="1E293B"/>
                </a:solidFill>
                <a:latin typeface="微软雅黑"/>
              </a:rPr>
              <a:t>核心内容：</a:t>
            </a:r>
            <a:r>
              <a:rPr sz="1250">
                <a:solidFill>
                  <a:srgbClr val="1E293B"/>
                </a:solidFill>
                <a:latin typeface="宋体"/>
              </a:rPr>
              <a:t>阿罗替代效应与倒 U 型假说</a:t>
            </a:r>
          </a:p>
          <a:p>
            <a:pPr>
              <a:spcAft>
                <a:spcPts val="600"/>
              </a:spcAft>
            </a:pPr>
            <a:r>
              <a:rPr b="1" sz="1250">
                <a:solidFill>
                  <a:srgbClr val="1E293B"/>
                </a:solidFill>
                <a:latin typeface="微软雅黑"/>
              </a:rPr>
              <a:t>主线映射：</a:t>
            </a:r>
            <a:r>
              <a:rPr sz="1250">
                <a:solidFill>
                  <a:srgbClr val="1E293B"/>
                </a:solidFill>
                <a:latin typeface="宋体"/>
              </a:rPr>
              <a:t>剖析竞争与垄断对创新激励的双重作用。</a:t>
            </a:r>
          </a:p>
        </p:txBody>
      </p:sp>
      <p:sp>
        <p:nvSpPr>
          <p:cNvPr id="12" name="Rounded Rectangle 11"/>
          <p:cNvSpPr/>
          <p:nvPr/>
        </p:nvSpPr>
        <p:spPr>
          <a:xfrm>
            <a:off x="80467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554480"/>
            <a:ext cx="34134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37360"/>
            <a:ext cx="3047695" cy="4297680"/>
          </a:xfrm>
          <a:prstGeom prst="rect">
            <a:avLst/>
          </a:prstGeom>
          <a:noFill/>
        </p:spPr>
        <p:txBody>
          <a:bodyPr wrap="square">
            <a:spAutoFit/>
          </a:bodyPr>
          <a:lstStyle/>
          <a:p>
            <a:pPr>
              <a:spcAft>
                <a:spcPts val="800"/>
              </a:spcAft>
              <a:defRPr sz="1500" b="1">
                <a:solidFill>
                  <a:srgbClr val="C58A21"/>
                </a:solidFill>
                <a:latin typeface="微软雅黑"/>
              </a:defRPr>
            </a:pPr>
            <a:r>
              <a:t>第三节 专利与扩散策略</a:t>
            </a:r>
          </a:p>
          <a:p>
            <a:pPr>
              <a:spcAft>
                <a:spcPts val="600"/>
              </a:spcAft>
            </a:pPr>
            <a:r>
              <a:rPr b="1" sz="1250">
                <a:solidFill>
                  <a:srgbClr val="1E293B"/>
                </a:solidFill>
                <a:latin typeface="微软雅黑"/>
              </a:rPr>
              <a:t>核心内容：</a:t>
            </a:r>
            <a:r>
              <a:rPr sz="1250">
                <a:solidFill>
                  <a:srgbClr val="1E293B"/>
                </a:solidFill>
                <a:latin typeface="宋体"/>
              </a:rPr>
              <a:t>专利竞赛、专利墙与杀伤性并购</a:t>
            </a:r>
          </a:p>
          <a:p>
            <a:pPr>
              <a:spcAft>
                <a:spcPts val="600"/>
              </a:spcAft>
            </a:pPr>
            <a:r>
              <a:rPr b="1" sz="1250">
                <a:solidFill>
                  <a:srgbClr val="1E293B"/>
                </a:solidFill>
                <a:latin typeface="微软雅黑"/>
              </a:rPr>
              <a:t>主线映射：</a:t>
            </a:r>
            <a:r>
              <a:rPr sz="1250">
                <a:solidFill>
                  <a:srgbClr val="1E293B"/>
                </a:solidFill>
                <a:latin typeface="宋体"/>
              </a:rPr>
              <a:t>利用技术专利构筑持久的市场垄断壁垒。</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研发与技术创新的基本分类</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工艺创新 vs 产品创新</a:t>
            </a:r>
          </a:p>
          <a:p>
            <a:pPr>
              <a:spcAft>
                <a:spcPts val="600"/>
              </a:spcAft>
            </a:pPr>
            <a:r>
              <a:rPr b="1" sz="1250">
                <a:solidFill>
                  <a:srgbClr val="1E293B"/>
                </a:solidFill>
                <a:latin typeface="微软雅黑"/>
              </a:rPr>
              <a:t>工艺创新 (Process Innovation)：</a:t>
            </a:r>
            <a:r>
              <a:rPr sz="1250">
                <a:solidFill>
                  <a:srgbClr val="1E293B"/>
                </a:solidFill>
                <a:latin typeface="宋体"/>
              </a:rPr>
              <a:t>降低生产成本 ($MC_1 _x000D_ightarrow MC_2$)，提高生产效率。</a:t>
            </a:r>
          </a:p>
          <a:p>
            <a:pPr>
              <a:spcAft>
                <a:spcPts val="600"/>
              </a:spcAft>
            </a:pPr>
            <a:r>
              <a:rPr b="1" sz="1250">
                <a:solidFill>
                  <a:srgbClr val="1E293B"/>
                </a:solidFill>
                <a:latin typeface="微软雅黑"/>
              </a:rPr>
              <a:t>产品创新 (Product Innovation)：</a:t>
            </a:r>
            <a:r>
              <a:rPr sz="1250">
                <a:solidFill>
                  <a:srgbClr val="1E293B"/>
                </a:solidFill>
                <a:latin typeface="宋体"/>
              </a:rPr>
              <a:t>创造全新的产品种类或大幅提升产品质量，创造新市场。</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渐进式创新 vs 颠覆式创新</a:t>
            </a:r>
          </a:p>
          <a:p>
            <a:pPr>
              <a:spcAft>
                <a:spcPts val="600"/>
              </a:spcAft>
            </a:pPr>
            <a:r>
              <a:rPr b="1" sz="1250">
                <a:solidFill>
                  <a:srgbClr val="1E293B"/>
                </a:solidFill>
                <a:latin typeface="微软雅黑"/>
              </a:rPr>
              <a:t>渐进式创新 (Incremental)：</a:t>
            </a:r>
            <a:r>
              <a:rPr sz="1250">
                <a:solidFill>
                  <a:srgbClr val="1E293B"/>
                </a:solidFill>
                <a:latin typeface="宋体"/>
              </a:rPr>
              <a:t>在已有技术轨道上的小幅改进。</a:t>
            </a:r>
          </a:p>
          <a:p>
            <a:pPr>
              <a:spcAft>
                <a:spcPts val="600"/>
              </a:spcAft>
            </a:pPr>
            <a:r>
              <a:rPr b="1" sz="1250">
                <a:solidFill>
                  <a:srgbClr val="1E293B"/>
                </a:solidFill>
                <a:latin typeface="微软雅黑"/>
              </a:rPr>
              <a:t>颠覆式创新 (Radical / Radical)：</a:t>
            </a:r>
            <a:r>
              <a:rPr sz="1250">
                <a:solidFill>
                  <a:srgbClr val="1E293B"/>
                </a:solidFill>
                <a:latin typeface="宋体"/>
              </a:rPr>
              <a:t>改变技术范式，破坏在先垄断者的市场势力。</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熊彼特假设：垄断促进创新</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4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熊彼特（Schumpeter）创造性破坏理论</a:t>
            </a:r>
          </a:p>
          <a:p>
            <a:pPr>
              <a:spcAft>
                <a:spcPts val="600"/>
              </a:spcAft>
            </a:pPr>
            <a:r>
              <a:rPr b="1" sz="1250">
                <a:solidFill>
                  <a:srgbClr val="1E293B"/>
                </a:solidFill>
                <a:latin typeface="微软雅黑"/>
              </a:rPr>
              <a:t>核心观点：</a:t>
            </a:r>
            <a:r>
              <a:rPr sz="1250">
                <a:solidFill>
                  <a:srgbClr val="1E293B"/>
                </a:solidFill>
                <a:latin typeface="宋体"/>
              </a:rPr>
              <a:t>大企业和垄断市场结构是技术创新的最强引擎！</a:t>
            </a:r>
          </a:p>
          <a:p>
            <a:pPr>
              <a:spcAft>
                <a:spcPts val="600"/>
              </a:spcAft>
            </a:pPr>
            <a:r>
              <a:rPr b="1" sz="1250">
                <a:solidFill>
                  <a:srgbClr val="1E293B"/>
                </a:solidFill>
                <a:latin typeface="微软雅黑"/>
              </a:rPr>
              <a:t>内部融资：</a:t>
            </a:r>
            <a:r>
              <a:rPr sz="1250">
                <a:solidFill>
                  <a:srgbClr val="1E293B"/>
                </a:solidFill>
                <a:latin typeface="宋体"/>
              </a:rPr>
              <a:t>垄断超额利润为高风险、大投入的 R&amp;D 提供了稳定资金保障。</a:t>
            </a:r>
          </a:p>
          <a:p>
            <a:pPr>
              <a:spcAft>
                <a:spcPts val="600"/>
              </a:spcAft>
            </a:pPr>
            <a:r>
              <a:rPr b="1" sz="1250">
                <a:solidFill>
                  <a:srgbClr val="1E293B"/>
                </a:solidFill>
                <a:latin typeface="微软雅黑"/>
              </a:rPr>
              <a:t>规模经济：</a:t>
            </a:r>
            <a:r>
              <a:rPr sz="1250">
                <a:solidFill>
                  <a:srgbClr val="1E293B"/>
                </a:solidFill>
                <a:latin typeface="宋体"/>
              </a:rPr>
              <a:t>大企业拥有完善的科研团队、测试设备与全球分销渠道。</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动态竞争观</a:t>
            </a:r>
          </a:p>
          <a:p>
            <a:pPr>
              <a:spcAft>
                <a:spcPts val="600"/>
              </a:spcAft>
            </a:pPr>
            <a:r>
              <a:rPr b="1" sz="1250">
                <a:solidFill>
                  <a:srgbClr val="1E293B"/>
                </a:solidFill>
                <a:latin typeface="微软雅黑"/>
              </a:rPr>
              <a:t>暂时的垄断：</a:t>
            </a:r>
            <a:r>
              <a:rPr sz="1250">
                <a:solidFill>
                  <a:srgbClr val="1E293B"/>
                </a:solidFill>
                <a:latin typeface="宋体"/>
              </a:rPr>
              <a:t>创新赋予企业暂时的垄断势力，这种超额利润正是激励创新的奖赏。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阿罗替代效应：竞争激发创新</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阿罗（Arrow, 1962）替代效应</a:t>
            </a:r>
          </a:p>
          <a:p>
            <a:pPr>
              <a:spcAft>
                <a:spcPts val="600"/>
              </a:spcAft>
            </a:pPr>
            <a:r>
              <a:rPr b="1" sz="1250">
                <a:solidFill>
                  <a:srgbClr val="1E293B"/>
                </a:solidFill>
                <a:latin typeface="微软雅黑"/>
              </a:rPr>
              <a:t>核心观点：</a:t>
            </a:r>
            <a:r>
              <a:rPr sz="1250">
                <a:solidFill>
                  <a:srgbClr val="1E293B"/>
                </a:solidFill>
                <a:latin typeface="宋体"/>
              </a:rPr>
              <a:t>完全竞争市场上的厂商比垄断厂商拥有更强的创新激励！</a:t>
            </a:r>
          </a:p>
          <a:p>
            <a:pPr>
              <a:spcAft>
                <a:spcPts val="600"/>
              </a:spcAft>
            </a:pPr>
            <a:r>
              <a:rPr b="1" sz="1250">
                <a:solidFill>
                  <a:srgbClr val="1E293B"/>
                </a:solidFill>
                <a:latin typeface="微软雅黑"/>
              </a:rPr>
              <a:t>逻辑推导：</a:t>
            </a:r>
            <a:r>
              <a:rPr sz="1250">
                <a:solidFill>
                  <a:srgbClr val="1E293B"/>
                </a:solidFill>
                <a:latin typeface="宋体"/>
              </a:rPr>
              <a:t>垄断者创新只是用新垄断利润“替代”旧垄断利润；而竞争企业是从零利润“跃升”至垄断利润！</a:t>
            </a:r>
          </a:p>
          <a:p>
            <a:pPr>
              <a:spcAft>
                <a:spcPts val="600"/>
              </a:spcAft>
            </a:pPr>
            <a:r>
              <a:rPr b="1" sz="1250">
                <a:solidFill>
                  <a:srgbClr val="1E293B"/>
                </a:solidFill>
                <a:latin typeface="微软雅黑"/>
              </a:rPr>
              <a:t>结论：</a:t>
            </a:r>
            <a:r>
              <a:rPr sz="1250">
                <a:solidFill>
                  <a:srgbClr val="1E293B"/>
                </a:solidFill>
                <a:latin typeface="宋体"/>
              </a:rPr>
              <a:t>垄断者的既得利益使其产生创新惰性。</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理论对立</a:t>
            </a:r>
          </a:p>
          <a:p>
            <a:pPr>
              <a:spcAft>
                <a:spcPts val="600"/>
              </a:spcAft>
            </a:pPr>
            <a:r>
              <a:rPr b="1" sz="1250">
                <a:solidFill>
                  <a:srgbClr val="1E293B"/>
                </a:solidFill>
                <a:latin typeface="微软雅黑"/>
              </a:rPr>
              <a:t>熊彼特 vs 阿罗：</a:t>
            </a:r>
            <a:r>
              <a:rPr sz="1250">
                <a:solidFill>
                  <a:srgbClr val="1E293B"/>
                </a:solidFill>
                <a:latin typeface="宋体"/>
              </a:rPr>
              <a:t>形成了产业经济学关于“垄断还是竞争更有利于创新”的百年论辩。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市场结构与创新关系的倒 U 型假说</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阿吉翁（Aghion et al., 2005）倒 U 型模型</a:t>
            </a:r>
          </a:p>
          <a:p>
            <a:pPr>
              <a:spcAft>
                <a:spcPts val="600"/>
              </a:spcAft>
            </a:pPr>
            <a:r>
              <a:rPr b="1" sz="1250">
                <a:solidFill>
                  <a:srgbClr val="1E293B"/>
                </a:solidFill>
                <a:latin typeface="微软雅黑"/>
              </a:rPr>
              <a:t>逃离竞争效应 (Escape-Competition)：</a:t>
            </a:r>
            <a:r>
              <a:rPr sz="1250">
                <a:solidFill>
                  <a:srgbClr val="1E293B"/>
                </a:solidFill>
                <a:latin typeface="宋体"/>
              </a:rPr>
              <a:t>在竞争激烈的行业，企业为了逃离平庸而积极创新。</a:t>
            </a:r>
          </a:p>
          <a:p>
            <a:pPr>
              <a:spcAft>
                <a:spcPts val="600"/>
              </a:spcAft>
            </a:pPr>
            <a:r>
              <a:rPr b="1" sz="1250">
                <a:solidFill>
                  <a:srgbClr val="1E293B"/>
                </a:solidFill>
                <a:latin typeface="微软雅黑"/>
              </a:rPr>
              <a:t>熊彼特挤出效应：</a:t>
            </a:r>
            <a:r>
              <a:rPr sz="1250">
                <a:solidFill>
                  <a:srgbClr val="1E293B"/>
                </a:solidFill>
                <a:latin typeface="宋体"/>
              </a:rPr>
              <a:t>当市场过于集中时，垄断者的替代效应占据主导，阻碍创新。</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极佳创新结构</a:t>
            </a:r>
          </a:p>
          <a:p>
            <a:pPr>
              <a:spcAft>
                <a:spcPts val="600"/>
              </a:spcAft>
            </a:pPr>
            <a:r>
              <a:rPr b="1" sz="1250">
                <a:solidFill>
                  <a:srgbClr val="1E293B"/>
                </a:solidFill>
                <a:latin typeface="微软雅黑"/>
              </a:rPr>
              <a:t>中度集中寡头市场：</a:t>
            </a:r>
            <a:r>
              <a:rPr sz="1250">
                <a:solidFill>
                  <a:srgbClr val="1E293B"/>
                </a:solidFill>
                <a:latin typeface="宋体"/>
              </a:rPr>
              <a:t>兼具研发资金实力与逃离竞争的强烈冲动，创新产出最高。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专利竞赛（Patent Race）博弈模型</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7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胜利者全拿 (Winner-Take-All) 机制</a:t>
            </a:r>
          </a:p>
          <a:p>
            <a:pPr>
              <a:spcAft>
                <a:spcPts val="600"/>
              </a:spcAft>
            </a:pPr>
            <a:r>
              <a:rPr b="1" sz="1250">
                <a:solidFill>
                  <a:srgbClr val="1E293B"/>
                </a:solidFill>
                <a:latin typeface="微软雅黑"/>
              </a:rPr>
              <a:t>博弈特点：</a:t>
            </a:r>
            <a:r>
              <a:rPr sz="1250">
                <a:solidFill>
                  <a:srgbClr val="1E293B"/>
                </a:solidFill>
                <a:latin typeface="宋体"/>
              </a:rPr>
              <a:t>率先取得专利突破的企业获得全额技术垄断权，失败者投入全部沉没。</a:t>
            </a:r>
          </a:p>
          <a:p>
            <a:pPr>
              <a:spcAft>
                <a:spcPts val="600"/>
              </a:spcAft>
            </a:pPr>
            <a:r>
              <a:rPr b="1" sz="1250">
                <a:solidFill>
                  <a:srgbClr val="1E293B"/>
                </a:solidFill>
                <a:latin typeface="微软雅黑"/>
              </a:rPr>
              <a:t>过度投入效应：</a:t>
            </a:r>
            <a:r>
              <a:rPr sz="1250">
                <a:solidFill>
                  <a:srgbClr val="1E293B"/>
                </a:solidFill>
                <a:latin typeface="宋体"/>
              </a:rPr>
              <a:t>多家企业竞相研发可能导致社会总研发投入高于最优水平。</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最优专利期保护设计</a:t>
            </a:r>
          </a:p>
          <a:p>
            <a:pPr>
              <a:spcAft>
                <a:spcPts val="600"/>
              </a:spcAft>
            </a:pPr>
            <a:r>
              <a:rPr b="1" sz="1250">
                <a:solidFill>
                  <a:srgbClr val="1E293B"/>
                </a:solidFill>
                <a:latin typeface="微软雅黑"/>
              </a:rPr>
              <a:t>权衡取舍：</a:t>
            </a:r>
            <a:r>
              <a:rPr sz="1250">
                <a:solidFill>
                  <a:srgbClr val="1E293B"/>
                </a:solidFill>
                <a:latin typeface="宋体"/>
              </a:rPr>
              <a:t>专利期过短削弱创新激励；专利期过长造成持久的技术垄断与社会福利损毁。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专利策略与技术垄断壁垒的构建</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8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专利丛林/专利墙 (Patent Thickets)</a:t>
            </a:r>
          </a:p>
          <a:p>
            <a:pPr>
              <a:spcAft>
                <a:spcPts val="600"/>
              </a:spcAft>
            </a:pPr>
            <a:r>
              <a:rPr b="1" sz="1250">
                <a:solidFill>
                  <a:srgbClr val="1E293B"/>
                </a:solidFill>
                <a:latin typeface="微软雅黑"/>
              </a:rPr>
              <a:t>策略手段：</a:t>
            </a:r>
            <a:r>
              <a:rPr sz="1250">
                <a:solidFill>
                  <a:srgbClr val="1E293B"/>
                </a:solidFill>
                <a:latin typeface="宋体"/>
              </a:rPr>
              <a:t>在核心技术周围申请成百上千个防御性微专利。</a:t>
            </a:r>
          </a:p>
          <a:p>
            <a:pPr>
              <a:spcAft>
                <a:spcPts val="600"/>
              </a:spcAft>
            </a:pPr>
            <a:r>
              <a:rPr b="1" sz="1250">
                <a:solidFill>
                  <a:srgbClr val="1E293B"/>
                </a:solidFill>
                <a:latin typeface="微软雅黑"/>
              </a:rPr>
              <a:t>阻碍效果：</a:t>
            </a:r>
            <a:r>
              <a:rPr sz="1250">
                <a:solidFill>
                  <a:srgbClr val="1E293B"/>
                </a:solidFill>
                <a:latin typeface="宋体"/>
              </a:rPr>
              <a:t>使后发对手无法绕过，形成不可逾越的技术密网。</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专利流氓（Patent Trolls）与交叉许可</a:t>
            </a:r>
          </a:p>
          <a:p>
            <a:pPr>
              <a:spcAft>
                <a:spcPts val="600"/>
              </a:spcAft>
            </a:pPr>
            <a:r>
              <a:rPr b="1" sz="1250">
                <a:solidFill>
                  <a:srgbClr val="1E293B"/>
                </a:solidFill>
                <a:latin typeface="微软雅黑"/>
              </a:rPr>
              <a:t>交叉许可 (Cross-Licensing)：</a:t>
            </a:r>
            <a:r>
              <a:rPr sz="1250">
                <a:solidFill>
                  <a:srgbClr val="1E293B"/>
                </a:solidFill>
                <a:latin typeface="宋体"/>
              </a:rPr>
              <a:t>巨头间互相授权专利许可，形成排他性技术俱乐部。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开放式创新与跨企业研发联盟 (R&amp;D Alliances)</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9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研发合作博弈 (d'Aspremont &amp; Jacquemin)</a:t>
            </a:r>
          </a:p>
          <a:p>
            <a:pPr>
              <a:spcAft>
                <a:spcPts val="600"/>
              </a:spcAft>
            </a:pPr>
            <a:r>
              <a:rPr b="1" sz="1250">
                <a:solidFill>
                  <a:srgbClr val="1E293B"/>
                </a:solidFill>
                <a:latin typeface="微软雅黑"/>
              </a:rPr>
              <a:t>知识溢出：</a:t>
            </a:r>
            <a:r>
              <a:rPr sz="1250">
                <a:solidFill>
                  <a:srgbClr val="1E293B"/>
                </a:solidFill>
                <a:latin typeface="宋体"/>
              </a:rPr>
              <a:t>研发成果容易溢出给竞争对手，削弱个体独占性。</a:t>
            </a:r>
          </a:p>
          <a:p>
            <a:pPr>
              <a:spcAft>
                <a:spcPts val="600"/>
              </a:spcAft>
            </a:pPr>
            <a:r>
              <a:rPr b="1" sz="1250">
                <a:solidFill>
                  <a:srgbClr val="1E293B"/>
                </a:solidFill>
                <a:latin typeface="微软雅黑"/>
              </a:rPr>
              <a:t>联盟内部化：</a:t>
            </a:r>
            <a:r>
              <a:rPr sz="1250">
                <a:solidFill>
                  <a:srgbClr val="1E293B"/>
                </a:solidFill>
                <a:latin typeface="宋体"/>
              </a:rPr>
              <a:t>通过组建 R&amp;D 联盟实现技术溢出内部化，提升全行业研发投入！</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竞合关系</a:t>
            </a:r>
          </a:p>
          <a:p>
            <a:pPr>
              <a:spcAft>
                <a:spcPts val="600"/>
              </a:spcAft>
            </a:pPr>
            <a:r>
              <a:rPr b="1" sz="1250">
                <a:solidFill>
                  <a:srgbClr val="1E293B"/>
                </a:solidFill>
                <a:latin typeface="微软雅黑"/>
              </a:rPr>
              <a:t>共建标准：</a:t>
            </a:r>
            <a:r>
              <a:rPr sz="1250">
                <a:solidFill>
                  <a:srgbClr val="1E293B"/>
                </a:solidFill>
                <a:latin typeface="宋体"/>
              </a:rPr>
              <a:t>在基础研发端联合协作，在终端产品端展开竞争。</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新技术扩散速度的决定因素</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10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传染病模型 (Epidemic Model)</a:t>
            </a:r>
          </a:p>
          <a:p>
            <a:pPr>
              <a:spcAft>
                <a:spcPts val="600"/>
              </a:spcAft>
            </a:pPr>
            <a:r>
              <a:rPr b="1" sz="1250">
                <a:solidFill>
                  <a:srgbClr val="1E293B"/>
                </a:solidFill>
                <a:latin typeface="微软雅黑"/>
              </a:rPr>
              <a:t>扩散轨迹：</a:t>
            </a:r>
            <a:r>
              <a:rPr sz="1250">
                <a:solidFill>
                  <a:srgbClr val="1E293B"/>
                </a:solidFill>
                <a:latin typeface="宋体"/>
              </a:rPr>
              <a:t>新技术在产业内的采用率呈现标准的 S 型曲线。</a:t>
            </a:r>
          </a:p>
          <a:p>
            <a:pPr>
              <a:spcAft>
                <a:spcPts val="600"/>
              </a:spcAft>
            </a:pPr>
            <a:r>
              <a:rPr b="1" sz="1250">
                <a:solidFill>
                  <a:srgbClr val="1E293B"/>
                </a:solidFill>
                <a:latin typeface="微软雅黑"/>
              </a:rPr>
              <a:t>驱动力量：</a:t>
            </a:r>
            <a:r>
              <a:rPr sz="1250">
                <a:solidFill>
                  <a:srgbClr val="1E293B"/>
                </a:solidFill>
                <a:latin typeface="宋体"/>
              </a:rPr>
              <a:t>早期模仿者的成功经验降低了后期跟进者的技术不确定性。</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影响扩散速度的变量</a:t>
            </a:r>
          </a:p>
          <a:p>
            <a:pPr>
              <a:spcAft>
                <a:spcPts val="600"/>
              </a:spcAft>
            </a:pPr>
            <a:r>
              <a:rPr b="1" sz="1250">
                <a:solidFill>
                  <a:srgbClr val="1E293B"/>
                </a:solidFill>
                <a:latin typeface="微软雅黑"/>
              </a:rPr>
              <a:t>相对盈利性：</a:t>
            </a:r>
            <a:r>
              <a:rPr sz="1250">
                <a:solidFill>
                  <a:srgbClr val="1E293B"/>
                </a:solidFill>
                <a:latin typeface="宋体"/>
              </a:rPr>
              <a:t>新技术带来的降本增效越显著，扩散越快。</a:t>
            </a:r>
          </a:p>
          <a:p>
            <a:pPr>
              <a:spcAft>
                <a:spcPts val="600"/>
              </a:spcAft>
            </a:pPr>
            <a:r>
              <a:rPr b="1" sz="1250">
                <a:solidFill>
                  <a:srgbClr val="1E293B"/>
                </a:solidFill>
                <a:latin typeface="微软雅黑"/>
              </a:rPr>
              <a:t>初始投资额：</a:t>
            </a:r>
            <a:r>
              <a:rPr sz="1250">
                <a:solidFill>
                  <a:srgbClr val="1E293B"/>
                </a:solidFill>
                <a:latin typeface="宋体"/>
              </a:rPr>
              <a:t>所需固定资产更新投资越大，扩散越慢。</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杀伤性并购（Killer Acquisitions）与创新封杀</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11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现象界定</a:t>
            </a:r>
          </a:p>
          <a:p>
            <a:pPr>
              <a:spcAft>
                <a:spcPts val="600"/>
              </a:spcAft>
            </a:pPr>
            <a:r>
              <a:rPr b="1" sz="1250">
                <a:solidFill>
                  <a:srgbClr val="1E293B"/>
                </a:solidFill>
                <a:latin typeface="微软雅黑"/>
              </a:rPr>
              <a:t>巨头操作：</a:t>
            </a:r>
            <a:r>
              <a:rPr sz="1250">
                <a:solidFill>
                  <a:srgbClr val="1E293B"/>
                </a:solidFill>
                <a:latin typeface="宋体"/>
              </a:rPr>
              <a:t>科技巨头在初创企业威胁自身核心业务前将其高价收购并终止其研发。</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扼杀破坏性创新</a:t>
            </a:r>
          </a:p>
          <a:p>
            <a:pPr>
              <a:spcAft>
                <a:spcPts val="600"/>
              </a:spcAft>
            </a:pPr>
            <a:r>
              <a:rPr b="1" sz="1250">
                <a:solidFill>
                  <a:srgbClr val="1E293B"/>
                </a:solidFill>
                <a:latin typeface="微软雅黑"/>
              </a:rPr>
              <a:t>危害：</a:t>
            </a:r>
            <a:r>
              <a:rPr sz="1250">
                <a:solidFill>
                  <a:srgbClr val="1E293B"/>
                </a:solidFill>
                <a:latin typeface="宋体"/>
              </a:rPr>
              <a:t>永久消除了未来的潜在大竞争对手，维持既有科技霸权。</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中国高技术产业与半导体攻关实践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12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新型举国体制与链主协同创新</a:t>
            </a:r>
          </a:p>
          <a:p>
            <a:pPr>
              <a:spcAft>
                <a:spcPts val="600"/>
              </a:spcAft>
            </a:pPr>
            <a:r>
              <a:rPr b="1" sz="1250">
                <a:solidFill>
                  <a:srgbClr val="1E293B"/>
                </a:solidFill>
                <a:latin typeface="微软雅黑"/>
              </a:rPr>
              <a:t>中国实践：</a:t>
            </a:r>
            <a:r>
              <a:rPr sz="1250">
                <a:solidFill>
                  <a:srgbClr val="1E293B"/>
                </a:solidFill>
                <a:latin typeface="宋体"/>
              </a:rPr>
              <a:t>在半导体、新能源、航空航天领域组织联合研发攻关。</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专精特新小巨人的补链强链作用</a:t>
            </a:r>
          </a:p>
          <a:p>
            <a:pPr>
              <a:spcAft>
                <a:spcPts val="600"/>
              </a:spcAft>
            </a:pPr>
            <a:r>
              <a:rPr b="1" sz="1250">
                <a:solidFill>
                  <a:srgbClr val="1E293B"/>
                </a:solidFill>
                <a:latin typeface="微软雅黑"/>
              </a:rPr>
              <a:t>细分冠军：</a:t>
            </a:r>
            <a:r>
              <a:rPr sz="1250">
                <a:solidFill>
                  <a:srgbClr val="1E293B"/>
                </a:solidFill>
                <a:latin typeface="宋体"/>
              </a:rPr>
              <a:t>在关键零部件和专用材料领域突破外部卡脖子限制。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创新理论假说、机制与市场势力影响矩阵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13 / 16 页</a:t>
            </a:r>
          </a:p>
        </p:txBody>
      </p:sp>
      <p:graphicFrame>
        <p:nvGraphicFramePr>
          <p:cNvPr id="6" name="Table 5"/>
          <p:cNvGraphicFramePr>
            <a:graphicFrameLocks noGrp="1"/>
          </p:cNvGraphicFramePr>
          <p:nvPr/>
        </p:nvGraphicFramePr>
        <p:xfrm>
          <a:off x="731520" y="1554480"/>
          <a:ext cx="10728655" cy="457200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914400">
                <a:tc>
                  <a:txBody>
                    <a:bodyPr/>
                    <a:lstStyle/>
                    <a:p>
                      <a:pPr algn="ctr">
                        <a:defRPr sz="1300" b="1">
                          <a:solidFill>
                            <a:srgbClr val="FFFFFF"/>
                          </a:solidFill>
                          <a:latin typeface="微软雅黑"/>
                        </a:defRPr>
                      </a:pPr>
                      <a:r>
                        <a:t>理论假说</a:t>
                      </a:r>
                    </a:p>
                  </a:txBody>
                  <a:tcPr>
                    <a:solidFill>
                      <a:srgbClr val="1B4965"/>
                    </a:solidFill>
                  </a:tcPr>
                </a:tc>
                <a:tc>
                  <a:txBody>
                    <a:bodyPr/>
                    <a:lstStyle/>
                    <a:p>
                      <a:pPr algn="ctr">
                        <a:defRPr sz="1300" b="1">
                          <a:solidFill>
                            <a:srgbClr val="FFFFFF"/>
                          </a:solidFill>
                          <a:latin typeface="微软雅黑"/>
                        </a:defRPr>
                      </a:pPr>
                      <a:r>
                        <a:t>代表学者</a:t>
                      </a:r>
                    </a:p>
                  </a:txBody>
                  <a:tcPr>
                    <a:solidFill>
                      <a:srgbClr val="1B4965"/>
                    </a:solidFill>
                  </a:tcPr>
                </a:tc>
                <a:tc>
                  <a:txBody>
                    <a:bodyPr/>
                    <a:lstStyle/>
                    <a:p>
                      <a:pPr algn="ctr">
                        <a:defRPr sz="1300" b="1">
                          <a:solidFill>
                            <a:srgbClr val="FFFFFF"/>
                          </a:solidFill>
                          <a:latin typeface="微软雅黑"/>
                        </a:defRPr>
                      </a:pPr>
                      <a:r>
                        <a:t>市场结构与创新关系</a:t>
                      </a:r>
                    </a:p>
                  </a:txBody>
                  <a:tcPr>
                    <a:solidFill>
                      <a:srgbClr val="1B4965"/>
                    </a:solidFill>
                  </a:tcPr>
                </a:tc>
                <a:tc>
                  <a:txBody>
                    <a:bodyPr/>
                    <a:lstStyle/>
                    <a:p>
                      <a:pPr algn="ctr">
                        <a:defRPr sz="1300" b="1">
                          <a:solidFill>
                            <a:srgbClr val="FFFFFF"/>
                          </a:solidFill>
                          <a:latin typeface="微软雅黑"/>
                        </a:defRPr>
                      </a:pPr>
                      <a:r>
                        <a:t>对市场势力的态度</a:t>
                      </a:r>
                    </a:p>
                  </a:txBody>
                  <a:tcPr>
                    <a:solidFill>
                      <a:srgbClr val="1B4965"/>
                    </a:solidFill>
                  </a:tcPr>
                </a:tc>
                <a:tc>
                  <a:txBody>
                    <a:bodyPr/>
                    <a:lstStyle/>
                    <a:p>
                      <a:pPr algn="ctr">
                        <a:defRPr sz="1300" b="1">
                          <a:solidFill>
                            <a:srgbClr val="FFFFFF"/>
                          </a:solidFill>
                          <a:latin typeface="微软雅黑"/>
                        </a:defRPr>
                      </a:pPr>
                      <a:r>
                        <a:t>政策含义</a:t>
                      </a:r>
                    </a:p>
                  </a:txBody>
                  <a:tcPr>
                    <a:solidFill>
                      <a:srgbClr val="1B4965"/>
                    </a:solidFill>
                  </a:tcPr>
                </a:tc>
              </a:tr>
              <a:tr h="914400">
                <a:tc>
                  <a:txBody>
                    <a:bodyPr/>
                    <a:lstStyle/>
                    <a:p>
                      <a:pPr>
                        <a:defRPr sz="1100">
                          <a:solidFill>
                            <a:srgbClr val="1E293B"/>
                          </a:solidFill>
                          <a:latin typeface="宋体"/>
                        </a:defRPr>
                      </a:pPr>
                      <a:r>
                        <a:t>熊彼特假设</a:t>
                      </a:r>
                    </a:p>
                  </a:txBody>
                  <a:tcPr>
                    <a:solidFill>
                      <a:srgbClr val="FFFFFF"/>
                    </a:solidFill>
                  </a:tcPr>
                </a:tc>
                <a:tc>
                  <a:txBody>
                    <a:bodyPr/>
                    <a:lstStyle/>
                    <a:p>
                      <a:pPr>
                        <a:defRPr sz="1100">
                          <a:solidFill>
                            <a:srgbClr val="1E293B"/>
                          </a:solidFill>
                          <a:latin typeface="宋体"/>
                        </a:defRPr>
                      </a:pPr>
                      <a:r>
                        <a:t>Schumpeter</a:t>
                      </a:r>
                    </a:p>
                  </a:txBody>
                  <a:tcPr>
                    <a:solidFill>
                      <a:srgbClr val="FFFFFF"/>
                    </a:solidFill>
                  </a:tcPr>
                </a:tc>
                <a:tc>
                  <a:txBody>
                    <a:bodyPr/>
                    <a:lstStyle/>
                    <a:p>
                      <a:pPr>
                        <a:defRPr sz="1100">
                          <a:solidFill>
                            <a:srgbClr val="1E293B"/>
                          </a:solidFill>
                          <a:latin typeface="宋体"/>
                        </a:defRPr>
                      </a:pPr>
                      <a:r>
                        <a:t>垄断与大企业最促进创新</a:t>
                      </a:r>
                    </a:p>
                  </a:txBody>
                  <a:tcPr>
                    <a:solidFill>
                      <a:srgbClr val="FFFFFF"/>
                    </a:solidFill>
                  </a:tcPr>
                </a:tc>
                <a:tc>
                  <a:txBody>
                    <a:bodyPr/>
                    <a:lstStyle/>
                    <a:p>
                      <a:pPr>
                        <a:defRPr sz="1100">
                          <a:solidFill>
                            <a:srgbClr val="1E293B"/>
                          </a:solidFill>
                          <a:latin typeface="宋体"/>
                        </a:defRPr>
                      </a:pPr>
                      <a:r>
                        <a:t>垄断利润是创新的必要奖赏</a:t>
                      </a:r>
                    </a:p>
                  </a:txBody>
                  <a:tcPr>
                    <a:solidFill>
                      <a:srgbClr val="FFFFFF"/>
                    </a:solidFill>
                  </a:tcPr>
                </a:tc>
                <a:tc>
                  <a:txBody>
                    <a:bodyPr/>
                    <a:lstStyle/>
                    <a:p>
                      <a:pPr>
                        <a:defRPr sz="1100">
                          <a:solidFill>
                            <a:srgbClr val="1E293B"/>
                          </a:solidFill>
                          <a:latin typeface="宋体"/>
                        </a:defRPr>
                      </a:pPr>
                      <a:r>
                        <a:t>容忍集中，鼓励大企业研发</a:t>
                      </a:r>
                    </a:p>
                  </a:txBody>
                  <a:tcPr>
                    <a:solidFill>
                      <a:srgbClr val="FFFFFF"/>
                    </a:solidFill>
                  </a:tcPr>
                </a:tc>
              </a:tr>
              <a:tr h="914400">
                <a:tc>
                  <a:txBody>
                    <a:bodyPr/>
                    <a:lstStyle/>
                    <a:p>
                      <a:pPr>
                        <a:defRPr sz="1100">
                          <a:solidFill>
                            <a:srgbClr val="1E293B"/>
                          </a:solidFill>
                          <a:latin typeface="宋体"/>
                        </a:defRPr>
                      </a:pPr>
                      <a:r>
                        <a:t>阿罗替代效应</a:t>
                      </a:r>
                    </a:p>
                  </a:txBody>
                  <a:tcPr>
                    <a:solidFill>
                      <a:srgbClr val="F1F5F9"/>
                    </a:solidFill>
                  </a:tcPr>
                </a:tc>
                <a:tc>
                  <a:txBody>
                    <a:bodyPr/>
                    <a:lstStyle/>
                    <a:p>
                      <a:pPr>
                        <a:defRPr sz="1100">
                          <a:solidFill>
                            <a:srgbClr val="1E293B"/>
                          </a:solidFill>
                          <a:latin typeface="宋体"/>
                        </a:defRPr>
                      </a:pPr>
                      <a:r>
                        <a:t>Arrow</a:t>
                      </a:r>
                    </a:p>
                  </a:txBody>
                  <a:tcPr>
                    <a:solidFill>
                      <a:srgbClr val="F1F5F9"/>
                    </a:solidFill>
                  </a:tcPr>
                </a:tc>
                <a:tc>
                  <a:txBody>
                    <a:bodyPr/>
                    <a:lstStyle/>
                    <a:p>
                      <a:pPr>
                        <a:defRPr sz="1100">
                          <a:solidFill>
                            <a:srgbClr val="1E293B"/>
                          </a:solidFill>
                          <a:latin typeface="宋体"/>
                        </a:defRPr>
                      </a:pPr>
                      <a:r>
                        <a:t>完全竞争厂商更有创新动力</a:t>
                      </a:r>
                    </a:p>
                  </a:txBody>
                  <a:tcPr>
                    <a:solidFill>
                      <a:srgbClr val="F1F5F9"/>
                    </a:solidFill>
                  </a:tcPr>
                </a:tc>
                <a:tc>
                  <a:txBody>
                    <a:bodyPr/>
                    <a:lstStyle/>
                    <a:p>
                      <a:pPr>
                        <a:defRPr sz="1100">
                          <a:solidFill>
                            <a:srgbClr val="1E293B"/>
                          </a:solidFill>
                          <a:latin typeface="宋体"/>
                        </a:defRPr>
                      </a:pPr>
                      <a:r>
                        <a:t>垄断导致惰性，削弱创新</a:t>
                      </a:r>
                    </a:p>
                  </a:txBody>
                  <a:tcPr>
                    <a:solidFill>
                      <a:srgbClr val="F1F5F9"/>
                    </a:solidFill>
                  </a:tcPr>
                </a:tc>
                <a:tc>
                  <a:txBody>
                    <a:bodyPr/>
                    <a:lstStyle/>
                    <a:p>
                      <a:pPr>
                        <a:defRPr sz="1100">
                          <a:solidFill>
                            <a:srgbClr val="1E293B"/>
                          </a:solidFill>
                          <a:latin typeface="宋体"/>
                        </a:defRPr>
                      </a:pPr>
                      <a:r>
                        <a:t>反垄断，保持市场竞争</a:t>
                      </a:r>
                    </a:p>
                  </a:txBody>
                  <a:tcPr>
                    <a:solidFill>
                      <a:srgbClr val="F1F5F9"/>
                    </a:solidFill>
                  </a:tcPr>
                </a:tc>
              </a:tr>
              <a:tr h="914400">
                <a:tc>
                  <a:txBody>
                    <a:bodyPr/>
                    <a:lstStyle/>
                    <a:p>
                      <a:pPr>
                        <a:defRPr sz="1100">
                          <a:solidFill>
                            <a:srgbClr val="1E293B"/>
                          </a:solidFill>
                          <a:latin typeface="宋体"/>
                        </a:defRPr>
                      </a:pPr>
                      <a:r>
                        <a:t>倒 U 型假说</a:t>
                      </a:r>
                    </a:p>
                  </a:txBody>
                  <a:tcPr>
                    <a:solidFill>
                      <a:srgbClr val="FFFFFF"/>
                    </a:solidFill>
                  </a:tcPr>
                </a:tc>
                <a:tc>
                  <a:txBody>
                    <a:bodyPr/>
                    <a:lstStyle/>
                    <a:p>
                      <a:pPr>
                        <a:defRPr sz="1100">
                          <a:solidFill>
                            <a:srgbClr val="1E293B"/>
                          </a:solidFill>
                          <a:latin typeface="宋体"/>
                        </a:defRPr>
                      </a:pPr>
                      <a:r>
                        <a:t>Aghion</a:t>
                      </a:r>
                    </a:p>
                  </a:txBody>
                  <a:tcPr>
                    <a:solidFill>
                      <a:srgbClr val="FFFFFF"/>
                    </a:solidFill>
                  </a:tcPr>
                </a:tc>
                <a:tc>
                  <a:txBody>
                    <a:bodyPr/>
                    <a:lstStyle/>
                    <a:p>
                      <a:pPr>
                        <a:defRPr sz="1100">
                          <a:solidFill>
                            <a:srgbClr val="1E293B"/>
                          </a:solidFill>
                          <a:latin typeface="宋体"/>
                        </a:defRPr>
                      </a:pPr>
                      <a:r>
                        <a:t>中度集中寡头市场创新最高</a:t>
                      </a:r>
                    </a:p>
                  </a:txBody>
                  <a:tcPr>
                    <a:solidFill>
                      <a:srgbClr val="FFFFFF"/>
                    </a:solidFill>
                  </a:tcPr>
                </a:tc>
                <a:tc>
                  <a:txBody>
                    <a:bodyPr/>
                    <a:lstStyle/>
                    <a:p>
                      <a:pPr>
                        <a:defRPr sz="1100">
                          <a:solidFill>
                            <a:srgbClr val="1E293B"/>
                          </a:solidFill>
                          <a:latin typeface="宋体"/>
                        </a:defRPr>
                      </a:pPr>
                      <a:r>
                        <a:t>兼具资金与逃离竞争冲动</a:t>
                      </a:r>
                    </a:p>
                  </a:txBody>
                  <a:tcPr>
                    <a:solidFill>
                      <a:srgbClr val="FFFFFF"/>
                    </a:solidFill>
                  </a:tcPr>
                </a:tc>
                <a:tc>
                  <a:txBody>
                    <a:bodyPr/>
                    <a:lstStyle/>
                    <a:p>
                      <a:pPr>
                        <a:defRPr sz="1100">
                          <a:solidFill>
                            <a:srgbClr val="1E293B"/>
                          </a:solidFill>
                          <a:latin typeface="宋体"/>
                        </a:defRPr>
                      </a:pPr>
                      <a:r>
                        <a:t>维持中等集中，鼓励竞合</a:t>
                      </a:r>
                    </a:p>
                  </a:txBody>
                  <a:tcPr>
                    <a:solidFill>
                      <a:srgbClr val="FFFFFF"/>
                    </a:solidFill>
                  </a:tcPr>
                </a:tc>
              </a:tr>
              <a:tr h="914400">
                <a:tc>
                  <a:txBody>
                    <a:bodyPr/>
                    <a:lstStyle/>
                    <a:p>
                      <a:pPr>
                        <a:defRPr sz="1100">
                          <a:solidFill>
                            <a:srgbClr val="1E293B"/>
                          </a:solidFill>
                          <a:latin typeface="宋体"/>
                        </a:defRPr>
                      </a:pPr>
                      <a:r>
                        <a:t>内生沉没成本</a:t>
                      </a:r>
                    </a:p>
                  </a:txBody>
                  <a:tcPr>
                    <a:solidFill>
                      <a:srgbClr val="F1F5F9"/>
                    </a:solidFill>
                  </a:tcPr>
                </a:tc>
                <a:tc>
                  <a:txBody>
                    <a:bodyPr/>
                    <a:lstStyle/>
                    <a:p>
                      <a:pPr>
                        <a:defRPr sz="1100">
                          <a:solidFill>
                            <a:srgbClr val="1E293B"/>
                          </a:solidFill>
                          <a:latin typeface="宋体"/>
                        </a:defRPr>
                      </a:pPr>
                      <a:r>
                        <a:t>Sutton</a:t>
                      </a:r>
                    </a:p>
                  </a:txBody>
                  <a:tcPr>
                    <a:solidFill>
                      <a:srgbClr val="F1F5F9"/>
                    </a:solidFill>
                  </a:tcPr>
                </a:tc>
                <a:tc>
                  <a:txBody>
                    <a:bodyPr/>
                    <a:lstStyle/>
                    <a:p>
                      <a:pPr>
                        <a:defRPr sz="1100">
                          <a:solidFill>
                            <a:srgbClr val="1E293B"/>
                          </a:solidFill>
                          <a:latin typeface="宋体"/>
                        </a:defRPr>
                      </a:pPr>
                      <a:r>
                        <a:t>研发拉高集中度下限</a:t>
                      </a:r>
                    </a:p>
                  </a:txBody>
                  <a:tcPr>
                    <a:solidFill>
                      <a:srgbClr val="F1F5F9"/>
                    </a:solidFill>
                  </a:tcPr>
                </a:tc>
                <a:tc>
                  <a:txBody>
                    <a:bodyPr/>
                    <a:lstStyle/>
                    <a:p>
                      <a:pPr>
                        <a:defRPr sz="1100">
                          <a:solidFill>
                            <a:srgbClr val="1E293B"/>
                          </a:solidFill>
                          <a:latin typeface="宋体"/>
                        </a:defRPr>
                      </a:pPr>
                      <a:r>
                        <a:t>R&amp;D 构筑持久内生壁垒</a:t>
                      </a:r>
                    </a:p>
                  </a:txBody>
                  <a:tcPr>
                    <a:solidFill>
                      <a:srgbClr val="F1F5F9"/>
                    </a:solidFill>
                  </a:tcPr>
                </a:tc>
                <a:tc>
                  <a:txBody>
                    <a:bodyPr/>
                    <a:lstStyle/>
                    <a:p>
                      <a:pPr>
                        <a:defRPr sz="1100">
                          <a:solidFill>
                            <a:srgbClr val="1E293B"/>
                          </a:solidFill>
                          <a:latin typeface="宋体"/>
                        </a:defRPr>
                      </a:pPr>
                      <a:r>
                        <a:t>关注研发封锁与技术垄断</a:t>
                      </a:r>
                    </a:p>
                  </a:txBody>
                  <a:tcPr>
                    <a:solidFill>
                      <a:srgbClr val="F1F5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 14 节 延伸视角｜研发与技术创新与市场势力深度研讨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14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市场势力（Market Power）拓展分析 14-A</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围绕《产业经济学》（第3版）第7章的核心机制进行博弈与福利深化。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 14-B</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 15 节 延伸视角｜研发与技术创新与市场势力深度研讨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市场势力（Market Power）拓展分析 15-A</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围绕《产业经济学》（第3版）第7章的核心机制进行博弈与福利深化。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 15-B</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第七章  非价格行为：研发与技术创新</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思考与研讨｜科技巨头杀伤性并购的反垄断规制</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经营者集中审查门槛失效</a:t>
            </a:r>
          </a:p>
          <a:p>
            <a:pPr>
              <a:spcAft>
                <a:spcPts val="600"/>
              </a:spcAft>
            </a:pPr>
            <a:r>
              <a:rPr b="1" sz="1250">
                <a:solidFill>
                  <a:srgbClr val="1E293B"/>
                </a:solidFill>
                <a:latin typeface="微软雅黑"/>
              </a:rPr>
              <a:t>问题：</a:t>
            </a:r>
            <a:r>
              <a:rPr sz="1250">
                <a:solidFill>
                  <a:srgbClr val="1E293B"/>
                </a:solidFill>
                <a:latin typeface="宋体"/>
              </a:rPr>
              <a:t>初创公司营业额极低，未达到传统申报营业额标准。</a:t>
            </a:r>
          </a:p>
          <a:p>
            <a:pPr>
              <a:spcAft>
                <a:spcPts val="600"/>
              </a:spcAft>
            </a:pPr>
            <a:r>
              <a:rPr b="1" sz="1250">
                <a:solidFill>
                  <a:srgbClr val="1E293B"/>
                </a:solidFill>
                <a:latin typeface="微软雅黑"/>
              </a:rPr>
              <a:t>思考：</a:t>
            </a:r>
            <a:r>
              <a:rPr sz="1250">
                <a:solidFill>
                  <a:srgbClr val="1E293B"/>
                </a:solidFill>
                <a:latin typeface="宋体"/>
              </a:rPr>
              <a:t>如何修改申报门槛（如引入交易金额标准）以捕获杀伤性并购？</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标准必要专利 (SEP) 与 FRAND 原则</a:t>
            </a:r>
          </a:p>
          <a:p>
            <a:pPr>
              <a:spcAft>
                <a:spcPts val="600"/>
              </a:spcAft>
            </a:pPr>
            <a:r>
              <a:rPr b="1" sz="1250">
                <a:solidFill>
                  <a:srgbClr val="1E293B"/>
                </a:solidFill>
                <a:latin typeface="微软雅黑"/>
              </a:rPr>
              <a:t>问题：</a:t>
            </a:r>
            <a:r>
              <a:rPr sz="1250">
                <a:solidFill>
                  <a:srgbClr val="1E293B"/>
                </a:solidFill>
                <a:latin typeface="宋体"/>
              </a:rPr>
              <a:t>掌握行业标准专利的企业要求高额许可费或申请禁令。</a:t>
            </a:r>
          </a:p>
          <a:p>
            <a:pPr>
              <a:spcAft>
                <a:spcPts val="600"/>
              </a:spcAft>
            </a:pPr>
            <a:r>
              <a:rPr b="1" sz="1250">
                <a:solidFill>
                  <a:srgbClr val="1E293B"/>
                </a:solidFill>
                <a:latin typeface="微软雅黑"/>
              </a:rPr>
              <a:t>思考：</a:t>
            </a:r>
            <a:r>
              <a:rPr sz="1250">
                <a:solidFill>
                  <a:srgbClr val="1E293B"/>
                </a:solidFill>
                <a:latin typeface="宋体"/>
              </a:rPr>
              <a:t>如何实施公平、合理、无歧视 (FRAND) 规制？</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