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13716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A4F"/>
                </a:solidFill>
                <a:latin typeface="微软雅黑"/>
              </a:defRPr>
            </a:pPr>
            <a:r>
              <a:t>产业经济学 · 核心教材精讲</a:t>
            </a:r>
          </a:p>
          <a:p>
            <a:pPr>
              <a:spcBef>
                <a:spcPts val="1000"/>
              </a:spcBef>
              <a:defRPr sz="3000" b="1">
                <a:solidFill>
                  <a:srgbClr val="1B4965"/>
                </a:solidFill>
                <a:latin typeface="微软雅黑"/>
              </a:defRPr>
            </a:pPr>
            <a:r>
              <a:t>第十一章  产业结构及其变动</a:t>
            </a:r>
          </a:p>
          <a:p>
            <a:pPr>
              <a:spcBef>
                <a:spcPts val="1500"/>
              </a:spcBef>
              <a:defRPr sz="1800" b="1">
                <a:solidFill>
                  <a:srgbClr val="C58A21"/>
                </a:solidFill>
                <a:latin typeface="微软雅黑"/>
              </a:defRPr>
            </a:pPr>
            <a:r>
              <a:t>【核心主线】：产业控制力的结构基础与结构红利释放</a:t>
            </a:r>
          </a:p>
          <a:p>
            <a:pPr>
              <a:spcBef>
                <a:spcPts val="2500"/>
              </a:spcBef>
              <a:defRPr sz="1400">
                <a:solidFill>
                  <a:srgbClr val="64748B"/>
                </a:solidFill>
                <a:latin typeface="宋体"/>
              </a:defRPr>
            </a:pPr>
            <a:r>
              <a:t>教材依据：刘志彪《产业经济学》（第3版·高等教育/机械工业出版社）</a:t>
            </a:r>
            <a:br/>
            <a:r>
              <a:t>制作风格：自然清新 · 排版高尚大气 · 浅色系精品课件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第十一章  产业结构及其变动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本章目录与产业控制力主线映射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2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第一节 产业与产业结构划分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三次产业与要素密集度划分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产业结构决定了国家/区域产业控制力的宏观基石。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第二节 产业结构的衡量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结构变动值、Moore 系数与效率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量化评估产业结构调整速度与控制力动态。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第三节 演进规律与原因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配第-克拉克定理与霍夫曼比例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揭示工业化与服务业化过程中控制力的重塑。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02336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402336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20624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第四节 结构变动效应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结构红利假说与现代化体系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优化结构释放全要素生产率，增强竞争优势。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第十一章  产业结构及其变动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第一节 产业与产业结构的划分标准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3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三次产业分类法 (Three-Sector System)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第一产业：</a:t>
            </a:r>
            <a:r>
              <a:rPr sz="1250">
                <a:solidFill>
                  <a:srgbClr val="1E293B"/>
                </a:solidFill>
                <a:latin typeface="宋体"/>
              </a:rPr>
              <a:t>农业、林业、牧业和渔业（资源采集型）。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第二产业：</a:t>
            </a:r>
            <a:r>
              <a:rPr sz="1250">
                <a:solidFill>
                  <a:srgbClr val="1E293B"/>
                </a:solidFill>
                <a:latin typeface="宋体"/>
              </a:rPr>
              <a:t>采矿业、制造业、电力热力燃气及水生产供应业、建筑业（加工制造型）。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第三产业：</a:t>
            </a:r>
            <a:r>
              <a:rPr sz="1250">
                <a:solidFill>
                  <a:srgbClr val="1E293B"/>
                </a:solidFill>
                <a:latin typeface="宋体"/>
              </a:rPr>
              <a:t>广义服务业（流通、生产性、生活性与公共服务）。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要素密集度分类法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劳动密集型：</a:t>
            </a:r>
            <a:r>
              <a:rPr sz="1250">
                <a:solidFill>
                  <a:srgbClr val="1E293B"/>
                </a:solidFill>
                <a:latin typeface="宋体"/>
              </a:rPr>
              <a:t>技术门槛低，依赖廉价劳动力。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资本密集型：</a:t>
            </a:r>
            <a:r>
              <a:rPr sz="1250">
                <a:solidFill>
                  <a:srgbClr val="1E293B"/>
                </a:solidFill>
                <a:latin typeface="宋体"/>
              </a:rPr>
              <a:t>需要重型设备与庞大资金投资。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技术/知识密集型：</a:t>
            </a:r>
            <a:r>
              <a:rPr sz="1250">
                <a:solidFill>
                  <a:srgbClr val="1E293B"/>
                </a:solidFill>
                <a:latin typeface="宋体"/>
              </a:rPr>
              <a:t>高研发、高附加值，是掌控产业链的核心。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第十一章  产业结构及其变动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第二节 产业结构演进量的衡量指标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4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产业结构变动值 (K 值)</a:t>
            </a:r>
          </a:p>
          <a:p>
            <a:pPr>
              <a:spcAft>
                <a:spcPts val="600"/>
              </a:spcAft>
            </a:pPr>
            <a:r>
              <a:t>公式定义：K = sum |S(i, t) - S(i, t-1)|。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含义：</a:t>
            </a:r>
            <a:r>
              <a:rPr sz="1250">
                <a:solidFill>
                  <a:srgbClr val="1E293B"/>
                </a:solidFill>
                <a:latin typeface="宋体"/>
              </a:rPr>
              <a:t>测量特定时期内各产业份额变动的绝对幅度。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摩尔（Moore）结构变动夹角系数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向量夹角：</a:t>
            </a:r>
            <a:r>
              <a:rPr sz="1250">
                <a:solidFill>
                  <a:srgbClr val="1E293B"/>
                </a:solidFill>
                <a:latin typeface="宋体"/>
              </a:rPr>
              <a:t>将产业份额视为空间向量，通过计算前后两期向量的夹角 cos theta 度量变动速率。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含义：</a:t>
            </a:r>
            <a:r>
              <a:rPr sz="1250">
                <a:solidFill>
                  <a:srgbClr val="1E293B"/>
                </a:solidFill>
                <a:latin typeface="宋体"/>
              </a:rPr>
              <a:t>角度变动越大，说明产业结构重组与转型越剧烈。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第十一章  产业结构及其变动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第三节 经典演进规律：配第-克拉克定理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5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配第-克拉克定理 (Petty-Clark's Law)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劳动力转移：</a:t>
            </a:r>
            <a:r>
              <a:rPr sz="1250">
                <a:solidFill>
                  <a:srgbClr val="1E293B"/>
                </a:solidFill>
                <a:latin typeface="宋体"/>
              </a:rPr>
              <a:t>随着人均收入提高，劳动力首先由第一产业向第二产业转移；随着工业化深入，进一步向第三产业转移。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根本原因：</a:t>
            </a:r>
            <a:r>
              <a:rPr sz="1250">
                <a:solidFill>
                  <a:srgbClr val="1E293B"/>
                </a:solidFill>
                <a:latin typeface="宋体"/>
              </a:rPr>
              <a:t>不同产业间相对收入（劳动生产率）差异与消费需求弹性变化。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库兹涅茨（Kuznets）的修正与深化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产值结构：</a:t>
            </a:r>
            <a:r>
              <a:rPr sz="1250">
                <a:solidFill>
                  <a:srgbClr val="1E293B"/>
                </a:solidFill>
                <a:latin typeface="宋体"/>
              </a:rPr>
              <a:t>产值份额与劳动力份额呈现平行的结构转换轨迹。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第十一章  产业结构及其变动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第三节 霍夫曼经验法则与重化工业化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6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霍夫曼比例 (Hoffmann Ratio)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公式：</a:t>
            </a:r>
            <a:r>
              <a:rPr sz="1250">
                <a:solidFill>
                  <a:srgbClr val="1E293B"/>
                </a:solidFill>
                <a:latin typeface="宋体"/>
              </a:rPr>
              <a:t>H = 消费资料工业净产值 / 资本资料工业净产值。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演进阶段：</a:t>
            </a:r>
            <a:r>
              <a:rPr sz="1250">
                <a:solidFill>
                  <a:srgbClr val="1E293B"/>
                </a:solidFill>
                <a:latin typeface="宋体"/>
              </a:rPr>
              <a:t>第一阶段 H约为5；第二阶段 H约为2.1；第三阶段 H约为1；第四阶段 H小于0.5。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工业化与重化工业化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主线意义：</a:t>
            </a:r>
            <a:r>
              <a:rPr sz="1250">
                <a:solidFill>
                  <a:srgbClr val="1E293B"/>
                </a:solidFill>
                <a:latin typeface="宋体"/>
              </a:rPr>
              <a:t>重化工业化阶段标志着国家装备制造与基础材料控制力的突破！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第十一章  产业结构及其变动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第三节 工业化后期“服务业化”趋势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7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第三产业崛起的必然性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需求弹性拉动：</a:t>
            </a:r>
            <a:r>
              <a:rPr sz="1250">
                <a:solidFill>
                  <a:srgbClr val="1E293B"/>
                </a:solidFill>
                <a:latin typeface="宋体"/>
              </a:rPr>
              <a:t>高收入水平下对服务消费的收入弹性显著大于 1。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中间需求爆发：</a:t>
            </a:r>
            <a:r>
              <a:rPr sz="1250">
                <a:solidFill>
                  <a:srgbClr val="1E293B"/>
                </a:solidFill>
                <a:latin typeface="宋体"/>
              </a:rPr>
              <a:t>现代制造业对研发、金融、物流、法律等生产性服务的中间需求急剧增加。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去工业化（De-industrialization）警示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过早去工业化：</a:t>
            </a:r>
            <a:r>
              <a:rPr sz="1250">
                <a:solidFill>
                  <a:srgbClr val="1E293B"/>
                </a:solidFill>
                <a:latin typeface="宋体"/>
              </a:rPr>
              <a:t>发展中国家尚未完成工业化即转向低端服务业，导致产业控制力丧失。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第十一章  产业结构及其变动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第四节 产业结构变动的驱动因素（供给侧）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8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技术进步的差异性冲击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偏向型技术进步：</a:t>
            </a:r>
            <a:r>
              <a:rPr sz="1250">
                <a:solidFill>
                  <a:srgbClr val="1E293B"/>
                </a:solidFill>
                <a:latin typeface="宋体"/>
              </a:rPr>
              <a:t>不同产业技术进步速度不同，高技术产业成本下降更快，市场规模急剧扩张。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资源禀赋与比较优势动态转化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要素积累：</a:t>
            </a:r>
            <a:r>
              <a:rPr sz="1250">
                <a:solidFill>
                  <a:srgbClr val="1E293B"/>
                </a:solidFill>
                <a:latin typeface="宋体"/>
              </a:rPr>
              <a:t>资本与人力资本积累推动比较优势由劳密向资本/技术密集型跃升。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第十一章  产业结构及其变动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第四节 产业结构变动的驱动因素（需求与制度）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9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恩格尔定律与需求结构升级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恩格尔系数下降：</a:t>
            </a:r>
            <a:r>
              <a:rPr sz="1250">
                <a:solidFill>
                  <a:srgbClr val="1E293B"/>
                </a:solidFill>
                <a:latin typeface="宋体"/>
              </a:rPr>
              <a:t>食品支出比重下降，制成品与高阶服务支出上升。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制度变迁与国际贸易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市场化改革：</a:t>
            </a:r>
            <a:r>
              <a:rPr sz="1250">
                <a:solidFill>
                  <a:srgbClr val="1E293B"/>
                </a:solidFill>
                <a:latin typeface="宋体"/>
              </a:rPr>
              <a:t>消除要素流动壁垒，引导要素向高效产业集聚。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全球化融入：</a:t>
            </a:r>
            <a:r>
              <a:rPr sz="1250">
                <a:solidFill>
                  <a:srgbClr val="1E293B"/>
                </a:solidFill>
                <a:latin typeface="宋体"/>
              </a:rPr>
              <a:t>通过外贸发挥比较优势，重塑国内产业结构。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第十一章  产业结构及其变动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第五节 “结构红利”假说与全要素生产率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10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结构红利 (Structural Dividend) 假说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定义：</a:t>
            </a:r>
            <a:r>
              <a:rPr sz="1250">
                <a:solidFill>
                  <a:srgbClr val="1E293B"/>
                </a:solidFill>
                <a:latin typeface="宋体"/>
              </a:rPr>
              <a:t>生产要素（劳动力、资本）从低生产率部门向高生产率部门转移带来的额外全要素生产率 (TFP) 增长。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结构减速 (Structural Deceleration)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现象：</a:t>
            </a:r>
            <a:r>
              <a:rPr sz="1250">
                <a:solidFill>
                  <a:srgbClr val="1E293B"/>
                </a:solidFill>
                <a:latin typeface="宋体"/>
              </a:rPr>
              <a:t>当要素向生产率增速较慢的服务业转移时，宏观经济整体增速可能趋缓。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第十一章  产业结构及其变动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中国产业结构演进历史路径与现代化体系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11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中国产业结构演进轨迹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历程：</a:t>
            </a:r>
            <a:r>
              <a:rPr sz="1250">
                <a:solidFill>
                  <a:srgbClr val="1E293B"/>
                </a:solidFill>
                <a:latin typeface="宋体"/>
              </a:rPr>
              <a:t>改革开放初“轻工业复苏” -&gt; 90年代“重化工业爆发” -&gt; 新时代“高新技术与服务业双轮驱动”。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构建现代化产业体系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目标：</a:t>
            </a:r>
            <a:r>
              <a:rPr sz="1250">
                <a:solidFill>
                  <a:srgbClr val="1E293B"/>
                </a:solidFill>
                <a:latin typeface="宋体"/>
              </a:rPr>
              <a:t>坚持把发展经济的着力点放在实体经济上，防止产业空心化，筑牢国家产业控制力。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第十一章  产业结构及其变动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数字经济对传统三次产业结构的重塑与融合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12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产业数字化与数字产业化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数字产业化：</a:t>
            </a:r>
            <a:r>
              <a:rPr sz="1250">
                <a:solidFill>
                  <a:srgbClr val="1E293B"/>
                </a:solidFill>
                <a:latin typeface="宋体"/>
              </a:rPr>
              <a:t>电子信息制造、软件、云计算、AI 等新兴核心产业。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产业数字化：</a:t>
            </a:r>
            <a:r>
              <a:rPr sz="1250">
                <a:solidFill>
                  <a:srgbClr val="1E293B"/>
                </a:solidFill>
                <a:latin typeface="宋体"/>
              </a:rPr>
              <a:t>传统农业、制造业、服务业利用数字技术进行全方位改造。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边界模糊与跨界融合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新业态：</a:t>
            </a:r>
            <a:r>
              <a:rPr sz="1250">
                <a:solidFill>
                  <a:srgbClr val="1E293B"/>
                </a:solidFill>
                <a:latin typeface="宋体"/>
              </a:rPr>
              <a:t>数字农业、智能制造、平台经济模糊了传统三次产业边界。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第十一章  产业结构及其变动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中国工业化中后期的产业结构优化升级战略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13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巩固制造基本盘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战略重点：</a:t>
            </a:r>
            <a:r>
              <a:rPr sz="1250">
                <a:solidFill>
                  <a:srgbClr val="1E293B"/>
                </a:solidFill>
                <a:latin typeface="宋体"/>
              </a:rPr>
              <a:t>保持制造业比重基本稳定，提升装备制造业和高技术制造业比重。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推动两业融合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战略重点：</a:t>
            </a:r>
            <a:r>
              <a:rPr sz="1250">
                <a:solidFill>
                  <a:srgbClr val="1E293B"/>
                </a:solidFill>
                <a:latin typeface="宋体"/>
              </a:rPr>
              <a:t>促进先进制造业和现代服务业深度融合，培育服务型制造。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第十一章  产业结构及其变动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第11章 延伸视角｜结构演进与产业控制力深度研讨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14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理论深化：结构变动的动因扩展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理论深化：</a:t>
            </a:r>
            <a:r>
              <a:rPr sz="1250">
                <a:solidFill>
                  <a:srgbClr val="1E293B"/>
                </a:solidFill>
                <a:latin typeface="宋体"/>
              </a:rPr>
              <a:t>围绕《产业经济学》（第3版）第11章的核心机制进行博弈与福利深化。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现实映射：</a:t>
            </a:r>
            <a:r>
              <a:rPr sz="1250">
                <a:solidFill>
                  <a:srgbClr val="1E293B"/>
                </a:solidFill>
                <a:latin typeface="宋体"/>
              </a:rPr>
              <a:t>考察市场结构变迁对企业定价、规模扩张与行业效益的传导机制。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反垄断与微观规制视角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政策导向：</a:t>
            </a:r>
            <a:r>
              <a:rPr sz="1250">
                <a:solidFill>
                  <a:srgbClr val="1E293B"/>
                </a:solidFill>
                <a:latin typeface="宋体"/>
              </a:rPr>
              <a:t>评估政府行政干预与竞争政策在防范市场势力滥用中的边界。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治理创新：</a:t>
            </a:r>
            <a:r>
              <a:rPr sz="1250">
                <a:solidFill>
                  <a:srgbClr val="1E293B"/>
                </a:solidFill>
                <a:latin typeface="宋体"/>
              </a:rPr>
              <a:t>推动竞争政策基础地位与全国统一大市场建设的协同。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第十一章  产业结构及其变动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产业结构演进规律、衡量指标与控制力矩阵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15 / 16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演进定律/指标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核心数学/经验表达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主导驱动力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对产业控制力的影响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政策导向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配第-克拉克定理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劳动力 1产业 -&gt; 2产业 -&gt; 3产业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相对收入与需求弹性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控制力由制造向服务转移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顺应结构升级趋势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霍夫曼经验法则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H = 消费品工业 / 资本品工业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重化工业化与装备制造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奠定重工业与高精尖控制力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支持装备制造业发展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Moore 夹角系数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cos theta = (S_t * S_{t+1}) / (|S_t||S_{t+1}|)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技术创新与投资重组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反映结构调整的动态敏捷度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加快新旧动能转换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结构红利假说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TFP = TFP_internal + TFP_reallocation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要素跨部门高效流动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释放宏观生产率与竞争优势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消除要素自由流动壁垒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第十一章  产业结构及其变动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思考与研讨｜防范“产业空心化”与维持产业控制力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16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发达国家去工业化的经验教训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案例：</a:t>
            </a:r>
            <a:r>
              <a:rPr sz="1250">
                <a:solidFill>
                  <a:srgbClr val="1E293B"/>
                </a:solidFill>
                <a:latin typeface="宋体"/>
              </a:rPr>
              <a:t>美英过早脱实向虚导致制造业空心化与供应链脆弱。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思考：</a:t>
            </a:r>
            <a:r>
              <a:rPr sz="1250">
                <a:solidFill>
                  <a:srgbClr val="1E293B"/>
                </a:solidFill>
                <a:latin typeface="宋体"/>
              </a:rPr>
              <a:t>中国在服务业比重提升过程中如何保持制造业供应链的完整性？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数字经济时代的产业结构评价体系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思考：</a:t>
            </a:r>
            <a:r>
              <a:rPr sz="1250">
                <a:solidFill>
                  <a:srgbClr val="1E293B"/>
                </a:solidFill>
                <a:latin typeface="宋体"/>
              </a:rPr>
              <a:t>传统 GDP 三次产业分类能否精准度量数字经济赋能下的真实产业控制力？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