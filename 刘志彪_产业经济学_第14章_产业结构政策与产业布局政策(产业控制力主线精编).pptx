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2895" cy="13716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A4F"/>
                </a:solidFill>
                <a:latin typeface="微软雅黑"/>
              </a:defRPr>
            </a:pPr>
            <a:r>
              <a:t>产业经济学 · 核心教材精讲</a:t>
            </a:r>
          </a:p>
          <a:p>
            <a:pPr>
              <a:spcBef>
                <a:spcPts val="1000"/>
              </a:spcBef>
              <a:defRPr sz="3000" b="1">
                <a:solidFill>
                  <a:srgbClr val="1B4965"/>
                </a:solidFill>
                <a:latin typeface="微软雅黑"/>
              </a:defRPr>
            </a:pPr>
            <a:r>
              <a:t>第十四章  产业结构政策与产业布局政策</a:t>
            </a:r>
          </a:p>
          <a:p>
            <a:pPr>
              <a:spcBef>
                <a:spcPts val="1500"/>
              </a:spcBef>
              <a:defRPr sz="1800" b="1">
                <a:solidFill>
                  <a:srgbClr val="C58A21"/>
                </a:solidFill>
                <a:latin typeface="微软雅黑"/>
              </a:defRPr>
            </a:pPr>
            <a:r>
              <a:t>【核心主线】：产业控制力的政策护航与主导产业培育</a:t>
            </a:r>
          </a:p>
          <a:p>
            <a:pPr>
              <a:spcBef>
                <a:spcPts val="2500"/>
              </a:spcBef>
              <a:defRPr sz="1400">
                <a:solidFill>
                  <a:srgbClr val="64748B"/>
                </a:solidFill>
                <a:latin typeface="宋体"/>
              </a:defRPr>
            </a:pPr>
            <a:r>
              <a:t>教材依据：刘志彪《产业经济学》（第3版·高等教育/机械工业出版社）</a:t>
            </a:r>
            <a:br/>
            <a:r>
              <a:t>制作风格：自然清新 · 排版高尚大气 · 浅色系精品课件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第十四章  产业结构政策与产业布局政策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本章目录与产业控制力主线映射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2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413455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0476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第一节 幼年产业保护政策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李斯特保护关税与 Mill-Bastable 测试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扶持后发产业成长以建立自主控制力。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54480"/>
            <a:ext cx="3413455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30476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第二节 主导与衰退产业政策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主导产业选择标准与衰退产业平稳退出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优化资源配置，保持产业链整体竞争力。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3413455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37360"/>
            <a:ext cx="30476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第三节 布局政策与结构现代化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区位选择与 NVC/GVC 转型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推动产业由低端保护向现代化高阶控制跃升。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第十四章  产业结构政策与产业布局政策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第一节 产业政策的界定、分类与争论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3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产业政策 (Industrial Policy) 定义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定义：</a:t>
            </a:r>
            <a:r>
              <a:rPr sz="1250">
                <a:solidFill>
                  <a:srgbClr val="1E293B"/>
                </a:solidFill>
                <a:latin typeface="宋体"/>
              </a:rPr>
              <a:t>政府为促成特定产业发展、干预资源配置而采取的综合政策措施。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选择性产业政策 vs 功能性产业政策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选择性政策：</a:t>
            </a:r>
            <a:r>
              <a:rPr sz="1250">
                <a:solidFill>
                  <a:srgbClr val="1E293B"/>
                </a:solidFill>
                <a:latin typeface="宋体"/>
              </a:rPr>
              <a:t>政府“挑选赢家”（Picking Winners），向特定行业/企业倾斜补贴与保护。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功能性政策：</a:t>
            </a:r>
            <a:r>
              <a:rPr sz="1250">
                <a:solidFill>
                  <a:srgbClr val="1E293B"/>
                </a:solidFill>
                <a:latin typeface="宋体"/>
              </a:rPr>
              <a:t>政府“营造环境”（Creating Environment），提供基础设施、教育、R&amp;D 和公平竞争环境。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第十四章  产业结构政策与产业布局政策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第一节 幼年产业保护政策与理论测试标准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4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李斯特（List）幼年产业保护理论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核心主张：</a:t>
            </a:r>
            <a:r>
              <a:rPr sz="1250">
                <a:solidFill>
                  <a:srgbClr val="1E293B"/>
                </a:solidFill>
                <a:latin typeface="宋体"/>
              </a:rPr>
              <a:t>后发国家在幼年时期应通过关税壁垒保护本国制造业，防止被发达国家摧毁。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保护幼年产业的三大测试标准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密尔标准 (Mill Test)：</a:t>
            </a:r>
            <a:r>
              <a:rPr sz="1250">
                <a:solidFill>
                  <a:srgbClr val="1E293B"/>
                </a:solidFill>
                <a:latin typeface="宋体"/>
              </a:rPr>
              <a:t>受保护产业未来必须能产生足够的规模经济与降本效应。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巴斯塔布尔标准 (Bastable Test)：</a:t>
            </a:r>
            <a:r>
              <a:rPr sz="1250">
                <a:solidFill>
                  <a:srgbClr val="1E293B"/>
                </a:solidFill>
                <a:latin typeface="宋体"/>
              </a:rPr>
              <a:t>受保护产生的未来收益现值必须大于保护期付出的保护成本。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肯普标准 (Kemp Test)：</a:t>
            </a:r>
            <a:r>
              <a:rPr sz="1250">
                <a:solidFill>
                  <a:srgbClr val="1E293B"/>
                </a:solidFill>
                <a:latin typeface="宋体"/>
              </a:rPr>
              <a:t>保护必须能带来显著的外溢效应与外部经济。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第十四章  产业结构政策与产业布局政策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第二节 主导产业（Leading Sectors）遴选标准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5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罗斯托（Rostow）主导产业扩散假说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扩散效应：</a:t>
            </a:r>
            <a:r>
              <a:rPr sz="1250">
                <a:solidFill>
                  <a:srgbClr val="1E293B"/>
                </a:solidFill>
                <a:latin typeface="宋体"/>
              </a:rPr>
              <a:t>主导产业具备强大的回顾（后向）、前向及旁侧扩散效应。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经典主导产业选择三大标准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收入弹性标准 (筱原三代平)：</a:t>
            </a:r>
            <a:r>
              <a:rPr sz="1250">
                <a:solidFill>
                  <a:srgbClr val="1E293B"/>
                </a:solidFill>
                <a:latin typeface="宋体"/>
              </a:rPr>
              <a:t>选择需求收入弹性高（e_y &gt; 1）的产业。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技术进步率标准：</a:t>
            </a:r>
            <a:r>
              <a:rPr sz="1250">
                <a:solidFill>
                  <a:srgbClr val="1E293B"/>
                </a:solidFill>
                <a:latin typeface="宋体"/>
              </a:rPr>
              <a:t>选择全要素生产率 (TFP) 增长最快的产业。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赫希曼产业关联标准：</a:t>
            </a:r>
            <a:r>
              <a:rPr sz="1250">
                <a:solidFill>
                  <a:srgbClr val="1E293B"/>
                </a:solidFill>
                <a:latin typeface="宋体"/>
              </a:rPr>
              <a:t>选择前向感应度与后向影响力系数双高的产业。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第十四章  产业结构政策与产业布局政策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第二节 战略性新兴产业与未来产业遴选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6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战略性新兴产业特征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特征：</a:t>
            </a:r>
            <a:r>
              <a:rPr sz="1250">
                <a:solidFill>
                  <a:srgbClr val="1E293B"/>
                </a:solidFill>
                <a:latin typeface="宋体"/>
              </a:rPr>
              <a:t>知识技术密集、物质资源消耗少、成长潜力大、综合效益好。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未来产业的前瞻布局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领域：</a:t>
            </a:r>
            <a:r>
              <a:rPr sz="1250">
                <a:solidFill>
                  <a:srgbClr val="1E293B"/>
                </a:solidFill>
                <a:latin typeface="宋体"/>
              </a:rPr>
              <a:t>量子信息、类脑智能、基因技术、氢能与储能。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主线意义：</a:t>
            </a:r>
            <a:r>
              <a:rPr sz="1250">
                <a:solidFill>
                  <a:srgbClr val="1E293B"/>
                </a:solidFill>
                <a:latin typeface="宋体"/>
              </a:rPr>
              <a:t>抢占未来产业高地是决定下一代全球产业控制力的终极决战场！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第十四章  产业结构政策与产业布局政策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第二节 衰退产业（Declining Industries）调整政策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7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衰退产业的困境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退出壁垒阻碍：</a:t>
            </a:r>
            <a:r>
              <a:rPr sz="1250">
                <a:solidFill>
                  <a:srgbClr val="1E293B"/>
                </a:solidFill>
                <a:latin typeface="宋体"/>
              </a:rPr>
              <a:t>沉没成本高、人员安置难，导致产能过剩与价格战死磕。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政策介入工具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平稳退出：</a:t>
            </a:r>
            <a:r>
              <a:rPr sz="1250">
                <a:solidFill>
                  <a:srgbClr val="1E293B"/>
                </a:solidFill>
                <a:latin typeface="宋体"/>
              </a:rPr>
              <a:t>提供再培训补贴、过剩产能削减补偿及转型转产引导，防止社会剧烈震荡。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第十四章  产业结构政策与产业布局政策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第三节 产业布局（Spatial Layout）原则与区位论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8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韦伯（Weber）工业区位论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三大因素：</a:t>
            </a:r>
            <a:r>
              <a:rPr sz="1250">
                <a:solidFill>
                  <a:srgbClr val="1E293B"/>
                </a:solidFill>
                <a:latin typeface="宋体"/>
              </a:rPr>
              <a:t>运费极小化、劳动力成本极小化与集聚效益。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现代产业布局原则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原则：</a:t>
            </a:r>
            <a:r>
              <a:rPr sz="1250">
                <a:solidFill>
                  <a:srgbClr val="1E293B"/>
                </a:solidFill>
                <a:latin typeface="宋体"/>
              </a:rPr>
              <a:t>资源优化配置、生态环境承载力、区域协调发展与产业链安全防护。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第十四章  产业结构政策与产业布局政策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产业政策失灵与“挑选赢家”的风险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9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政府失灵 (Government Failure) 原因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信息不对称：</a:t>
            </a:r>
            <a:r>
              <a:rPr sz="1250">
                <a:solidFill>
                  <a:srgbClr val="1E293B"/>
                </a:solidFill>
                <a:latin typeface="宋体"/>
              </a:rPr>
              <a:t>政府官员并不比市场企业家更懂得哪项技术路线会成功。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寻租与捕获：</a:t>
            </a:r>
            <a:r>
              <a:rPr sz="1250">
                <a:solidFill>
                  <a:srgbClr val="1E293B"/>
                </a:solidFill>
                <a:latin typeface="宋体"/>
              </a:rPr>
              <a:t>企业为了获取政府专项补贴而投入资源寻租（伪创新）。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产能过剩：</a:t>
            </a:r>
            <a:r>
              <a:rPr sz="1250">
                <a:solidFill>
                  <a:srgbClr val="1E293B"/>
                </a:solidFill>
                <a:latin typeface="宋体"/>
              </a:rPr>
              <a:t>地方政府盲目重复建设与选择性补贴引发严重产能过剩。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政策纠偏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机制调整：</a:t>
            </a:r>
            <a:r>
              <a:rPr sz="1250">
                <a:solidFill>
                  <a:srgbClr val="1E293B"/>
                </a:solidFill>
                <a:latin typeface="宋体"/>
              </a:rPr>
              <a:t>建立严格的政策退出机制（Sunset Clause）与第三方绩效评估。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第十四章  产业结构政策与产业布局政策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从“选择性补贴”向“功能性与竞争政策”转型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10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竞争政策的基础地位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转型方向：</a:t>
            </a:r>
            <a:r>
              <a:rPr sz="1250">
                <a:solidFill>
                  <a:srgbClr val="1E293B"/>
                </a:solidFill>
                <a:latin typeface="宋体"/>
              </a:rPr>
              <a:t>产业政策不得违反公平竞争审查，由直接补贴企业转向补贴基础 R&amp;D 和公共服务。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普惠型创新支持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工具：</a:t>
            </a:r>
            <a:r>
              <a:rPr sz="1250">
                <a:solidFill>
                  <a:srgbClr val="1E293B"/>
                </a:solidFill>
                <a:latin typeface="宋体"/>
              </a:rPr>
              <a:t>研发费用加计扣除、首台套保险补偿、知识产权保护。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第十四章  产业结构政策与产业布局政策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新型举国体制与关键核心技术突破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11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新型举国体制优势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核心特征：</a:t>
            </a:r>
            <a:r>
              <a:rPr sz="1250">
                <a:solidFill>
                  <a:srgbClr val="1E293B"/>
                </a:solidFill>
                <a:latin typeface="宋体"/>
              </a:rPr>
              <a:t>把有为政府和有效市场紧密结合，集中力量办大事。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组建创新联合体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操作：</a:t>
            </a:r>
            <a:r>
              <a:rPr sz="1250">
                <a:solidFill>
                  <a:srgbClr val="1E293B"/>
                </a:solidFill>
                <a:latin typeface="宋体"/>
              </a:rPr>
              <a:t>由链主企业牵头，联合高校、科研院所攻克卡脖子硬核技术。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第十四章  产业结构政策与产业布局政策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构建自主可控国家价值链 (NVC) 的政策体系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12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依托国内超大规模市场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市场拉动：</a:t>
            </a:r>
            <a:r>
              <a:rPr sz="1250">
                <a:solidFill>
                  <a:srgbClr val="1E293B"/>
                </a:solidFill>
                <a:latin typeface="宋体"/>
              </a:rPr>
              <a:t>以国内强大消费需求为首发市场，为本土自主创新提供应用场景。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政策协同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组合拳：</a:t>
            </a:r>
            <a:r>
              <a:rPr sz="1250">
                <a:solidFill>
                  <a:srgbClr val="1E293B"/>
                </a:solidFill>
                <a:latin typeface="宋体"/>
              </a:rPr>
              <a:t>政府采购、标准制定、首台套应用与产业基金联动。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第十四章  产业结构政策与产业布局政策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中国光伏与新能源汽车产业政策成败经验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13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新能源汽车补贴政策成功经验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阶段推进：</a:t>
            </a:r>
            <a:r>
              <a:rPr sz="1250">
                <a:solidFill>
                  <a:srgbClr val="1E293B"/>
                </a:solidFill>
                <a:latin typeface="宋体"/>
              </a:rPr>
              <a:t>前期强补贴撬动市场 -&gt; 设置技术门槛倒逼研发 -&gt; 补贴退坡与双积分接棒。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光伏产业早期的欧美双反阵痛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启示：</a:t>
            </a:r>
            <a:r>
              <a:rPr sz="1250">
                <a:solidFill>
                  <a:srgbClr val="1E293B"/>
                </a:solidFill>
                <a:latin typeface="宋体"/>
              </a:rPr>
              <a:t>过度依赖国外两头在外市场易受打击；后依托国内装机市场实现反超掌控全球。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第十四章  产业结构政策与产业布局政策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第14章 延伸视角｜产业政策与产业控制力深度研讨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14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理论深化：产业政策机制扩展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理论深化：</a:t>
            </a:r>
            <a:r>
              <a:rPr sz="1250">
                <a:solidFill>
                  <a:srgbClr val="1E293B"/>
                </a:solidFill>
                <a:latin typeface="宋体"/>
              </a:rPr>
              <a:t>围绕《产业经济学》（第3版）第14章的核心机制进行博弈与福利深化。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现实映射：</a:t>
            </a:r>
            <a:r>
              <a:rPr sz="1250">
                <a:solidFill>
                  <a:srgbClr val="1E293B"/>
                </a:solidFill>
                <a:latin typeface="宋体"/>
              </a:rPr>
              <a:t>考察市场结构变迁对企业定价、规模扩张与行业效益的传导机制。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反垄断与微观规制视角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政策导向：</a:t>
            </a:r>
            <a:r>
              <a:rPr sz="1250">
                <a:solidFill>
                  <a:srgbClr val="1E293B"/>
                </a:solidFill>
                <a:latin typeface="宋体"/>
              </a:rPr>
              <a:t>评估政府行政干预与竞争政策在防范市场势力滥用中的边界。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治理创新：</a:t>
            </a:r>
            <a:r>
              <a:rPr sz="1250">
                <a:solidFill>
                  <a:srgbClr val="1E293B"/>
                </a:solidFill>
                <a:latin typeface="宋体"/>
              </a:rPr>
              <a:t>推动竞争政策基础地位与全国统一大市场建设的协同。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第十四章  产业结构政策与产业布局政策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产业政策类型、遴选标准、风险与控制力矩阵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15 / 16 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产业政策类型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主要政策工具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代表性遴选标准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潜在风险 / 失灵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强化控制力的路径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幼年产业保护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关税壁垒、进口配额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Mill-Bastable 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养出长不大的温室花朵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设定保护期限与竞争倒逼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主导产业扶持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专项基金、税收优惠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收入弹性与关联效应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挑选输家与产能过剩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向功能性与基础 R&amp;D 转型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衰退产业调整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过剩产能削减补偿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设备利用率与持续亏损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延缓僵尸企业退出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建立健全社会保障与再培训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布局与转移政策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自自由区、转移补贴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区位商与生态承载力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地方保护与重复建设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构建全国统一大市场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第十四章  产业结构政策与产业布局政策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思考与研讨｜大国博弈背景下产业政策效能提升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16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如何避免选择性产业政策的寻租陷阱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思考：</a:t>
            </a:r>
            <a:r>
              <a:rPr sz="1250">
                <a:solidFill>
                  <a:srgbClr val="1E293B"/>
                </a:solidFill>
                <a:latin typeface="宋体"/>
              </a:rPr>
              <a:t>如何通过法治化、透明化与第三方评估确保产业资金真正补在刀刃上？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产业政策与反垄断竞争政策的冲突与协调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思考：</a:t>
            </a:r>
            <a:r>
              <a:rPr sz="1250">
                <a:solidFill>
                  <a:srgbClr val="1E293B"/>
                </a:solidFill>
                <a:latin typeface="宋体"/>
              </a:rPr>
              <a:t>当产业政策鼓励横向合并组建“国家队”时，如何避免损害国内公平竞争？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