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914400" y="914400"/>
            <a:ext cx="1036289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914400"/>
            <a:ext cx="10362895" cy="137160"/>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448495" cy="3657600"/>
          </a:xfrm>
          <a:prstGeom prst="rect">
            <a:avLst/>
          </a:prstGeom>
          <a:noFill/>
        </p:spPr>
        <p:txBody>
          <a:bodyPr wrap="square">
            <a:spAutoFit/>
          </a:bodyPr>
          <a:lstStyle/>
          <a:p>
            <a:pPr>
              <a:defRPr sz="1800" b="1">
                <a:solidFill>
                  <a:srgbClr val="2D6A4F"/>
                </a:solidFill>
                <a:latin typeface="微软雅黑"/>
              </a:defRPr>
            </a:pPr>
            <a:r>
              <a:t>产业经济学 · 核心教材精讲</a:t>
            </a:r>
          </a:p>
          <a:p>
            <a:pPr>
              <a:spcBef>
                <a:spcPts val="1000"/>
              </a:spcBef>
              <a:defRPr sz="3200" b="1">
                <a:solidFill>
                  <a:srgbClr val="1B4965"/>
                </a:solidFill>
                <a:latin typeface="微软雅黑"/>
              </a:defRPr>
            </a:pPr>
            <a:r>
              <a:t>第一章  企业的目标、结构与组织</a:t>
            </a:r>
          </a:p>
          <a:p>
            <a:pPr>
              <a:spcBef>
                <a:spcPts val="1500"/>
              </a:spcBef>
              <a:defRPr sz="1800" b="1">
                <a:solidFill>
                  <a:srgbClr val="C58A21"/>
                </a:solidFill>
                <a:latin typeface="微软雅黑"/>
              </a:defRPr>
            </a:pPr>
            <a:r>
              <a:t>【核心主线】：市场势力（Market Power）的微观组织根源与演化路径</a:t>
            </a:r>
          </a:p>
          <a:p>
            <a:pPr>
              <a:spcBef>
                <a:spcPts val="2500"/>
              </a:spcBef>
              <a:defRPr sz="1400">
                <a:solidFill>
                  <a:srgbClr val="64748B"/>
                </a:solidFill>
                <a:latin typeface="宋体"/>
              </a:defRPr>
            </a:pPr>
            <a:r>
              <a:t>教材依据：刘志彪《产业经济学》（第3版·高等教育/机械工业出版社）</a:t>
            </a:r>
            <a:br/>
            <a:r>
              <a:t>制作风格：自然清新 · 排版高尚大气 · 浅色系精品课件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第一章 企业的目标、结构与组织</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本章架构与市场势力（Market Power）主线映射</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Power）的微观形成与演化  |  第 2 / 16 页</a:t>
            </a:r>
          </a:p>
        </p:txBody>
      </p:sp>
      <p:sp>
        <p:nvSpPr>
          <p:cNvPr id="6" name="Rounded Rectangle 5"/>
          <p:cNvSpPr/>
          <p:nvPr/>
        </p:nvSpPr>
        <p:spPr>
          <a:xfrm>
            <a:off x="731520" y="155448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1920240"/>
          </a:xfrm>
          <a:prstGeom prst="rect">
            <a:avLst/>
          </a:prstGeom>
          <a:noFill/>
        </p:spPr>
        <p:txBody>
          <a:bodyPr wrap="square">
            <a:spAutoFit/>
          </a:bodyPr>
          <a:lstStyle/>
          <a:p>
            <a:pPr>
              <a:spcAft>
                <a:spcPts val="1000"/>
              </a:spcAft>
              <a:defRPr sz="1600" b="1">
                <a:solidFill>
                  <a:srgbClr val="1B4965"/>
                </a:solidFill>
                <a:latin typeface="微软雅黑"/>
              </a:defRPr>
            </a:pPr>
            <a:r>
              <a:t>第一节 企业的本质</a:t>
            </a:r>
          </a:p>
          <a:p>
            <a:pPr>
              <a:spcAft>
                <a:spcPts val="800"/>
              </a:spcAft>
            </a:pPr>
            <a:r>
              <a:rPr b="1" sz="1300">
                <a:solidFill>
                  <a:srgbClr val="1E293B"/>
                </a:solidFill>
                <a:latin typeface="微软雅黑"/>
              </a:rPr>
              <a:t>微观核心：</a:t>
            </a:r>
            <a:r>
              <a:rPr sz="1300">
                <a:solidFill>
                  <a:srgbClr val="1E293B"/>
                </a:solidFill>
                <a:latin typeface="宋体"/>
              </a:rPr>
              <a:t>交易成本与资产专用性</a:t>
            </a:r>
          </a:p>
          <a:p>
            <a:pPr>
              <a:spcAft>
                <a:spcPts val="800"/>
              </a:spcAft>
            </a:pPr>
            <a:r>
              <a:rPr b="1" sz="1300">
                <a:solidFill>
                  <a:srgbClr val="1E293B"/>
                </a:solidFill>
                <a:latin typeface="微软雅黑"/>
              </a:rPr>
              <a:t>主线映射：</a:t>
            </a:r>
            <a:r>
              <a:rPr sz="1300">
                <a:solidFill>
                  <a:srgbClr val="1E293B"/>
                </a:solidFill>
                <a:latin typeface="宋体"/>
              </a:rPr>
              <a:t>企业边界决定了市场势力的原始积累与控制规模基石。</a:t>
            </a:r>
          </a:p>
        </p:txBody>
      </p:sp>
      <p:sp>
        <p:nvSpPr>
          <p:cNvPr id="9" name="Rounded Rectangle 8"/>
          <p:cNvSpPr/>
          <p:nvPr/>
        </p:nvSpPr>
        <p:spPr>
          <a:xfrm>
            <a:off x="6309360" y="155448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1920240"/>
          </a:xfrm>
          <a:prstGeom prst="rect">
            <a:avLst/>
          </a:prstGeom>
          <a:noFill/>
        </p:spPr>
        <p:txBody>
          <a:bodyPr wrap="square">
            <a:spAutoFit/>
          </a:bodyPr>
          <a:lstStyle/>
          <a:p>
            <a:pPr>
              <a:spcAft>
                <a:spcPts val="1000"/>
              </a:spcAft>
              <a:defRPr sz="1600" b="1">
                <a:solidFill>
                  <a:srgbClr val="2D6A4F"/>
                </a:solidFill>
                <a:latin typeface="微软雅黑"/>
              </a:defRPr>
            </a:pPr>
            <a:r>
              <a:t>第二节 企业的目标</a:t>
            </a:r>
          </a:p>
          <a:p>
            <a:pPr>
              <a:spcAft>
                <a:spcPts val="800"/>
              </a:spcAft>
            </a:pPr>
            <a:r>
              <a:rPr b="1" sz="1300">
                <a:solidFill>
                  <a:srgbClr val="1E293B"/>
                </a:solidFill>
                <a:latin typeface="微软雅黑"/>
              </a:rPr>
              <a:t>微观核心：</a:t>
            </a:r>
            <a:r>
              <a:rPr sz="1300">
                <a:solidFill>
                  <a:srgbClr val="1E293B"/>
                </a:solidFill>
                <a:latin typeface="宋体"/>
              </a:rPr>
              <a:t>委托-代理与目标差异化</a:t>
            </a:r>
          </a:p>
          <a:p>
            <a:pPr>
              <a:spcAft>
                <a:spcPts val="800"/>
              </a:spcAft>
            </a:pPr>
            <a:r>
              <a:rPr b="1" sz="1300">
                <a:solidFill>
                  <a:srgbClr val="1E293B"/>
                </a:solidFill>
                <a:latin typeface="微软雅黑"/>
              </a:rPr>
              <a:t>主线映射：</a:t>
            </a:r>
            <a:r>
              <a:rPr sz="1300">
                <a:solidFill>
                  <a:srgbClr val="1E293B"/>
                </a:solidFill>
                <a:latin typeface="宋体"/>
              </a:rPr>
              <a:t>利润/销售额/增长最大化决定了行使市场势力的策略姿态。</a:t>
            </a:r>
          </a:p>
        </p:txBody>
      </p:sp>
      <p:sp>
        <p:nvSpPr>
          <p:cNvPr id="12" name="Rounded Rectangle 11"/>
          <p:cNvSpPr/>
          <p:nvPr/>
        </p:nvSpPr>
        <p:spPr>
          <a:xfrm>
            <a:off x="731520" y="402336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02336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206240"/>
            <a:ext cx="4754880" cy="1920240"/>
          </a:xfrm>
          <a:prstGeom prst="rect">
            <a:avLst/>
          </a:prstGeom>
          <a:noFill/>
        </p:spPr>
        <p:txBody>
          <a:bodyPr wrap="square">
            <a:spAutoFit/>
          </a:bodyPr>
          <a:lstStyle/>
          <a:p>
            <a:pPr>
              <a:spcAft>
                <a:spcPts val="1000"/>
              </a:spcAft>
              <a:defRPr sz="1600" b="1">
                <a:solidFill>
                  <a:srgbClr val="C58A21"/>
                </a:solidFill>
                <a:latin typeface="微软雅黑"/>
              </a:defRPr>
            </a:pPr>
            <a:r>
              <a:t>第三节 企业的结构</a:t>
            </a:r>
          </a:p>
          <a:p>
            <a:pPr>
              <a:spcAft>
                <a:spcPts val="800"/>
              </a:spcAft>
            </a:pPr>
            <a:r>
              <a:rPr b="1" sz="1300">
                <a:solidFill>
                  <a:srgbClr val="1E293B"/>
                </a:solidFill>
                <a:latin typeface="微软雅黑"/>
              </a:rPr>
              <a:t>微观核心：</a:t>
            </a:r>
            <a:r>
              <a:rPr sz="1300">
                <a:solidFill>
                  <a:srgbClr val="1E293B"/>
                </a:solidFill>
                <a:latin typeface="宋体"/>
              </a:rPr>
              <a:t>产权制度与 U/H/M/矩阵 结构演进</a:t>
            </a:r>
          </a:p>
          <a:p>
            <a:pPr>
              <a:spcAft>
                <a:spcPts val="800"/>
              </a:spcAft>
            </a:pPr>
            <a:r>
              <a:rPr b="1" sz="1300">
                <a:solidFill>
                  <a:srgbClr val="1E293B"/>
                </a:solidFill>
                <a:latin typeface="微软雅黑"/>
              </a:rPr>
              <a:t>主线映射：</a:t>
            </a:r>
            <a:r>
              <a:rPr sz="1300">
                <a:solidFill>
                  <a:srgbClr val="1E293B"/>
                </a:solidFill>
                <a:latin typeface="宋体"/>
              </a:rPr>
              <a:t>高效内部组织结构为多产品、多区域市场支配地位提供保障。</a:t>
            </a:r>
          </a:p>
        </p:txBody>
      </p:sp>
      <p:sp>
        <p:nvSpPr>
          <p:cNvPr id="15" name="Rounded Rectangle 14"/>
          <p:cNvSpPr/>
          <p:nvPr/>
        </p:nvSpPr>
        <p:spPr>
          <a:xfrm>
            <a:off x="6309360" y="402336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60" y="402336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4206240"/>
            <a:ext cx="4754880" cy="1920240"/>
          </a:xfrm>
          <a:prstGeom prst="rect">
            <a:avLst/>
          </a:prstGeom>
          <a:noFill/>
        </p:spPr>
        <p:txBody>
          <a:bodyPr wrap="square">
            <a:spAutoFit/>
          </a:bodyPr>
          <a:lstStyle/>
          <a:p>
            <a:pPr>
              <a:spcAft>
                <a:spcPts val="1000"/>
              </a:spcAft>
              <a:defRPr sz="1600" b="1">
                <a:solidFill>
                  <a:srgbClr val="1B4965"/>
                </a:solidFill>
                <a:latin typeface="微软雅黑"/>
              </a:defRPr>
            </a:pPr>
            <a:r>
              <a:t>第四节 企业的组织</a:t>
            </a:r>
          </a:p>
          <a:p>
            <a:pPr>
              <a:spcAft>
                <a:spcPts val="800"/>
              </a:spcAft>
            </a:pPr>
            <a:r>
              <a:rPr b="1" sz="1300">
                <a:solidFill>
                  <a:srgbClr val="1E293B"/>
                </a:solidFill>
                <a:latin typeface="微软雅黑"/>
              </a:rPr>
              <a:t>微观核心：</a:t>
            </a:r>
            <a:r>
              <a:rPr sz="1300">
                <a:solidFill>
                  <a:srgbClr val="1E293B"/>
                </a:solidFill>
                <a:latin typeface="宋体"/>
              </a:rPr>
              <a:t>企业集团、网络组织与中国实践</a:t>
            </a:r>
          </a:p>
          <a:p>
            <a:pPr>
              <a:spcAft>
                <a:spcPts val="800"/>
              </a:spcAft>
            </a:pPr>
            <a:r>
              <a:rPr b="1" sz="1300">
                <a:solidFill>
                  <a:srgbClr val="1E293B"/>
                </a:solidFill>
                <a:latin typeface="微软雅黑"/>
              </a:rPr>
              <a:t>主线映射：</a:t>
            </a:r>
            <a:r>
              <a:rPr sz="1300">
                <a:solidFill>
                  <a:srgbClr val="1E293B"/>
                </a:solidFill>
                <a:latin typeface="宋体"/>
              </a:rPr>
              <a:t>产业链协同与网络化联结形成集合市场势力（Collective Power）。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第一章 企业的目标、结构与组织</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第一节 企业的本质｜交易成本与企业的产生</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Power）的微观形成与演化  |  第 3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1000"/>
              </a:spcAft>
              <a:defRPr sz="1600" b="1">
                <a:solidFill>
                  <a:srgbClr val="1B4965"/>
                </a:solidFill>
                <a:latin typeface="微软雅黑"/>
              </a:defRPr>
            </a:pPr>
            <a:r>
              <a:t>1. 市场机制与企业的替代关系</a:t>
            </a:r>
          </a:p>
          <a:p>
            <a:pPr>
              <a:spcAft>
                <a:spcPts val="800"/>
              </a:spcAft>
            </a:pPr>
            <a:r>
              <a:rPr b="1" sz="1300">
                <a:solidFill>
                  <a:srgbClr val="1E293B"/>
                </a:solidFill>
                <a:latin typeface="微软雅黑"/>
              </a:rPr>
              <a:t>新古典视角：</a:t>
            </a:r>
            <a:r>
              <a:rPr sz="1300">
                <a:solidFill>
                  <a:srgbClr val="1E293B"/>
                </a:solidFill>
                <a:latin typeface="宋体"/>
              </a:rPr>
              <a:t>市场通过价格机制配置资源，企业被视为生产函数黑箱。</a:t>
            </a:r>
          </a:p>
          <a:p>
            <a:pPr>
              <a:spcAft>
                <a:spcPts val="800"/>
              </a:spcAft>
            </a:pPr>
            <a:r>
              <a:rPr b="1" sz="1300">
                <a:solidFill>
                  <a:srgbClr val="1E293B"/>
                </a:solidFill>
                <a:latin typeface="微软雅黑"/>
              </a:rPr>
              <a:t>科斯（Coase, 1937）突破：</a:t>
            </a:r>
            <a:r>
              <a:rPr sz="1300">
                <a:solidFill>
                  <a:srgbClr val="1E293B"/>
                </a:solidFill>
                <a:latin typeface="宋体"/>
              </a:rPr>
              <a:t>利用市场价格机制是有成本的（搜寻、谈判、履约成本）。</a:t>
            </a:r>
          </a:p>
          <a:p>
            <a:pPr>
              <a:spcAft>
                <a:spcPts val="800"/>
              </a:spcAft>
            </a:pPr>
            <a:r>
              <a:rPr b="1" sz="1300">
                <a:solidFill>
                  <a:srgbClr val="1E293B"/>
                </a:solidFill>
                <a:latin typeface="微软雅黑"/>
              </a:rPr>
              <a:t>企业的本质：</a:t>
            </a:r>
            <a:r>
              <a:rPr sz="1300">
                <a:solidFill>
                  <a:srgbClr val="1E293B"/>
                </a:solidFill>
                <a:latin typeface="宋体"/>
              </a:rPr>
              <a:t>企业是市场价格机制的替代物，用内部行政指令替代市场交易。</a:t>
            </a:r>
          </a:p>
          <a:p>
            <a:pPr>
              <a:spcAft>
                <a:spcPts val="800"/>
              </a:spcAft>
            </a:pPr>
            <a:r>
              <a:rPr b="1" sz="1300">
                <a:solidFill>
                  <a:srgbClr val="1E293B"/>
                </a:solidFill>
                <a:latin typeface="微软雅黑"/>
              </a:rPr>
              <a:t>主线思考：</a:t>
            </a:r>
            <a:r>
              <a:rPr sz="1300">
                <a:solidFill>
                  <a:srgbClr val="1E293B"/>
                </a:solidFill>
                <a:latin typeface="宋体"/>
              </a:rPr>
              <a:t>企业通过将外部交易内部化，形成了组织生产力与市场控制力。</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1000"/>
              </a:spcAft>
              <a:defRPr sz="1600" b="1">
                <a:solidFill>
                  <a:srgbClr val="2D6A4F"/>
                </a:solidFill>
                <a:latin typeface="微软雅黑"/>
              </a:defRPr>
            </a:pPr>
            <a:r>
              <a:t>2. 交易成本对市场势力的启示</a:t>
            </a:r>
          </a:p>
          <a:p>
            <a:pPr>
              <a:spcAft>
                <a:spcPts val="800"/>
              </a:spcAft>
            </a:pPr>
            <a:r>
              <a:rPr b="1" sz="1300">
                <a:solidFill>
                  <a:srgbClr val="1E293B"/>
                </a:solidFill>
                <a:latin typeface="微软雅黑"/>
              </a:rPr>
              <a:t>交易成本来源：</a:t>
            </a:r>
            <a:r>
              <a:rPr sz="1300">
                <a:solidFill>
                  <a:srgbClr val="1E293B"/>
                </a:solidFill>
                <a:latin typeface="宋体"/>
              </a:rPr>
              <a:t>有限理性（Bounded Rationality）与机会主义（Opportunism）。</a:t>
            </a:r>
          </a:p>
          <a:p>
            <a:pPr>
              <a:spcAft>
                <a:spcPts val="800"/>
              </a:spcAft>
            </a:pPr>
            <a:r>
              <a:rPr b="1" sz="1300">
                <a:solidFill>
                  <a:srgbClr val="1E293B"/>
                </a:solidFill>
                <a:latin typeface="微软雅黑"/>
              </a:rPr>
              <a:t>节约交易成本：</a:t>
            </a:r>
            <a:r>
              <a:rPr sz="1300">
                <a:solidFill>
                  <a:srgbClr val="1E293B"/>
                </a:solidFill>
                <a:latin typeface="宋体"/>
              </a:rPr>
              <a:t>企业内部化降低了不确定性，提高了战略决策效率。</a:t>
            </a:r>
          </a:p>
          <a:p>
            <a:pPr>
              <a:spcAft>
                <a:spcPts val="800"/>
              </a:spcAft>
            </a:pPr>
            <a:r>
              <a:rPr b="1" sz="1300">
                <a:solidFill>
                  <a:srgbClr val="1E293B"/>
                </a:solidFill>
                <a:latin typeface="微软雅黑"/>
              </a:rPr>
              <a:t>市场势力形成：</a:t>
            </a:r>
            <a:r>
              <a:rPr sz="1300">
                <a:solidFill>
                  <a:srgbClr val="1E293B"/>
                </a:solidFill>
                <a:latin typeface="宋体"/>
              </a:rPr>
              <a:t>当企业内部协调成本小于外部市场交易成本时，企业持续扩张。</a:t>
            </a:r>
          </a:p>
          <a:p>
            <a:pPr>
              <a:spcAft>
                <a:spcPts val="800"/>
              </a:spcAft>
            </a:pPr>
            <a:r>
              <a:rPr b="1" sz="1300">
                <a:solidFill>
                  <a:srgbClr val="1E293B"/>
                </a:solidFill>
                <a:latin typeface="微软雅黑"/>
              </a:rPr>
              <a:t>核心推论：</a:t>
            </a:r>
            <a:r>
              <a:rPr sz="1300">
                <a:solidFill>
                  <a:srgbClr val="1E293B"/>
                </a:solidFill>
                <a:latin typeface="宋体"/>
              </a:rPr>
              <a:t>能够有效节约交易成本的企业，具有更强的规模扩展与市场支配潜力。</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第一章 企业的目标、结构与组织</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第一节 企业的本质｜资产专用性与企业边界</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Power）的微观形成与演化  |  第 4 / 16 页</a:t>
            </a:r>
          </a:p>
        </p:txBody>
      </p:sp>
      <p:sp>
        <p:nvSpPr>
          <p:cNvPr id="6" name="Rounded Rectangle 5"/>
          <p:cNvSpPr/>
          <p:nvPr/>
        </p:nvSpPr>
        <p:spPr>
          <a:xfrm>
            <a:off x="731520" y="1554480"/>
            <a:ext cx="10728655"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10728655"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10362895" cy="1828800"/>
          </a:xfrm>
          <a:prstGeom prst="rect">
            <a:avLst/>
          </a:prstGeom>
          <a:noFill/>
        </p:spPr>
        <p:txBody>
          <a:bodyPr wrap="square">
            <a:spAutoFit/>
          </a:bodyPr>
          <a:lstStyle/>
          <a:p>
            <a:pPr>
              <a:spcAft>
                <a:spcPts val="1000"/>
              </a:spcAft>
              <a:defRPr sz="1600" b="1">
                <a:solidFill>
                  <a:srgbClr val="1B4965"/>
                </a:solidFill>
                <a:latin typeface="微软雅黑"/>
              </a:defRPr>
            </a:pPr>
            <a:r>
              <a:t>威廉姆森（Williamson）交易成本经济学框架</a:t>
            </a:r>
          </a:p>
          <a:p>
            <a:pPr>
              <a:spcAft>
                <a:spcPts val="800"/>
              </a:spcAft>
            </a:pPr>
            <a:r>
              <a:rPr b="1" sz="1300">
                <a:solidFill>
                  <a:srgbClr val="1E293B"/>
                </a:solidFill>
                <a:latin typeface="微软雅黑"/>
              </a:rPr>
              <a:t>资产专用性 (Asset Specificity)：</a:t>
            </a:r>
            <a:r>
              <a:rPr sz="1300">
                <a:solidFill>
                  <a:srgbClr val="1E293B"/>
                </a:solidFill>
                <a:latin typeface="宋体"/>
              </a:rPr>
              <a:t>资产用于特定用途后改作他用会遭受重大价值损失（地点专用性、物理资产专用性、人力资产专用性）。</a:t>
            </a:r>
          </a:p>
          <a:p>
            <a:pPr>
              <a:spcAft>
                <a:spcPts val="800"/>
              </a:spcAft>
            </a:pPr>
            <a:r>
              <a:rPr b="1" sz="1300">
                <a:solidFill>
                  <a:srgbClr val="1E293B"/>
                </a:solidFill>
                <a:latin typeface="微软雅黑"/>
              </a:rPr>
              <a:t>敲竹杠风险 (Hold-up Problem)：</a:t>
            </a:r>
            <a:r>
              <a:rPr sz="1300">
                <a:solidFill>
                  <a:srgbClr val="1E293B"/>
                </a:solidFill>
                <a:latin typeface="宋体"/>
              </a:rPr>
              <a:t>在资产专用性极高时，公开市场交易极易诱发机会主义敲竹杠。</a:t>
            </a:r>
          </a:p>
          <a:p>
            <a:pPr>
              <a:spcAft>
                <a:spcPts val="800"/>
              </a:spcAft>
            </a:pPr>
            <a:r>
              <a:rPr b="1" sz="1300">
                <a:solidFill>
                  <a:srgbClr val="1E293B"/>
                </a:solidFill>
                <a:latin typeface="微软雅黑"/>
              </a:rPr>
              <a:t>一体化治理：</a:t>
            </a:r>
            <a:r>
              <a:rPr sz="1300">
                <a:solidFill>
                  <a:srgbClr val="1E293B"/>
                </a:solidFill>
                <a:latin typeface="宋体"/>
              </a:rPr>
              <a:t>高资产专用性促使企业选择纵向一体化（Vertical Integration）内部治理。</a:t>
            </a:r>
          </a:p>
        </p:txBody>
      </p:sp>
      <p:sp>
        <p:nvSpPr>
          <p:cNvPr id="9" name="Rounded Rectangle 8"/>
          <p:cNvSpPr/>
          <p:nvPr/>
        </p:nvSpPr>
        <p:spPr>
          <a:xfrm>
            <a:off x="731520" y="3931920"/>
            <a:ext cx="10728655"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931920"/>
            <a:ext cx="10728655"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14800"/>
            <a:ext cx="10362895" cy="1920240"/>
          </a:xfrm>
          <a:prstGeom prst="rect">
            <a:avLst/>
          </a:prstGeom>
          <a:noFill/>
        </p:spPr>
        <p:txBody>
          <a:bodyPr wrap="square">
            <a:spAutoFit/>
          </a:bodyPr>
          <a:lstStyle/>
          <a:p>
            <a:pPr>
              <a:spcAft>
                <a:spcPts val="1000"/>
              </a:spcAft>
              <a:defRPr sz="1600" b="1">
                <a:solidFill>
                  <a:srgbClr val="C58A21"/>
                </a:solidFill>
                <a:latin typeface="微软雅黑"/>
              </a:defRPr>
            </a:pPr>
            <a:r>
              <a:t>企业边界决定论与市场势力的积累</a:t>
            </a:r>
          </a:p>
          <a:p>
            <a:pPr>
              <a:spcAft>
                <a:spcPts val="800"/>
              </a:spcAft>
            </a:pPr>
            <a:r>
              <a:rPr b="1" sz="1300">
                <a:solidFill>
                  <a:srgbClr val="1E293B"/>
                </a:solidFill>
                <a:latin typeface="微软雅黑"/>
              </a:rPr>
              <a:t>边际均衡法则：</a:t>
            </a:r>
            <a:r>
              <a:rPr sz="1300">
                <a:solidFill>
                  <a:srgbClr val="1E293B"/>
                </a:solidFill>
                <a:latin typeface="宋体"/>
              </a:rPr>
              <a:t>企业扩张到内部组织额外交易的成本等于公开市场进行交易的成本为止。</a:t>
            </a:r>
          </a:p>
          <a:p>
            <a:pPr>
              <a:spcAft>
                <a:spcPts val="800"/>
              </a:spcAft>
            </a:pPr>
            <a:r>
              <a:rPr b="1" sz="1300">
                <a:solidFill>
                  <a:srgbClr val="1E293B"/>
                </a:solidFill>
                <a:latin typeface="微软雅黑"/>
              </a:rPr>
              <a:t>市场势力联动：</a:t>
            </a:r>
            <a:r>
              <a:rPr sz="1300">
                <a:solidFill>
                  <a:srgbClr val="1E293B"/>
                </a:solidFill>
                <a:latin typeface="宋体"/>
              </a:rPr>
              <a:t>企业边界的拓展不仅节约了交易成本，更直接控制了特定产业链节点，构筑起结构性进入壁垒，形成持久的市场势力。</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第一章 企业的目标、结构与组织</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第一节 扩展视角｜纵向一体化与市场势力杠杆</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Power）的微观形成与演化  |  第 5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1000"/>
              </a:spcAft>
              <a:defRPr sz="1600" b="1">
                <a:solidFill>
                  <a:srgbClr val="1B4965"/>
                </a:solidFill>
                <a:latin typeface="微软雅黑"/>
              </a:defRPr>
            </a:pPr>
            <a:r>
              <a:t>上游原材料/核心技术控制</a:t>
            </a:r>
          </a:p>
          <a:p>
            <a:pPr>
              <a:spcAft>
                <a:spcPts val="800"/>
              </a:spcAft>
            </a:pPr>
            <a:r>
              <a:rPr b="1" sz="1300">
                <a:solidFill>
                  <a:srgbClr val="1E293B"/>
                </a:solidFill>
                <a:latin typeface="微软雅黑"/>
              </a:rPr>
              <a:t>策略目的：</a:t>
            </a:r>
            <a:r>
              <a:rPr sz="1300">
                <a:solidFill>
                  <a:srgbClr val="1E293B"/>
                </a:solidFill>
                <a:latin typeface="宋体"/>
              </a:rPr>
              <a:t>控制关键上游投入品（Input Foreclosure）。</a:t>
            </a:r>
          </a:p>
          <a:p>
            <a:pPr>
              <a:spcAft>
                <a:spcPts val="800"/>
              </a:spcAft>
            </a:pPr>
            <a:r>
              <a:rPr b="1" sz="1300">
                <a:solidFill>
                  <a:srgbClr val="1E293B"/>
                </a:solidFill>
                <a:latin typeface="微软雅黑"/>
              </a:rPr>
              <a:t>市场势力机制：</a:t>
            </a:r>
            <a:r>
              <a:rPr sz="1300">
                <a:solidFill>
                  <a:srgbClr val="1E293B"/>
                </a:solidFill>
                <a:latin typeface="宋体"/>
              </a:rPr>
              <a:t>通过纵向一体化封锁上游，使得无一体化的竞争对手面临极高的原料成本或供应中断风险。</a:t>
            </a:r>
          </a:p>
          <a:p>
            <a:pPr>
              <a:spcAft>
                <a:spcPts val="800"/>
              </a:spcAft>
            </a:pPr>
            <a:r>
              <a:rPr b="1" sz="1300">
                <a:solidFill>
                  <a:srgbClr val="1E293B"/>
                </a:solidFill>
                <a:latin typeface="微软雅黑"/>
              </a:rPr>
              <a:t>典型效应：</a:t>
            </a:r>
            <a:r>
              <a:rPr sz="1300">
                <a:solidFill>
                  <a:srgbClr val="1E293B"/>
                </a:solidFill>
                <a:latin typeface="宋体"/>
              </a:rPr>
              <a:t>将上游的技术/资源壁垒转化为下游产品市场的定价权与支配地位。</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1000"/>
              </a:spcAft>
              <a:defRPr sz="1600" b="1">
                <a:solidFill>
                  <a:srgbClr val="2D6A4F"/>
                </a:solidFill>
                <a:latin typeface="微软雅黑"/>
              </a:defRPr>
            </a:pPr>
            <a:r>
              <a:t>下游渠道/终端市场封锁</a:t>
            </a:r>
          </a:p>
          <a:p>
            <a:pPr>
              <a:spcAft>
                <a:spcPts val="800"/>
              </a:spcAft>
            </a:pPr>
            <a:r>
              <a:rPr b="1" sz="1300">
                <a:solidFill>
                  <a:srgbClr val="1E293B"/>
                </a:solidFill>
                <a:latin typeface="微软雅黑"/>
              </a:rPr>
              <a:t>策略目的：</a:t>
            </a:r>
            <a:r>
              <a:rPr sz="1300">
                <a:solidFill>
                  <a:srgbClr val="1E293B"/>
                </a:solidFill>
                <a:latin typeface="宋体"/>
              </a:rPr>
              <a:t>控制排他性销售渠道（Customer Foreclosure）。</a:t>
            </a:r>
          </a:p>
          <a:p>
            <a:pPr>
              <a:spcAft>
                <a:spcPts val="800"/>
              </a:spcAft>
            </a:pPr>
            <a:r>
              <a:rPr b="1" sz="1300">
                <a:solidFill>
                  <a:srgbClr val="1E293B"/>
                </a:solidFill>
                <a:latin typeface="微软雅黑"/>
              </a:rPr>
              <a:t>市场势力机制：</a:t>
            </a:r>
            <a:r>
              <a:rPr sz="1300">
                <a:solidFill>
                  <a:srgbClr val="1E293B"/>
                </a:solidFill>
                <a:latin typeface="宋体"/>
              </a:rPr>
              <a:t>限制潜在进入者接入终端零售网络，抬高新企业的进入门槛。</a:t>
            </a:r>
          </a:p>
          <a:p>
            <a:pPr>
              <a:spcAft>
                <a:spcPts val="800"/>
              </a:spcAft>
            </a:pPr>
            <a:r>
              <a:rPr b="1" sz="1300">
                <a:solidFill>
                  <a:srgbClr val="1E293B"/>
                </a:solidFill>
                <a:latin typeface="微软雅黑"/>
              </a:rPr>
              <a:t>福利与规制：</a:t>
            </a:r>
            <a:r>
              <a:rPr sz="1300">
                <a:solidFill>
                  <a:srgbClr val="1E293B"/>
                </a:solidFill>
                <a:latin typeface="宋体"/>
              </a:rPr>
              <a:t>纵向一体化一方面消除纵向双重加价（Double Marginalization），另一方面可能构成滥用市场支配地位。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第一章 企业的目标、结构与组织</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企业的目标｜所有权与控制权分离</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Power）的微观形成与演化  |  第 6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1000"/>
              </a:spcAft>
              <a:defRPr sz="1600" b="1">
                <a:solidFill>
                  <a:srgbClr val="1B4965"/>
                </a:solidFill>
                <a:latin typeface="微软雅黑"/>
              </a:defRPr>
            </a:pPr>
            <a:r>
              <a:t>1. 伯利-米恩斯假说 (Berle-Means, 1932)</a:t>
            </a:r>
          </a:p>
          <a:p>
            <a:pPr>
              <a:spcAft>
                <a:spcPts val="800"/>
              </a:spcAft>
            </a:pPr>
            <a:r>
              <a:rPr b="1" sz="1300">
                <a:solidFill>
                  <a:srgbClr val="1E293B"/>
                </a:solidFill>
                <a:latin typeface="微软雅黑"/>
              </a:rPr>
              <a:t>股权高度分散：</a:t>
            </a:r>
            <a:r>
              <a:rPr sz="1300">
                <a:solidFill>
                  <a:srgbClr val="1E293B"/>
                </a:solidFill>
                <a:latin typeface="宋体"/>
              </a:rPr>
              <a:t>现代巨型公司中，股东分散且只关注资本收益，失去直接经营能力。</a:t>
            </a:r>
          </a:p>
          <a:p>
            <a:pPr>
              <a:spcAft>
                <a:spcPts val="800"/>
              </a:spcAft>
            </a:pPr>
            <a:r>
              <a:rPr b="1" sz="1300">
                <a:solidFill>
                  <a:srgbClr val="1E293B"/>
                </a:solidFill>
                <a:latin typeface="微软雅黑"/>
              </a:rPr>
              <a:t>控制权转移：</a:t>
            </a:r>
            <a:r>
              <a:rPr sz="1300">
                <a:solidFill>
                  <a:srgbClr val="1E293B"/>
                </a:solidFill>
                <a:latin typeface="宋体"/>
              </a:rPr>
              <a:t>实际控制权转移至职业经理人（Managers）手中。</a:t>
            </a:r>
          </a:p>
          <a:p>
            <a:pPr>
              <a:spcAft>
                <a:spcPts val="800"/>
              </a:spcAft>
            </a:pPr>
            <a:r>
              <a:rPr b="1" sz="1300">
                <a:solidFill>
                  <a:srgbClr val="1E293B"/>
                </a:solidFill>
                <a:latin typeface="微软雅黑"/>
              </a:rPr>
              <a:t>利益冲突：</a:t>
            </a:r>
            <a:r>
              <a:rPr sz="1300">
                <a:solidFill>
                  <a:srgbClr val="1E293B"/>
                </a:solidFill>
                <a:latin typeface="宋体"/>
              </a:rPr>
              <a:t>股东追求资本报酬率最大化，经理人追求个人薪酬、权力、声誉与职位安全。</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1000"/>
              </a:spcAft>
              <a:defRPr sz="1600" b="1">
                <a:solidFill>
                  <a:srgbClr val="2D6A4F"/>
                </a:solidFill>
                <a:latin typeface="微软雅黑"/>
              </a:defRPr>
            </a:pPr>
            <a:r>
              <a:t>2. 委托-代理问题与市场势力</a:t>
            </a:r>
          </a:p>
          <a:p>
            <a:pPr>
              <a:spcAft>
                <a:spcPts val="800"/>
              </a:spcAft>
            </a:pPr>
            <a:r>
              <a:rPr b="1" sz="1300">
                <a:solidFill>
                  <a:srgbClr val="1E293B"/>
                </a:solidFill>
                <a:latin typeface="微软雅黑"/>
              </a:rPr>
              <a:t>信息不对称：</a:t>
            </a:r>
            <a:r>
              <a:rPr sz="1300">
                <a:solidFill>
                  <a:srgbClr val="1E293B"/>
                </a:solidFill>
                <a:latin typeface="宋体"/>
              </a:rPr>
              <a:t>经理人拥有内部经营信息的私人知晓权（Private Information）。</a:t>
            </a:r>
          </a:p>
          <a:p>
            <a:pPr>
              <a:spcAft>
                <a:spcPts val="800"/>
              </a:spcAft>
            </a:pPr>
            <a:r>
              <a:rPr b="1" sz="1300">
                <a:solidFill>
                  <a:srgbClr val="1E293B"/>
                </a:solidFill>
                <a:latin typeface="微软雅黑"/>
              </a:rPr>
              <a:t>道德风险：</a:t>
            </a:r>
            <a:r>
              <a:rPr sz="1300">
                <a:solidFill>
                  <a:srgbClr val="1E293B"/>
                </a:solidFill>
                <a:latin typeface="宋体"/>
              </a:rPr>
              <a:t>经理人可能偏离利润最大化，转而追求帝国建造（Empire Building）。</a:t>
            </a:r>
          </a:p>
          <a:p>
            <a:pPr>
              <a:spcAft>
                <a:spcPts val="800"/>
              </a:spcAft>
            </a:pPr>
            <a:r>
              <a:rPr b="1" sz="1300">
                <a:solidFill>
                  <a:srgbClr val="1E293B"/>
                </a:solidFill>
                <a:latin typeface="微软雅黑"/>
              </a:rPr>
              <a:t>市场势力导向：</a:t>
            </a:r>
            <a:r>
              <a:rPr sz="1300">
                <a:solidFill>
                  <a:srgbClr val="1E293B"/>
                </a:solidFill>
                <a:latin typeface="宋体"/>
              </a:rPr>
              <a:t>追求公司规模扩张的经理人往往更具激进的市场份额扩张冲动。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第一章 企业的目标、结构与组织</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企业的目标｜利润最大化与垄断租金榨取</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Power）的微观形成与演化  |  第 7 / 16 页</a:t>
            </a:r>
          </a:p>
        </p:txBody>
      </p:sp>
      <p:sp>
        <p:nvSpPr>
          <p:cNvPr id="6" name="Rounded Rectangle 5"/>
          <p:cNvSpPr/>
          <p:nvPr/>
        </p:nvSpPr>
        <p:spPr>
          <a:xfrm>
            <a:off x="731520" y="1554480"/>
            <a:ext cx="10728655"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10728655"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10362895" cy="1828800"/>
          </a:xfrm>
          <a:prstGeom prst="rect">
            <a:avLst/>
          </a:prstGeom>
          <a:noFill/>
        </p:spPr>
        <p:txBody>
          <a:bodyPr wrap="square">
            <a:spAutoFit/>
          </a:bodyPr>
          <a:lstStyle/>
          <a:p>
            <a:pPr>
              <a:spcAft>
                <a:spcPts val="1000"/>
              </a:spcAft>
              <a:defRPr sz="1600" b="1">
                <a:solidFill>
                  <a:srgbClr val="1B4965"/>
                </a:solidFill>
                <a:latin typeface="微软雅黑"/>
              </a:defRPr>
            </a:pPr>
            <a:r>
              <a:t>新古典垄断厂商利润最大化模型</a:t>
            </a:r>
          </a:p>
          <a:p>
            <a:pPr>
              <a:spcAft>
                <a:spcPts val="800"/>
              </a:spcAft>
            </a:pPr>
            <a:r>
              <a:rPr b="1" sz="1300">
                <a:solidFill>
                  <a:srgbClr val="1E293B"/>
                </a:solidFill>
                <a:latin typeface="微软雅黑"/>
              </a:rPr>
              <a:t>决策法则：</a:t>
            </a:r>
            <a:r>
              <a:rPr sz="1300">
                <a:solidFill>
                  <a:srgbClr val="1E293B"/>
                </a:solidFill>
                <a:latin typeface="宋体"/>
              </a:rPr>
              <a:t>边际收益等于边际成本 (MR = MC)。</a:t>
            </a:r>
          </a:p>
          <a:p>
            <a:pPr>
              <a:spcAft>
                <a:spcPts val="800"/>
              </a:spcAft>
            </a:pPr>
            <a:r>
              <a:rPr b="1" sz="1300">
                <a:solidFill>
                  <a:srgbClr val="1E293B"/>
                </a:solidFill>
                <a:latin typeface="微软雅黑"/>
              </a:rPr>
              <a:t>定价机制：</a:t>
            </a:r>
            <a:r>
              <a:rPr sz="1300">
                <a:solidFill>
                  <a:srgbClr val="1E293B"/>
                </a:solidFill>
                <a:latin typeface="宋体"/>
              </a:rPr>
              <a:t>基于需求价格弹性定出垄断高价：P = MC / (1 - 1/|e|)。</a:t>
            </a:r>
          </a:p>
          <a:p>
            <a:pPr>
              <a:spcAft>
                <a:spcPts val="800"/>
              </a:spcAft>
            </a:pPr>
            <a:r>
              <a:rPr b="1" sz="1300">
                <a:solidFill>
                  <a:srgbClr val="1E293B"/>
                </a:solidFill>
                <a:latin typeface="微软雅黑"/>
              </a:rPr>
              <a:t>租金榨取：</a:t>
            </a:r>
            <a:r>
              <a:rPr sz="1300">
                <a:solidFill>
                  <a:srgbClr val="1E293B"/>
                </a:solidFill>
                <a:latin typeface="宋体"/>
              </a:rPr>
              <a:t>企业通过控制市场供给量，将消费者剩余转化为企业超额垄断利润。</a:t>
            </a:r>
          </a:p>
        </p:txBody>
      </p:sp>
      <p:sp>
        <p:nvSpPr>
          <p:cNvPr id="9" name="Rounded Rectangle 8"/>
          <p:cNvSpPr/>
          <p:nvPr/>
        </p:nvSpPr>
        <p:spPr>
          <a:xfrm>
            <a:off x="731520" y="3931920"/>
            <a:ext cx="10728655"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931920"/>
            <a:ext cx="10728655"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14800"/>
            <a:ext cx="10362895" cy="1920240"/>
          </a:xfrm>
          <a:prstGeom prst="rect">
            <a:avLst/>
          </a:prstGeom>
          <a:noFill/>
        </p:spPr>
        <p:txBody>
          <a:bodyPr wrap="square">
            <a:spAutoFit/>
          </a:bodyPr>
          <a:lstStyle/>
          <a:p>
            <a:pPr>
              <a:spcAft>
                <a:spcPts val="1000"/>
              </a:spcAft>
              <a:defRPr sz="1600" b="1">
                <a:solidFill>
                  <a:srgbClr val="C58A21"/>
                </a:solidFill>
                <a:latin typeface="微软雅黑"/>
              </a:defRPr>
            </a:pPr>
            <a:r>
              <a:t>市场势力度量：莱纳指数（Lerner Index）的理论根源</a:t>
            </a:r>
          </a:p>
          <a:p>
            <a:pPr>
              <a:spcAft>
                <a:spcPts val="800"/>
              </a:spcAft>
            </a:pPr>
            <a:r>
              <a:rPr b="1" sz="1300">
                <a:solidFill>
                  <a:srgbClr val="1E293B"/>
                </a:solidFill>
                <a:latin typeface="微软雅黑"/>
              </a:rPr>
              <a:t>莱纳指数公式：</a:t>
            </a:r>
            <a:r>
              <a:rPr sz="1300">
                <a:solidFill>
                  <a:srgbClr val="1E293B"/>
                </a:solidFill>
                <a:latin typeface="宋体"/>
              </a:rPr>
              <a:t>L = (P - MC) / P = 1 / |e|。</a:t>
            </a:r>
          </a:p>
          <a:p>
            <a:pPr>
              <a:spcAft>
                <a:spcPts val="800"/>
              </a:spcAft>
            </a:pPr>
            <a:r>
              <a:rPr b="1" sz="1300">
                <a:solidFill>
                  <a:srgbClr val="1E293B"/>
                </a:solidFill>
                <a:latin typeface="微软雅黑"/>
              </a:rPr>
              <a:t>目标表达：</a:t>
            </a:r>
            <a:r>
              <a:rPr sz="1300">
                <a:solidFill>
                  <a:srgbClr val="1E293B"/>
                </a:solidFill>
                <a:latin typeface="宋体"/>
              </a:rPr>
              <a:t>利润最大化目标越纯粹、市场需求弹性越小，企业行使市场势力的边际加价率（Mark-up）越高。</a:t>
            </a:r>
          </a:p>
          <a:p>
            <a:pPr>
              <a:spcAft>
                <a:spcPts val="800"/>
              </a:spcAft>
            </a:pPr>
            <a:r>
              <a:rPr b="1" sz="1300">
                <a:solidFill>
                  <a:srgbClr val="1E293B"/>
                </a:solidFill>
                <a:latin typeface="微软雅黑"/>
              </a:rPr>
              <a:t>福利损失：</a:t>
            </a:r>
            <a:r>
              <a:rPr sz="1300">
                <a:solidFill>
                  <a:srgbClr val="1E293B"/>
                </a:solidFill>
                <a:latin typeface="宋体"/>
              </a:rPr>
              <a:t>垄断高价造成社会无谓损失（Deadweight Loss），引发微观规制与反垄断关注。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第一章 企业的目标、结构与组织</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企业的目标｜销售额最大化与市场份额扩张</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Power）的微观形成与演化  |  第 8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1000"/>
              </a:spcAft>
              <a:defRPr sz="1600" b="1">
                <a:solidFill>
                  <a:srgbClr val="1B4965"/>
                </a:solidFill>
                <a:latin typeface="微软雅黑"/>
              </a:defRPr>
            </a:pPr>
            <a:r>
              <a:t>鲍莫尔（Baumol）销售额最大化模型</a:t>
            </a:r>
          </a:p>
          <a:p>
            <a:pPr>
              <a:spcAft>
                <a:spcPts val="800"/>
              </a:spcAft>
            </a:pPr>
            <a:r>
              <a:rPr b="1" sz="1300">
                <a:solidFill>
                  <a:srgbClr val="1E293B"/>
                </a:solidFill>
                <a:latin typeface="微软雅黑"/>
              </a:rPr>
              <a:t>基本前提：</a:t>
            </a:r>
            <a:r>
              <a:rPr sz="1300">
                <a:solidFill>
                  <a:srgbClr val="1E293B"/>
                </a:solidFill>
                <a:latin typeface="宋体"/>
              </a:rPr>
              <a:t>在满足最低利润约束前提下最大化销售收入。</a:t>
            </a:r>
          </a:p>
          <a:p>
            <a:pPr>
              <a:spcAft>
                <a:spcPts val="800"/>
              </a:spcAft>
            </a:pPr>
            <a:r>
              <a:rPr b="1" sz="1300">
                <a:solidFill>
                  <a:srgbClr val="1E293B"/>
                </a:solidFill>
                <a:latin typeface="微软雅黑"/>
              </a:rPr>
              <a:t>运行结果：</a:t>
            </a:r>
            <a:r>
              <a:rPr sz="1300">
                <a:solidFill>
                  <a:srgbClr val="1E293B"/>
                </a:solidFill>
                <a:latin typeface="宋体"/>
              </a:rPr>
              <a:t>销售额最大化时的产量大于利润最大化时的产量 (Q_sales &gt; Q_profit)。</a:t>
            </a:r>
          </a:p>
          <a:p>
            <a:pPr>
              <a:spcAft>
                <a:spcPts val="800"/>
              </a:spcAft>
            </a:pPr>
            <a:r>
              <a:rPr b="1" sz="1300">
                <a:solidFill>
                  <a:srgbClr val="1E293B"/>
                </a:solidFill>
                <a:latin typeface="微软雅黑"/>
              </a:rPr>
              <a:t>市场策略：</a:t>
            </a:r>
            <a:r>
              <a:rPr sz="1300">
                <a:solidFill>
                  <a:srgbClr val="1E293B"/>
                </a:solidFill>
                <a:latin typeface="宋体"/>
              </a:rPr>
              <a:t>降低价格以扩大市场份额，牺牲部分短期利润换取更高的市场占有率。</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1000"/>
              </a:spcAft>
              <a:defRPr sz="1600" b="1">
                <a:solidFill>
                  <a:srgbClr val="2D6A4F"/>
                </a:solidFill>
                <a:latin typeface="微软雅黑"/>
              </a:defRPr>
            </a:pPr>
            <a:r>
              <a:t>马里斯（Marris）增长模型与市场霸权</a:t>
            </a:r>
          </a:p>
          <a:p>
            <a:pPr>
              <a:spcAft>
                <a:spcPts val="800"/>
              </a:spcAft>
            </a:pPr>
            <a:r>
              <a:rPr b="1" sz="1300">
                <a:solidFill>
                  <a:srgbClr val="1E293B"/>
                </a:solidFill>
                <a:latin typeface="微软雅黑"/>
              </a:rPr>
              <a:t>经理人偏好：</a:t>
            </a:r>
            <a:r>
              <a:rPr sz="1300">
                <a:solidFill>
                  <a:srgbClr val="1E293B"/>
                </a:solidFill>
                <a:latin typeface="宋体"/>
              </a:rPr>
              <a:t>追求公司资本增长率（Growth Rate）最大化。</a:t>
            </a:r>
          </a:p>
          <a:p>
            <a:pPr>
              <a:spcAft>
                <a:spcPts val="800"/>
              </a:spcAft>
            </a:pPr>
            <a:r>
              <a:rPr b="1" sz="1300">
                <a:solidFill>
                  <a:srgbClr val="1E293B"/>
                </a:solidFill>
                <a:latin typeface="微软雅黑"/>
              </a:rPr>
              <a:t>规模经济与霸权：</a:t>
            </a:r>
            <a:r>
              <a:rPr sz="1300">
                <a:solidFill>
                  <a:srgbClr val="1E293B"/>
                </a:solidFill>
                <a:latin typeface="宋体"/>
              </a:rPr>
              <a:t>通过高速增长获取持久的市场支配地位与品牌壁垒。</a:t>
            </a:r>
          </a:p>
          <a:p>
            <a:pPr>
              <a:spcAft>
                <a:spcPts val="800"/>
              </a:spcAft>
            </a:pPr>
            <a:r>
              <a:rPr b="1" sz="1300">
                <a:solidFill>
                  <a:srgbClr val="1E293B"/>
                </a:solidFill>
                <a:latin typeface="微软雅黑"/>
              </a:rPr>
              <a:t>市场势力逻辑：</a:t>
            </a:r>
            <a:r>
              <a:rPr sz="1300">
                <a:solidFill>
                  <a:srgbClr val="1E293B"/>
                </a:solidFill>
                <a:latin typeface="宋体"/>
              </a:rPr>
              <a:t>激进的规模扩张策略往往是获取未来长期市场势力（Market Power）的前期投资。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第一章 企业的目标、结构与组织</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外部约束｜抑制市场势力滥用与目标偏离的四大机制</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Power）的微观形成与演化  |  第 9 / 16 页</a:t>
            </a:r>
          </a:p>
        </p:txBody>
      </p:sp>
      <p:sp>
        <p:nvSpPr>
          <p:cNvPr id="6" name="Rounded Rectangle 5"/>
          <p:cNvSpPr/>
          <p:nvPr/>
        </p:nvSpPr>
        <p:spPr>
          <a:xfrm>
            <a:off x="731520" y="155448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1920240"/>
          </a:xfrm>
          <a:prstGeom prst="rect">
            <a:avLst/>
          </a:prstGeom>
          <a:noFill/>
        </p:spPr>
        <p:txBody>
          <a:bodyPr wrap="square">
            <a:spAutoFit/>
          </a:bodyPr>
          <a:lstStyle/>
          <a:p>
            <a:pPr>
              <a:spcAft>
                <a:spcPts val="1000"/>
              </a:spcAft>
              <a:defRPr sz="1600" b="1">
                <a:solidFill>
                  <a:srgbClr val="1B4965"/>
                </a:solidFill>
                <a:latin typeface="微软雅黑"/>
              </a:defRPr>
            </a:pPr>
            <a:r>
              <a:t>1. 产品市场竞争机制</a:t>
            </a:r>
          </a:p>
          <a:p>
            <a:pPr>
              <a:spcAft>
                <a:spcPts val="800"/>
              </a:spcAft>
            </a:pPr>
            <a:r>
              <a:rPr b="1" sz="1300">
                <a:solidFill>
                  <a:srgbClr val="1E293B"/>
                </a:solidFill>
                <a:latin typeface="微软雅黑"/>
              </a:rPr>
              <a:t>作用逻辑：</a:t>
            </a:r>
            <a:r>
              <a:rPr sz="1300">
                <a:solidFill>
                  <a:srgbClr val="1E293B"/>
                </a:solidFill>
                <a:latin typeface="宋体"/>
              </a:rPr>
              <a:t>强竞争环境下偏离效率的企业将被淘汰，迫使经理人注重效率与成本控制。</a:t>
            </a:r>
          </a:p>
        </p:txBody>
      </p:sp>
      <p:sp>
        <p:nvSpPr>
          <p:cNvPr id="9" name="Rounded Rectangle 8"/>
          <p:cNvSpPr/>
          <p:nvPr/>
        </p:nvSpPr>
        <p:spPr>
          <a:xfrm>
            <a:off x="6309360" y="155448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1920240"/>
          </a:xfrm>
          <a:prstGeom prst="rect">
            <a:avLst/>
          </a:prstGeom>
          <a:noFill/>
        </p:spPr>
        <p:txBody>
          <a:bodyPr wrap="square">
            <a:spAutoFit/>
          </a:bodyPr>
          <a:lstStyle/>
          <a:p>
            <a:pPr>
              <a:spcAft>
                <a:spcPts val="1000"/>
              </a:spcAft>
              <a:defRPr sz="1600" b="1">
                <a:solidFill>
                  <a:srgbClr val="2D6A4F"/>
                </a:solidFill>
                <a:latin typeface="微软雅黑"/>
              </a:defRPr>
            </a:pPr>
            <a:r>
              <a:t>2. 资本市场接管威胁 (Takeover)</a:t>
            </a:r>
          </a:p>
          <a:p>
            <a:pPr>
              <a:spcAft>
                <a:spcPts val="800"/>
              </a:spcAft>
            </a:pPr>
            <a:r>
              <a:rPr b="1" sz="1300">
                <a:solidFill>
                  <a:srgbClr val="1E293B"/>
                </a:solidFill>
                <a:latin typeface="微软雅黑"/>
              </a:rPr>
              <a:t>作用逻辑：</a:t>
            </a:r>
            <a:r>
              <a:rPr sz="1300">
                <a:solidFill>
                  <a:srgbClr val="1E293B"/>
                </a:solidFill>
                <a:latin typeface="宋体"/>
              </a:rPr>
              <a:t>股价过低引发敌意收购（Hostile Takeover），更换低效经理人。</a:t>
            </a:r>
          </a:p>
        </p:txBody>
      </p:sp>
      <p:sp>
        <p:nvSpPr>
          <p:cNvPr id="12" name="Rounded Rectangle 11"/>
          <p:cNvSpPr/>
          <p:nvPr/>
        </p:nvSpPr>
        <p:spPr>
          <a:xfrm>
            <a:off x="731520" y="402336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02336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206240"/>
            <a:ext cx="4754880" cy="1920240"/>
          </a:xfrm>
          <a:prstGeom prst="rect">
            <a:avLst/>
          </a:prstGeom>
          <a:noFill/>
        </p:spPr>
        <p:txBody>
          <a:bodyPr wrap="square">
            <a:spAutoFit/>
          </a:bodyPr>
          <a:lstStyle/>
          <a:p>
            <a:pPr>
              <a:spcAft>
                <a:spcPts val="1000"/>
              </a:spcAft>
              <a:defRPr sz="1600" b="1">
                <a:solidFill>
                  <a:srgbClr val="C58A21"/>
                </a:solidFill>
                <a:latin typeface="微软雅黑"/>
              </a:defRPr>
            </a:pPr>
            <a:r>
              <a:t>3. 经理人劳动市场约束</a:t>
            </a:r>
          </a:p>
          <a:p>
            <a:pPr>
              <a:spcAft>
                <a:spcPts val="800"/>
              </a:spcAft>
            </a:pPr>
            <a:r>
              <a:rPr b="1" sz="1300">
                <a:solidFill>
                  <a:srgbClr val="1E293B"/>
                </a:solidFill>
                <a:latin typeface="微软雅黑"/>
              </a:rPr>
              <a:t>作用逻辑：</a:t>
            </a:r>
            <a:r>
              <a:rPr sz="1300">
                <a:solidFill>
                  <a:srgbClr val="1E293B"/>
                </a:solidFill>
                <a:latin typeface="宋体"/>
              </a:rPr>
              <a:t>职业声誉与未来市场身价取决于当前经营业绩与治理表现。</a:t>
            </a:r>
          </a:p>
        </p:txBody>
      </p:sp>
      <p:sp>
        <p:nvSpPr>
          <p:cNvPr id="15" name="Rounded Rectangle 14"/>
          <p:cNvSpPr/>
          <p:nvPr/>
        </p:nvSpPr>
        <p:spPr>
          <a:xfrm>
            <a:off x="6309360" y="402336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60" y="402336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4206240"/>
            <a:ext cx="4754880" cy="1920240"/>
          </a:xfrm>
          <a:prstGeom prst="rect">
            <a:avLst/>
          </a:prstGeom>
          <a:noFill/>
        </p:spPr>
        <p:txBody>
          <a:bodyPr wrap="square">
            <a:spAutoFit/>
          </a:bodyPr>
          <a:lstStyle/>
          <a:p>
            <a:pPr>
              <a:spcAft>
                <a:spcPts val="1000"/>
              </a:spcAft>
              <a:defRPr sz="1600" b="1">
                <a:solidFill>
                  <a:srgbClr val="1B4965"/>
                </a:solidFill>
                <a:latin typeface="微软雅黑"/>
              </a:defRPr>
            </a:pPr>
            <a:r>
              <a:t>4. 企业内部监督机制</a:t>
            </a:r>
          </a:p>
          <a:p>
            <a:pPr>
              <a:spcAft>
                <a:spcPts val="800"/>
              </a:spcAft>
            </a:pPr>
            <a:r>
              <a:rPr b="1" sz="1300">
                <a:solidFill>
                  <a:srgbClr val="1E293B"/>
                </a:solidFill>
                <a:latin typeface="微软雅黑"/>
              </a:rPr>
              <a:t>作用逻辑：</a:t>
            </a:r>
            <a:r>
              <a:rPr sz="1300">
                <a:solidFill>
                  <a:srgbClr val="1E293B"/>
                </a:solidFill>
                <a:latin typeface="宋体"/>
              </a:rPr>
              <a:t>董事会、独立董事、股权激励（股票期权）实现利益绑定。</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第一章 企业的目标、结构与组织</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第三节 企业的结构｜产权制度与市场势力的资本载体</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Power）的微观形成与演化  |  第 10 / 16 页</a:t>
            </a:r>
          </a:p>
        </p:txBody>
      </p:sp>
      <p:sp>
        <p:nvSpPr>
          <p:cNvPr id="6" name="Rounded Rectangle 5"/>
          <p:cNvSpPr/>
          <p:nvPr/>
        </p:nvSpPr>
        <p:spPr>
          <a:xfrm>
            <a:off x="731520" y="155448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32918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2926080" cy="4297680"/>
          </a:xfrm>
          <a:prstGeom prst="rect">
            <a:avLst/>
          </a:prstGeom>
          <a:noFill/>
        </p:spPr>
        <p:txBody>
          <a:bodyPr wrap="square">
            <a:spAutoFit/>
          </a:bodyPr>
          <a:lstStyle/>
          <a:p>
            <a:pPr>
              <a:spcAft>
                <a:spcPts val="1000"/>
              </a:spcAft>
              <a:defRPr sz="1600" b="1">
                <a:solidFill>
                  <a:srgbClr val="1B4965"/>
                </a:solidFill>
                <a:latin typeface="微软雅黑"/>
              </a:defRPr>
            </a:pPr>
            <a:r>
              <a:t>1. 个人业主制</a:t>
            </a:r>
          </a:p>
          <a:p>
            <a:pPr>
              <a:spcAft>
                <a:spcPts val="800"/>
              </a:spcAft>
            </a:pPr>
            <a:r>
              <a:rPr b="1" sz="1300">
                <a:solidFill>
                  <a:srgbClr val="1E293B"/>
                </a:solidFill>
                <a:latin typeface="微软雅黑"/>
              </a:rPr>
              <a:t>特点：</a:t>
            </a:r>
            <a:r>
              <a:rPr sz="1300">
                <a:solidFill>
                  <a:srgbClr val="1E293B"/>
                </a:solidFill>
                <a:latin typeface="宋体"/>
              </a:rPr>
              <a:t>无限责任，产权高度集中。</a:t>
            </a:r>
          </a:p>
          <a:p>
            <a:pPr>
              <a:spcAft>
                <a:spcPts val="800"/>
              </a:spcAft>
            </a:pPr>
            <a:r>
              <a:rPr b="1" sz="1300">
                <a:solidFill>
                  <a:srgbClr val="1E293B"/>
                </a:solidFill>
                <a:latin typeface="微软雅黑"/>
              </a:rPr>
              <a:t>规模限制：</a:t>
            </a:r>
            <a:r>
              <a:rPr sz="1300">
                <a:solidFill>
                  <a:srgbClr val="1E293B"/>
                </a:solidFill>
                <a:latin typeface="宋体"/>
              </a:rPr>
              <a:t>融资能力有限，难以形成跨区域大市场势力。</a:t>
            </a:r>
          </a:p>
        </p:txBody>
      </p:sp>
      <p:sp>
        <p:nvSpPr>
          <p:cNvPr id="9" name="Rounded Rectangle 8"/>
          <p:cNvSpPr/>
          <p:nvPr/>
        </p:nvSpPr>
        <p:spPr>
          <a:xfrm>
            <a:off x="4389120" y="155448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554480"/>
            <a:ext cx="32918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737360"/>
            <a:ext cx="2926080" cy="4297680"/>
          </a:xfrm>
          <a:prstGeom prst="rect">
            <a:avLst/>
          </a:prstGeom>
          <a:noFill/>
        </p:spPr>
        <p:txBody>
          <a:bodyPr wrap="square">
            <a:spAutoFit/>
          </a:bodyPr>
          <a:lstStyle/>
          <a:p>
            <a:pPr>
              <a:spcAft>
                <a:spcPts val="1000"/>
              </a:spcAft>
              <a:defRPr sz="1600" b="1">
                <a:solidFill>
                  <a:srgbClr val="2D6A4F"/>
                </a:solidFill>
                <a:latin typeface="微软雅黑"/>
              </a:defRPr>
            </a:pPr>
            <a:r>
              <a:t>2. 合伙制企业</a:t>
            </a:r>
          </a:p>
          <a:p>
            <a:pPr>
              <a:spcAft>
                <a:spcPts val="800"/>
              </a:spcAft>
            </a:pPr>
            <a:r>
              <a:rPr b="1" sz="1300">
                <a:solidFill>
                  <a:srgbClr val="1E293B"/>
                </a:solidFill>
                <a:latin typeface="微软雅黑"/>
              </a:rPr>
              <a:t>特点：</a:t>
            </a:r>
            <a:r>
              <a:rPr sz="1300">
                <a:solidFill>
                  <a:srgbClr val="1E293B"/>
                </a:solidFill>
                <a:latin typeface="宋体"/>
              </a:rPr>
              <a:t>合伙人共担风险与无限连带责任。</a:t>
            </a:r>
          </a:p>
          <a:p>
            <a:pPr>
              <a:spcAft>
                <a:spcPts val="800"/>
              </a:spcAft>
            </a:pPr>
            <a:r>
              <a:rPr b="1" sz="1300">
                <a:solidFill>
                  <a:srgbClr val="1E293B"/>
                </a:solidFill>
                <a:latin typeface="微软雅黑"/>
              </a:rPr>
              <a:t>适用范围：</a:t>
            </a:r>
            <a:r>
              <a:rPr sz="1300">
                <a:solidFill>
                  <a:srgbClr val="1E293B"/>
                </a:solidFill>
                <a:latin typeface="宋体"/>
              </a:rPr>
              <a:t>专业服务业（法律、会计、咨询），难以支撑重化工业扩张。</a:t>
            </a:r>
          </a:p>
        </p:txBody>
      </p:sp>
      <p:sp>
        <p:nvSpPr>
          <p:cNvPr id="12" name="Rounded Rectangle 11"/>
          <p:cNvSpPr/>
          <p:nvPr/>
        </p:nvSpPr>
        <p:spPr>
          <a:xfrm>
            <a:off x="8046720" y="155448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554480"/>
            <a:ext cx="338328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737360"/>
            <a:ext cx="3017520" cy="4297680"/>
          </a:xfrm>
          <a:prstGeom prst="rect">
            <a:avLst/>
          </a:prstGeom>
          <a:noFill/>
        </p:spPr>
        <p:txBody>
          <a:bodyPr wrap="square">
            <a:spAutoFit/>
          </a:bodyPr>
          <a:lstStyle/>
          <a:p>
            <a:pPr>
              <a:spcAft>
                <a:spcPts val="1000"/>
              </a:spcAft>
              <a:defRPr sz="1600" b="1">
                <a:solidFill>
                  <a:srgbClr val="C58A21"/>
                </a:solidFill>
                <a:latin typeface="微软雅黑"/>
              </a:defRPr>
            </a:pPr>
            <a:r>
              <a:t>3. 现代股份制公司</a:t>
            </a:r>
          </a:p>
          <a:p>
            <a:pPr>
              <a:spcAft>
                <a:spcPts val="800"/>
              </a:spcAft>
            </a:pPr>
            <a:r>
              <a:rPr b="1" sz="1300">
                <a:solidFill>
                  <a:srgbClr val="1E293B"/>
                </a:solidFill>
                <a:latin typeface="微软雅黑"/>
              </a:rPr>
              <a:t>特点：</a:t>
            </a:r>
            <a:r>
              <a:rPr sz="1300">
                <a:solidFill>
                  <a:srgbClr val="1E293B"/>
                </a:solidFill>
                <a:latin typeface="宋体"/>
              </a:rPr>
              <a:t>有限责任、法人产权、股份可自由转让。</a:t>
            </a:r>
          </a:p>
          <a:p>
            <a:pPr>
              <a:spcAft>
                <a:spcPts val="800"/>
              </a:spcAft>
            </a:pPr>
            <a:r>
              <a:rPr b="1" sz="1300">
                <a:solidFill>
                  <a:srgbClr val="1E293B"/>
                </a:solidFill>
                <a:latin typeface="微软雅黑"/>
              </a:rPr>
              <a:t>主线突破：</a:t>
            </a:r>
            <a:r>
              <a:rPr sz="1300">
                <a:solidFill>
                  <a:srgbClr val="1E293B"/>
                </a:solidFill>
                <a:latin typeface="宋体"/>
              </a:rPr>
              <a:t>突破了资本积累的个人限制，为巨型企业垄断市场提供了制度保障。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第一章 企业的目标、结构与组织</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第三节 企业的结构｜一元结构(U型)与控股公司(H型)</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Power）的微观形成与演化  |  第 11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1000"/>
              </a:spcAft>
              <a:defRPr sz="1600" b="1">
                <a:solidFill>
                  <a:srgbClr val="1B4965"/>
                </a:solidFill>
                <a:latin typeface="微软雅黑"/>
              </a:defRPr>
            </a:pPr>
            <a:r>
              <a:t>U型结构 (Functional / Unified Form)</a:t>
            </a:r>
          </a:p>
          <a:p>
            <a:pPr>
              <a:spcAft>
                <a:spcPts val="800"/>
              </a:spcAft>
            </a:pPr>
            <a:r>
              <a:rPr b="1" sz="1300">
                <a:solidFill>
                  <a:srgbClr val="1E293B"/>
                </a:solidFill>
                <a:latin typeface="微软雅黑"/>
              </a:rPr>
              <a:t>结构特征：</a:t>
            </a:r>
            <a:r>
              <a:rPr sz="1300">
                <a:solidFill>
                  <a:srgbClr val="1E293B"/>
                </a:solidFill>
                <a:latin typeface="宋体"/>
              </a:rPr>
              <a:t>按职能（生产、研发、销售、财务）划分部门的高高度集权结构。</a:t>
            </a:r>
          </a:p>
          <a:p>
            <a:pPr>
              <a:spcAft>
                <a:spcPts val="800"/>
              </a:spcAft>
            </a:pPr>
            <a:r>
              <a:rPr b="1" sz="1300">
                <a:solidFill>
                  <a:srgbClr val="1E293B"/>
                </a:solidFill>
                <a:latin typeface="微软雅黑"/>
              </a:rPr>
              <a:t>主要优点：</a:t>
            </a:r>
            <a:r>
              <a:rPr sz="1300">
                <a:solidFill>
                  <a:srgbClr val="1E293B"/>
                </a:solidFill>
                <a:latin typeface="宋体"/>
              </a:rPr>
              <a:t>在单产品、小规模阶段具有极高的专业化分工效率。</a:t>
            </a:r>
          </a:p>
          <a:p>
            <a:pPr>
              <a:spcAft>
                <a:spcPts val="800"/>
              </a:spcAft>
            </a:pPr>
            <a:r>
              <a:rPr b="1" sz="1300">
                <a:solidFill>
                  <a:srgbClr val="1E293B"/>
                </a:solidFill>
                <a:latin typeface="微软雅黑"/>
              </a:rPr>
              <a:t>管理失效：</a:t>
            </a:r>
            <a:r>
              <a:rPr sz="1300">
                <a:solidFill>
                  <a:srgbClr val="1E293B"/>
                </a:solidFill>
                <a:latin typeface="宋体"/>
              </a:rPr>
              <a:t>产品多样化后，高管陷于日常事务，决策过载，难以应对复杂市场竞争。</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1000"/>
              </a:spcAft>
              <a:defRPr sz="1600" b="1">
                <a:solidFill>
                  <a:srgbClr val="2D6A4F"/>
                </a:solidFill>
                <a:latin typeface="微软雅黑"/>
              </a:defRPr>
            </a:pPr>
            <a:r>
              <a:t>H型结构 (Holding Company Form)</a:t>
            </a:r>
          </a:p>
          <a:p>
            <a:pPr>
              <a:spcAft>
                <a:spcPts val="800"/>
              </a:spcAft>
            </a:pPr>
            <a:r>
              <a:rPr b="1" sz="1300">
                <a:solidFill>
                  <a:srgbClr val="1E293B"/>
                </a:solidFill>
                <a:latin typeface="微软雅黑"/>
              </a:rPr>
              <a:t>结构特征：</a:t>
            </a:r>
            <a:r>
              <a:rPr sz="1300">
                <a:solidFill>
                  <a:srgbClr val="1E293B"/>
                </a:solidFill>
                <a:latin typeface="宋体"/>
              </a:rPr>
              <a:t>母公司通过股权控制多个独立法人的子公司，高度分权。</a:t>
            </a:r>
          </a:p>
          <a:p>
            <a:pPr>
              <a:spcAft>
                <a:spcPts val="800"/>
              </a:spcAft>
            </a:pPr>
            <a:r>
              <a:rPr b="1" sz="1300">
                <a:solidFill>
                  <a:srgbClr val="1E293B"/>
                </a:solidFill>
                <a:latin typeface="微软雅黑"/>
              </a:rPr>
              <a:t>主要优点：</a:t>
            </a:r>
            <a:r>
              <a:rPr sz="1300">
                <a:solidFill>
                  <a:srgbClr val="1E293B"/>
                </a:solidFill>
                <a:latin typeface="宋体"/>
              </a:rPr>
              <a:t>有利于通过兼并收购实现跨行业多元化资本扩张。</a:t>
            </a:r>
          </a:p>
          <a:p>
            <a:pPr>
              <a:spcAft>
                <a:spcPts val="800"/>
              </a:spcAft>
            </a:pPr>
            <a:r>
              <a:rPr b="1" sz="1300">
                <a:solidFill>
                  <a:srgbClr val="1E293B"/>
                </a:solidFill>
                <a:latin typeface="微软雅黑"/>
              </a:rPr>
              <a:t>管理失效：</a:t>
            </a:r>
            <a:r>
              <a:rPr sz="1300">
                <a:solidFill>
                  <a:srgbClr val="1E293B"/>
                </a:solidFill>
                <a:latin typeface="宋体"/>
              </a:rPr>
              <a:t>母公司对子公司缺乏有效战略控制，协同效应弱，易引发战略分散。</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第一章 企业的目标、结构与组织</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第三节 企业的结构｜M型结构与矩阵制：市场势力的组织保障</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Power）的微观形成与演化  |  第 12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1000"/>
              </a:spcAft>
              <a:defRPr sz="1600" b="1">
                <a:solidFill>
                  <a:srgbClr val="1B4965"/>
                </a:solidFill>
                <a:latin typeface="微软雅黑"/>
              </a:defRPr>
            </a:pPr>
            <a:r>
              <a:t>M型结构 (Multidivisional Form)</a:t>
            </a:r>
          </a:p>
          <a:p>
            <a:pPr>
              <a:spcAft>
                <a:spcPts val="800"/>
              </a:spcAft>
            </a:pPr>
            <a:r>
              <a:rPr b="1" sz="1300">
                <a:solidFill>
                  <a:srgbClr val="1E293B"/>
                </a:solidFill>
                <a:latin typeface="微软雅黑"/>
              </a:rPr>
              <a:t>组织革命：</a:t>
            </a:r>
            <a:r>
              <a:rPr sz="1300">
                <a:solidFill>
                  <a:srgbClr val="1E293B"/>
                </a:solidFill>
                <a:latin typeface="宋体"/>
              </a:rPr>
              <a:t>钱德勒-威廉姆森认可的现代大企业标准组织形式。</a:t>
            </a:r>
          </a:p>
          <a:p>
            <a:pPr>
              <a:spcAft>
                <a:spcPts val="800"/>
              </a:spcAft>
            </a:pPr>
            <a:r>
              <a:rPr b="1" sz="1300">
                <a:solidFill>
                  <a:srgbClr val="1E293B"/>
                </a:solidFill>
                <a:latin typeface="微软雅黑"/>
              </a:rPr>
              <a:t>分工原理：</a:t>
            </a:r>
            <a:r>
              <a:rPr sz="1300">
                <a:solidFill>
                  <a:srgbClr val="1E293B"/>
                </a:solidFill>
                <a:latin typeface="宋体"/>
              </a:rPr>
              <a:t>总部集中于长期战略规划，各事业部（按产品/区域）负责具体运营。</a:t>
            </a:r>
          </a:p>
          <a:p>
            <a:pPr>
              <a:spcAft>
                <a:spcPts val="800"/>
              </a:spcAft>
            </a:pPr>
            <a:r>
              <a:rPr b="1" sz="1300">
                <a:solidFill>
                  <a:srgbClr val="1E293B"/>
                </a:solidFill>
                <a:latin typeface="微软雅黑"/>
              </a:rPr>
              <a:t>市场势力支撑：</a:t>
            </a:r>
            <a:r>
              <a:rPr sz="1300">
                <a:solidFill>
                  <a:srgbClr val="1E293B"/>
                </a:solidFill>
                <a:latin typeface="宋体"/>
              </a:rPr>
              <a:t>使得巨型企业能够同时在多个细分市场维持高市场份额与竞争优势，防止管理失控。</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1000"/>
              </a:spcAft>
              <a:defRPr sz="1600" b="1">
                <a:solidFill>
                  <a:srgbClr val="C58A21"/>
                </a:solidFill>
                <a:latin typeface="微软雅黑"/>
              </a:defRPr>
            </a:pPr>
            <a:r>
              <a:t>矩阵制结构 (Matrix Structure)</a:t>
            </a:r>
          </a:p>
          <a:p>
            <a:pPr>
              <a:spcAft>
                <a:spcPts val="800"/>
              </a:spcAft>
            </a:pPr>
            <a:r>
              <a:rPr b="1" sz="1300">
                <a:solidFill>
                  <a:srgbClr val="1E293B"/>
                </a:solidFill>
                <a:latin typeface="微软雅黑"/>
              </a:rPr>
              <a:t>结构特征：</a:t>
            </a:r>
            <a:r>
              <a:rPr sz="1300">
                <a:solidFill>
                  <a:srgbClr val="1E293B"/>
                </a:solidFill>
                <a:latin typeface="宋体"/>
              </a:rPr>
              <a:t>按职能与项目/产品建立双重指挥系统。</a:t>
            </a:r>
          </a:p>
          <a:p>
            <a:pPr>
              <a:spcAft>
                <a:spcPts val="800"/>
              </a:spcAft>
            </a:pPr>
            <a:r>
              <a:rPr b="1" sz="1300">
                <a:solidFill>
                  <a:srgbClr val="1E293B"/>
                </a:solidFill>
                <a:latin typeface="微软雅黑"/>
              </a:rPr>
              <a:t>战略优势：</a:t>
            </a:r>
            <a:r>
              <a:rPr sz="1300">
                <a:solidFill>
                  <a:srgbClr val="1E293B"/>
                </a:solidFill>
                <a:latin typeface="宋体"/>
              </a:rPr>
              <a:t>高度灵活性，适应快速变化的创新型与高技术产业。</a:t>
            </a:r>
          </a:p>
          <a:p>
            <a:pPr>
              <a:spcAft>
                <a:spcPts val="800"/>
              </a:spcAft>
            </a:pPr>
            <a:r>
              <a:rPr b="1" sz="1300">
                <a:solidFill>
                  <a:srgbClr val="1E293B"/>
                </a:solidFill>
                <a:latin typeface="微软雅黑"/>
              </a:rPr>
              <a:t>适用场景：</a:t>
            </a:r>
            <a:r>
              <a:rPr sz="1300">
                <a:solidFill>
                  <a:srgbClr val="1E293B"/>
                </a:solidFill>
                <a:latin typeface="宋体"/>
              </a:rPr>
              <a:t>跨国公司在全球范围内调配资源、行使全球市场支配力。</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第一章 企业的目标、结构与组织</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第四节 企业的组织｜企业集团与集合市场势力</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Power）的微观形成与演化  |  第 13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1000"/>
              </a:spcAft>
              <a:defRPr sz="1600" b="1">
                <a:solidFill>
                  <a:srgbClr val="1B4965"/>
                </a:solidFill>
                <a:latin typeface="微软雅黑"/>
              </a:defRPr>
            </a:pPr>
            <a:r>
              <a:t>1. 企业集团 (Business Group)</a:t>
            </a:r>
          </a:p>
          <a:p>
            <a:pPr>
              <a:spcAft>
                <a:spcPts val="800"/>
              </a:spcAft>
            </a:pPr>
            <a:r>
              <a:rPr b="1" sz="1300">
                <a:solidFill>
                  <a:srgbClr val="1E293B"/>
                </a:solidFill>
                <a:latin typeface="微软雅黑"/>
              </a:rPr>
              <a:t>定义特征：</a:t>
            </a:r>
            <a:r>
              <a:rPr sz="1300">
                <a:solidFill>
                  <a:srgbClr val="1E293B"/>
                </a:solidFill>
                <a:latin typeface="宋体"/>
              </a:rPr>
              <a:t>以母子公司为主体，通过产权、契约和技术联结形成的紧密型联合体。</a:t>
            </a:r>
          </a:p>
          <a:p>
            <a:pPr>
              <a:spcAft>
                <a:spcPts val="800"/>
              </a:spcAft>
            </a:pPr>
            <a:r>
              <a:rPr b="1" sz="1300">
                <a:solidFill>
                  <a:srgbClr val="1E293B"/>
                </a:solidFill>
                <a:latin typeface="微软雅黑"/>
              </a:rPr>
              <a:t>形成动机：</a:t>
            </a:r>
            <a:r>
              <a:rPr sz="1300">
                <a:solidFill>
                  <a:srgbClr val="1E293B"/>
                </a:solidFill>
                <a:latin typeface="宋体"/>
              </a:rPr>
              <a:t>克服外部市场失灵、分享内部资本市场与技术共享。</a:t>
            </a:r>
          </a:p>
          <a:p>
            <a:pPr>
              <a:spcAft>
                <a:spcPts val="800"/>
              </a:spcAft>
            </a:pPr>
            <a:r>
              <a:rPr b="1" sz="1300">
                <a:solidFill>
                  <a:srgbClr val="1E293B"/>
                </a:solidFill>
                <a:latin typeface="微软雅黑"/>
              </a:rPr>
              <a:t>市场势力机制：</a:t>
            </a:r>
            <a:r>
              <a:rPr sz="1300">
                <a:solidFill>
                  <a:srgbClr val="1E293B"/>
                </a:solidFill>
                <a:latin typeface="宋体"/>
              </a:rPr>
              <a:t>通过横向与纵向集团化联合，形成跨行业的集合市场势力（Collective Market Power）。</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1000"/>
              </a:spcAft>
              <a:defRPr sz="1600" b="1">
                <a:solidFill>
                  <a:srgbClr val="2D6A4F"/>
                </a:solidFill>
                <a:latin typeface="微软雅黑"/>
              </a:defRPr>
            </a:pPr>
            <a:r>
              <a:t>2. 战略联盟与网络化组织</a:t>
            </a:r>
          </a:p>
          <a:p>
            <a:pPr>
              <a:spcAft>
                <a:spcPts val="800"/>
              </a:spcAft>
            </a:pPr>
            <a:r>
              <a:rPr b="1" sz="1300">
                <a:solidFill>
                  <a:srgbClr val="1E293B"/>
                </a:solidFill>
                <a:latin typeface="微软雅黑"/>
              </a:rPr>
              <a:t>网络化形态：</a:t>
            </a:r>
            <a:r>
              <a:rPr sz="1300">
                <a:solidFill>
                  <a:srgbClr val="1E293B"/>
                </a:solidFill>
                <a:latin typeface="宋体"/>
              </a:rPr>
              <a:t>研发联盟、供应链网络、平台生态圈（Platform Ecosystem）。</a:t>
            </a:r>
          </a:p>
          <a:p>
            <a:pPr>
              <a:spcAft>
                <a:spcPts val="800"/>
              </a:spcAft>
            </a:pPr>
            <a:r>
              <a:rPr b="1" sz="1300">
                <a:solidFill>
                  <a:srgbClr val="1E293B"/>
                </a:solidFill>
                <a:latin typeface="微软雅黑"/>
              </a:rPr>
              <a:t>竞合关系：</a:t>
            </a:r>
            <a:r>
              <a:rPr sz="1300">
                <a:solidFill>
                  <a:srgbClr val="1E293B"/>
                </a:solidFill>
                <a:latin typeface="宋体"/>
              </a:rPr>
              <a:t>企业间在合作中竞争，在竞争中合作（Co-opetition）。</a:t>
            </a:r>
          </a:p>
          <a:p>
            <a:pPr>
              <a:spcAft>
                <a:spcPts val="800"/>
              </a:spcAft>
            </a:pPr>
            <a:r>
              <a:rPr b="1" sz="1300">
                <a:solidFill>
                  <a:srgbClr val="1E293B"/>
                </a:solidFill>
                <a:latin typeface="微软雅黑"/>
              </a:rPr>
              <a:t>现代前沿：</a:t>
            </a:r>
            <a:r>
              <a:rPr sz="1300">
                <a:solidFill>
                  <a:srgbClr val="1E293B"/>
                </a:solidFill>
                <a:latin typeface="宋体"/>
              </a:rPr>
              <a:t>数字平台通过生态圈绑定第三方商家，获得巨大的网络外部性与市场支配地位。</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第一章 企业的目标、结构与组织</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第四节 中国实践｜中国企业集团创新与产业链掌控力</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Power）的微观形成与演化  |  第 14 / 16 页</a:t>
            </a:r>
          </a:p>
        </p:txBody>
      </p:sp>
      <p:sp>
        <p:nvSpPr>
          <p:cNvPr id="6" name="Rounded Rectangle 5"/>
          <p:cNvSpPr/>
          <p:nvPr/>
        </p:nvSpPr>
        <p:spPr>
          <a:xfrm>
            <a:off x="731520" y="1554480"/>
            <a:ext cx="10728655"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10728655"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10362895" cy="1828800"/>
          </a:xfrm>
          <a:prstGeom prst="rect">
            <a:avLst/>
          </a:prstGeom>
          <a:noFill/>
        </p:spPr>
        <p:txBody>
          <a:bodyPr wrap="square">
            <a:spAutoFit/>
          </a:bodyPr>
          <a:lstStyle/>
          <a:p>
            <a:pPr>
              <a:spcAft>
                <a:spcPts val="1000"/>
              </a:spcAft>
              <a:defRPr sz="1600" b="1">
                <a:solidFill>
                  <a:srgbClr val="1B4965"/>
                </a:solidFill>
                <a:latin typeface="微软雅黑"/>
              </a:defRPr>
            </a:pPr>
            <a:r>
              <a:t>国企改革与混合所有制企业集团</a:t>
            </a:r>
          </a:p>
          <a:p>
            <a:pPr>
              <a:spcAft>
                <a:spcPts val="800"/>
              </a:spcAft>
            </a:pPr>
            <a:r>
              <a:rPr b="1" sz="1300">
                <a:solidFill>
                  <a:srgbClr val="1E293B"/>
                </a:solidFill>
                <a:latin typeface="微软雅黑"/>
              </a:rPr>
              <a:t>改革历程：</a:t>
            </a:r>
            <a:r>
              <a:rPr sz="1300">
                <a:solidFill>
                  <a:srgbClr val="1E293B"/>
                </a:solidFill>
                <a:latin typeface="宋体"/>
              </a:rPr>
              <a:t>从“抓大放小”到组建国有资本投资、运营公司。</a:t>
            </a:r>
          </a:p>
          <a:p>
            <a:pPr>
              <a:spcAft>
                <a:spcPts val="800"/>
              </a:spcAft>
            </a:pPr>
            <a:r>
              <a:rPr b="1" sz="1300">
                <a:solidFill>
                  <a:srgbClr val="1E293B"/>
                </a:solidFill>
                <a:latin typeface="微软雅黑"/>
              </a:rPr>
              <a:t>功能定位：</a:t>
            </a:r>
            <a:r>
              <a:rPr sz="1300">
                <a:solidFill>
                  <a:srgbClr val="1E293B"/>
                </a:solidFill>
                <a:latin typeface="宋体"/>
              </a:rPr>
              <a:t>在关系国家安全和国民经济命脉的战略性行业保持控制力与抗风险能力。</a:t>
            </a:r>
          </a:p>
          <a:p>
            <a:pPr>
              <a:spcAft>
                <a:spcPts val="800"/>
              </a:spcAft>
            </a:pPr>
            <a:r>
              <a:rPr b="1" sz="1300">
                <a:solidFill>
                  <a:srgbClr val="1E293B"/>
                </a:solidFill>
                <a:latin typeface="微软雅黑"/>
              </a:rPr>
              <a:t>市场表现：</a:t>
            </a:r>
            <a:r>
              <a:rPr sz="1300">
                <a:solidFill>
                  <a:srgbClr val="1E293B"/>
                </a:solidFill>
                <a:latin typeface="宋体"/>
              </a:rPr>
              <a:t>发挥规模效益与国家信用支撑，提升国际市场竞争力。</a:t>
            </a:r>
          </a:p>
        </p:txBody>
      </p:sp>
      <p:sp>
        <p:nvSpPr>
          <p:cNvPr id="9" name="Rounded Rectangle 8"/>
          <p:cNvSpPr/>
          <p:nvPr/>
        </p:nvSpPr>
        <p:spPr>
          <a:xfrm>
            <a:off x="731520" y="3931920"/>
            <a:ext cx="10728655"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931920"/>
            <a:ext cx="10728655"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14800"/>
            <a:ext cx="10362895" cy="1920240"/>
          </a:xfrm>
          <a:prstGeom prst="rect">
            <a:avLst/>
          </a:prstGeom>
          <a:noFill/>
        </p:spPr>
        <p:txBody>
          <a:bodyPr wrap="square">
            <a:spAutoFit/>
          </a:bodyPr>
          <a:lstStyle/>
          <a:p>
            <a:pPr>
              <a:spcAft>
                <a:spcPts val="1000"/>
              </a:spcAft>
              <a:defRPr sz="1600" b="1">
                <a:solidFill>
                  <a:srgbClr val="C58A21"/>
                </a:solidFill>
                <a:latin typeface="微软雅黑"/>
              </a:defRPr>
            </a:pPr>
            <a:r>
              <a:t>培育“链主”企业与构建国家价值链（NVC）</a:t>
            </a:r>
          </a:p>
          <a:p>
            <a:pPr>
              <a:spcAft>
                <a:spcPts val="800"/>
              </a:spcAft>
            </a:pPr>
            <a:r>
              <a:rPr b="1" sz="1300">
                <a:solidFill>
                  <a:srgbClr val="1E293B"/>
                </a:solidFill>
                <a:latin typeface="微软雅黑"/>
              </a:rPr>
              <a:t>链主企业 (Chain-Leading Enterprises)：</a:t>
            </a:r>
            <a:r>
              <a:rPr sz="1300">
                <a:solidFill>
                  <a:srgbClr val="1E293B"/>
                </a:solidFill>
                <a:latin typeface="宋体"/>
              </a:rPr>
              <a:t>指在产业链中具备绝对核心技术、市场份额和资源调度能力的企业。</a:t>
            </a:r>
          </a:p>
          <a:p>
            <a:pPr>
              <a:spcAft>
                <a:spcPts val="800"/>
              </a:spcAft>
            </a:pPr>
            <a:r>
              <a:rPr b="1" sz="1300">
                <a:solidFill>
                  <a:srgbClr val="1E293B"/>
                </a:solidFill>
                <a:latin typeface="微软雅黑"/>
              </a:rPr>
              <a:t>战略意义：</a:t>
            </a:r>
            <a:r>
              <a:rPr sz="1300">
                <a:solidFill>
                  <a:srgbClr val="1E293B"/>
                </a:solidFill>
                <a:latin typeface="宋体"/>
              </a:rPr>
              <a:t>依托超大规模国内市场，由链主企业带动上下游专精特新小巨人企业，构建自主可控的国家价值链，应对外部技术封锁。</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第一章 企业的目标、结构与组织</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总结归纳｜微观组织形态与市场势力（Market Power）互动矩阵</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Power）的微观形成与演化  |  第 15 / 16 页</a:t>
            </a:r>
          </a:p>
        </p:txBody>
      </p:sp>
      <p:graphicFrame>
        <p:nvGraphicFramePr>
          <p:cNvPr id="6" name="Table 5"/>
          <p:cNvGraphicFramePr>
            <a:graphicFrameLocks noGrp="1"/>
          </p:cNvGraphicFramePr>
          <p:nvPr/>
        </p:nvGraphicFramePr>
        <p:xfrm>
          <a:off x="731520" y="1554480"/>
          <a:ext cx="10728655" cy="4572000"/>
        </p:xfrm>
        <a:graphic>
          <a:graphicData uri="http://schemas.openxmlformats.org/drawingml/2006/table">
            <a:tbl>
              <a:tblPr firstRow="1" bandRow="1">
                <a:tableStyleId>{5C22544A-7EE6-4342-B048-85BDC9FD1C3A}</a:tableStyleId>
              </a:tblPr>
              <a:tblGrid>
                <a:gridCol w="2682163"/>
                <a:gridCol w="2682163"/>
                <a:gridCol w="2682163"/>
                <a:gridCol w="2682166"/>
              </a:tblGrid>
              <a:tr h="914400">
                <a:tc>
                  <a:txBody>
                    <a:bodyPr/>
                    <a:lstStyle/>
                    <a:p>
                      <a:pPr algn="ctr">
                        <a:defRPr sz="1300" b="1">
                          <a:solidFill>
                            <a:srgbClr val="FFFFFF"/>
                          </a:solidFill>
                          <a:latin typeface="微软雅黑"/>
                        </a:defRPr>
                      </a:pPr>
                      <a:r>
                        <a:t>微观组织维度</a:t>
                      </a:r>
                    </a:p>
                  </a:txBody>
                  <a:tcPr>
                    <a:solidFill>
                      <a:srgbClr val="1B4965"/>
                    </a:solidFill>
                  </a:tcPr>
                </a:tc>
                <a:tc>
                  <a:txBody>
                    <a:bodyPr/>
                    <a:lstStyle/>
                    <a:p>
                      <a:pPr algn="ctr">
                        <a:defRPr sz="1300" b="1">
                          <a:solidFill>
                            <a:srgbClr val="FFFFFF"/>
                          </a:solidFill>
                          <a:latin typeface="微软雅黑"/>
                        </a:defRPr>
                      </a:pPr>
                      <a:r>
                        <a:t>核心经济学原理</a:t>
                      </a:r>
                    </a:p>
                  </a:txBody>
                  <a:tcPr>
                    <a:solidFill>
                      <a:srgbClr val="1B4965"/>
                    </a:solidFill>
                  </a:tcPr>
                </a:tc>
                <a:tc>
                  <a:txBody>
                    <a:bodyPr/>
                    <a:lstStyle/>
                    <a:p>
                      <a:pPr algn="ctr">
                        <a:defRPr sz="1300" b="1">
                          <a:solidFill>
                            <a:srgbClr val="FFFFFF"/>
                          </a:solidFill>
                          <a:latin typeface="微软雅黑"/>
                        </a:defRPr>
                      </a:pPr>
                      <a:r>
                        <a:t>对市场势力的支撑机制</a:t>
                      </a:r>
                    </a:p>
                  </a:txBody>
                  <a:tcPr>
                    <a:solidFill>
                      <a:srgbClr val="1B4965"/>
                    </a:solidFill>
                  </a:tcPr>
                </a:tc>
                <a:tc>
                  <a:txBody>
                    <a:bodyPr/>
                    <a:lstStyle/>
                    <a:p>
                      <a:pPr algn="ctr">
                        <a:defRPr sz="1300" b="1">
                          <a:solidFill>
                            <a:srgbClr val="FFFFFF"/>
                          </a:solidFill>
                          <a:latin typeface="微软雅黑"/>
                        </a:defRPr>
                      </a:pPr>
                      <a:r>
                        <a:t>反垄断与微观规制关注点</a:t>
                      </a:r>
                    </a:p>
                  </a:txBody>
                  <a:tcPr>
                    <a:solidFill>
                      <a:srgbClr val="1B4965"/>
                    </a:solidFill>
                  </a:tcPr>
                </a:tc>
              </a:tr>
              <a:tr h="914400">
                <a:tc>
                  <a:txBody>
                    <a:bodyPr/>
                    <a:lstStyle/>
                    <a:p>
                      <a:pPr>
                        <a:defRPr sz="1100">
                          <a:solidFill>
                            <a:srgbClr val="1E293B"/>
                          </a:solidFill>
                          <a:latin typeface="宋体"/>
                        </a:defRPr>
                      </a:pPr>
                      <a:r>
                        <a:t>企业边界与本质</a:t>
                      </a:r>
                    </a:p>
                  </a:txBody>
                  <a:tcPr>
                    <a:solidFill>
                      <a:srgbClr val="FFFFFF"/>
                    </a:solidFill>
                  </a:tcPr>
                </a:tc>
                <a:tc>
                  <a:txBody>
                    <a:bodyPr/>
                    <a:lstStyle/>
                    <a:p>
                      <a:pPr>
                        <a:defRPr sz="1100">
                          <a:solidFill>
                            <a:srgbClr val="1E293B"/>
                          </a:solidFill>
                          <a:latin typeface="宋体"/>
                        </a:defRPr>
                      </a:pPr>
                      <a:r>
                        <a:t>交易成本 / 资产专用性</a:t>
                      </a:r>
                    </a:p>
                  </a:txBody>
                  <a:tcPr>
                    <a:solidFill>
                      <a:srgbClr val="FFFFFF"/>
                    </a:solidFill>
                  </a:tcPr>
                </a:tc>
                <a:tc>
                  <a:txBody>
                    <a:bodyPr/>
                    <a:lstStyle/>
                    <a:p>
                      <a:pPr>
                        <a:defRPr sz="1100">
                          <a:solidFill>
                            <a:srgbClr val="1E293B"/>
                          </a:solidFill>
                          <a:latin typeface="宋体"/>
                        </a:defRPr>
                      </a:pPr>
                      <a:r>
                        <a:t>控制特定环节，建立结构性进入壁垒</a:t>
                      </a:r>
                    </a:p>
                  </a:txBody>
                  <a:tcPr>
                    <a:solidFill>
                      <a:srgbClr val="FFFFFF"/>
                    </a:solidFill>
                  </a:tcPr>
                </a:tc>
                <a:tc>
                  <a:txBody>
                    <a:bodyPr/>
                    <a:lstStyle/>
                    <a:p>
                      <a:pPr>
                        <a:defRPr sz="1100">
                          <a:solidFill>
                            <a:srgbClr val="1E293B"/>
                          </a:solidFill>
                          <a:latin typeface="宋体"/>
                        </a:defRPr>
                      </a:pPr>
                      <a:r>
                        <a:t>拒绝交易、纵向封锁与排他性协议</a:t>
                      </a:r>
                    </a:p>
                  </a:txBody>
                  <a:tcPr>
                    <a:solidFill>
                      <a:srgbClr val="FFFFFF"/>
                    </a:solidFill>
                  </a:tcPr>
                </a:tc>
              </a:tr>
              <a:tr h="914400">
                <a:tc>
                  <a:txBody>
                    <a:bodyPr/>
                    <a:lstStyle/>
                    <a:p>
                      <a:pPr>
                        <a:defRPr sz="1100">
                          <a:solidFill>
                            <a:srgbClr val="1E293B"/>
                          </a:solidFill>
                          <a:latin typeface="宋体"/>
                        </a:defRPr>
                      </a:pPr>
                      <a:r>
                        <a:t>企业经营目标</a:t>
                      </a:r>
                    </a:p>
                  </a:txBody>
                  <a:tcPr>
                    <a:solidFill>
                      <a:srgbClr val="F1F5F9"/>
                    </a:solidFill>
                  </a:tcPr>
                </a:tc>
                <a:tc>
                  <a:txBody>
                    <a:bodyPr/>
                    <a:lstStyle/>
                    <a:p>
                      <a:pPr>
                        <a:defRPr sz="1100">
                          <a:solidFill>
                            <a:srgbClr val="1E293B"/>
                          </a:solidFill>
                          <a:latin typeface="宋体"/>
                        </a:defRPr>
                      </a:pPr>
                      <a:r>
                        <a:t>委托-代理 / 目标差异化</a:t>
                      </a:r>
                    </a:p>
                  </a:txBody>
                  <a:tcPr>
                    <a:solidFill>
                      <a:srgbClr val="F1F5F9"/>
                    </a:solidFill>
                  </a:tcPr>
                </a:tc>
                <a:tc>
                  <a:txBody>
                    <a:bodyPr/>
                    <a:lstStyle/>
                    <a:p>
                      <a:pPr>
                        <a:defRPr sz="1100">
                          <a:solidFill>
                            <a:srgbClr val="1E293B"/>
                          </a:solidFill>
                          <a:latin typeface="宋体"/>
                        </a:defRPr>
                      </a:pPr>
                      <a:r>
                        <a:t>销售额/规模最大化驱动激进市场份额扩张</a:t>
                      </a:r>
                    </a:p>
                  </a:txBody>
                  <a:tcPr>
                    <a:solidFill>
                      <a:srgbClr val="F1F5F9"/>
                    </a:solidFill>
                  </a:tcPr>
                </a:tc>
                <a:tc>
                  <a:txBody>
                    <a:bodyPr/>
                    <a:lstStyle/>
                    <a:p>
                      <a:pPr>
                        <a:defRPr sz="1100">
                          <a:solidFill>
                            <a:srgbClr val="1E293B"/>
                          </a:solidFill>
                          <a:latin typeface="宋体"/>
                        </a:defRPr>
                      </a:pPr>
                      <a:r>
                        <a:t>掠夺性定价与低于成本甩卖</a:t>
                      </a:r>
                    </a:p>
                  </a:txBody>
                  <a:tcPr>
                    <a:solidFill>
                      <a:srgbClr val="F1F5F9"/>
                    </a:solidFill>
                  </a:tcPr>
                </a:tc>
              </a:tr>
              <a:tr h="914400">
                <a:tc>
                  <a:txBody>
                    <a:bodyPr/>
                    <a:lstStyle/>
                    <a:p>
                      <a:pPr>
                        <a:defRPr sz="1100">
                          <a:solidFill>
                            <a:srgbClr val="1E293B"/>
                          </a:solidFill>
                          <a:latin typeface="宋体"/>
                        </a:defRPr>
                      </a:pPr>
                      <a:r>
                        <a:t>内部组织结构</a:t>
                      </a:r>
                    </a:p>
                  </a:txBody>
                  <a:tcPr>
                    <a:solidFill>
                      <a:srgbClr val="FFFFFF"/>
                    </a:solidFill>
                  </a:tcPr>
                </a:tc>
                <a:tc>
                  <a:txBody>
                    <a:bodyPr/>
                    <a:lstStyle/>
                    <a:p>
                      <a:pPr>
                        <a:defRPr sz="1100">
                          <a:solidFill>
                            <a:srgbClr val="1E293B"/>
                          </a:solidFill>
                          <a:latin typeface="宋体"/>
                        </a:defRPr>
                      </a:pPr>
                      <a:r>
                        <a:t>U/H/M/矩阵制 演进</a:t>
                      </a:r>
                    </a:p>
                  </a:txBody>
                  <a:tcPr>
                    <a:solidFill>
                      <a:srgbClr val="FFFFFF"/>
                    </a:solidFill>
                  </a:tcPr>
                </a:tc>
                <a:tc>
                  <a:txBody>
                    <a:bodyPr/>
                    <a:lstStyle/>
                    <a:p>
                      <a:pPr>
                        <a:defRPr sz="1100">
                          <a:solidFill>
                            <a:srgbClr val="1E293B"/>
                          </a:solidFill>
                          <a:latin typeface="宋体"/>
                        </a:defRPr>
                      </a:pPr>
                      <a:r>
                        <a:t>M型事业部制支持多产品、多市场支配地位维持</a:t>
                      </a:r>
                    </a:p>
                  </a:txBody>
                  <a:tcPr>
                    <a:solidFill>
                      <a:srgbClr val="FFFFFF"/>
                    </a:solidFill>
                  </a:tcPr>
                </a:tc>
                <a:tc>
                  <a:txBody>
                    <a:bodyPr/>
                    <a:lstStyle/>
                    <a:p>
                      <a:pPr>
                        <a:defRPr sz="1100">
                          <a:solidFill>
                            <a:srgbClr val="1E293B"/>
                          </a:solidFill>
                          <a:latin typeface="宋体"/>
                        </a:defRPr>
                      </a:pPr>
                      <a:r>
                        <a:t>跨国公司内部转移定价与规避</a:t>
                      </a:r>
                    </a:p>
                  </a:txBody>
                  <a:tcPr>
                    <a:solidFill>
                      <a:srgbClr val="FFFFFF"/>
                    </a:solidFill>
                  </a:tcPr>
                </a:tc>
              </a:tr>
              <a:tr h="914400">
                <a:tc>
                  <a:txBody>
                    <a:bodyPr/>
                    <a:lstStyle/>
                    <a:p>
                      <a:pPr>
                        <a:defRPr sz="1100">
                          <a:solidFill>
                            <a:srgbClr val="1E293B"/>
                          </a:solidFill>
                          <a:latin typeface="宋体"/>
                        </a:defRPr>
                      </a:pPr>
                      <a:r>
                        <a:t>企业集团与联盟</a:t>
                      </a:r>
                    </a:p>
                  </a:txBody>
                  <a:tcPr>
                    <a:solidFill>
                      <a:srgbClr val="F1F5F9"/>
                    </a:solidFill>
                  </a:tcPr>
                </a:tc>
                <a:tc>
                  <a:txBody>
                    <a:bodyPr/>
                    <a:lstStyle/>
                    <a:p>
                      <a:pPr>
                        <a:defRPr sz="1100">
                          <a:solidFill>
                            <a:srgbClr val="1E293B"/>
                          </a:solidFill>
                          <a:latin typeface="宋体"/>
                        </a:defRPr>
                      </a:pPr>
                      <a:r>
                        <a:t>集合契约与网络生态</a:t>
                      </a:r>
                    </a:p>
                  </a:txBody>
                  <a:tcPr>
                    <a:solidFill>
                      <a:srgbClr val="F1F5F9"/>
                    </a:solidFill>
                  </a:tcPr>
                </a:tc>
                <a:tc>
                  <a:txBody>
                    <a:bodyPr/>
                    <a:lstStyle/>
                    <a:p>
                      <a:pPr>
                        <a:defRPr sz="1100">
                          <a:solidFill>
                            <a:srgbClr val="1E293B"/>
                          </a:solidFill>
                          <a:latin typeface="宋体"/>
                        </a:defRPr>
                      </a:pPr>
                      <a:r>
                        <a:t>生态圈锁定与交叉网络效应强化霸权</a:t>
                      </a:r>
                    </a:p>
                  </a:txBody>
                  <a:tcPr>
                    <a:solidFill>
                      <a:srgbClr val="F1F5F9"/>
                    </a:solidFill>
                  </a:tcPr>
                </a:tc>
                <a:tc>
                  <a:txBody>
                    <a:bodyPr/>
                    <a:lstStyle/>
                    <a:p>
                      <a:pPr>
                        <a:defRPr sz="1100">
                          <a:solidFill>
                            <a:srgbClr val="1E293B"/>
                          </a:solidFill>
                          <a:latin typeface="宋体"/>
                        </a:defRPr>
                      </a:pPr>
                      <a:r>
                        <a:t>平台二选一、自我优待与杀伤性并购</a:t>
                      </a:r>
                    </a:p>
                  </a:txBody>
                  <a:tcPr>
                    <a:solidFill>
                      <a:srgbClr val="F1F5F9"/>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第一章 企业的目标、结构与组织</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思考与研讨｜微观组织与市场势力前沿课题</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Power）的微观形成与演化  |  第 16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1000"/>
              </a:spcAft>
              <a:defRPr sz="1600" b="1">
                <a:solidFill>
                  <a:srgbClr val="1B4965"/>
                </a:solidFill>
                <a:latin typeface="微软雅黑"/>
              </a:defRPr>
            </a:pPr>
            <a:r>
              <a:t>1. 数字平台企业的边界与支配地位</a:t>
            </a:r>
          </a:p>
          <a:p>
            <a:pPr>
              <a:spcAft>
                <a:spcPts val="800"/>
              </a:spcAft>
            </a:pPr>
            <a:r>
              <a:rPr b="1" sz="1300">
                <a:solidFill>
                  <a:srgbClr val="1E293B"/>
                </a:solidFill>
                <a:latin typeface="微软雅黑"/>
              </a:rPr>
              <a:t>研讨背景：</a:t>
            </a:r>
            <a:r>
              <a:rPr sz="1300">
                <a:solidFill>
                  <a:srgbClr val="1E293B"/>
                </a:solidFill>
                <a:latin typeface="宋体"/>
              </a:rPr>
              <a:t>腾讯、阿里、字节等平台型企业依靠数据要素与网络效应快速扩张。</a:t>
            </a:r>
          </a:p>
          <a:p>
            <a:pPr>
              <a:spcAft>
                <a:spcPts val="800"/>
              </a:spcAft>
            </a:pPr>
            <a:r>
              <a:rPr b="1" sz="1300">
                <a:solidFill>
                  <a:srgbClr val="1E293B"/>
                </a:solidFill>
                <a:latin typeface="微软雅黑"/>
              </a:rPr>
              <a:t>思考问题：</a:t>
            </a:r>
            <a:r>
              <a:rPr sz="1300">
                <a:solidFill>
                  <a:srgbClr val="1E293B"/>
                </a:solidFill>
                <a:latin typeface="宋体"/>
              </a:rPr>
              <a:t>传统科斯交易成本边界理论在数字零边际成本扩张下如何被修正？</a:t>
            </a:r>
          </a:p>
          <a:p>
            <a:pPr>
              <a:spcAft>
                <a:spcPts val="800"/>
              </a:spcAft>
            </a:pPr>
            <a:r>
              <a:rPr b="1" sz="1300">
                <a:solidFill>
                  <a:srgbClr val="1E293B"/>
                </a:solidFill>
                <a:latin typeface="微软雅黑"/>
              </a:rPr>
              <a:t>主线延展：</a:t>
            </a:r>
            <a:r>
              <a:rPr sz="1300">
                <a:solidFill>
                  <a:srgbClr val="1E293B"/>
                </a:solidFill>
                <a:latin typeface="宋体"/>
              </a:rPr>
              <a:t>平台生态圈的独家合作协议（二选一）是如何强化其集合市场势力的？</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1000"/>
              </a:spcAft>
              <a:defRPr sz="1600" b="1">
                <a:solidFill>
                  <a:srgbClr val="2D6A4F"/>
                </a:solidFill>
                <a:latin typeface="微软雅黑"/>
              </a:defRPr>
            </a:pPr>
            <a:r>
              <a:t>2. 中国链主企业的培育与规制平衡</a:t>
            </a:r>
          </a:p>
          <a:p>
            <a:pPr>
              <a:spcAft>
                <a:spcPts val="800"/>
              </a:spcAft>
            </a:pPr>
            <a:r>
              <a:rPr b="1" sz="1300">
                <a:solidFill>
                  <a:srgbClr val="1E293B"/>
                </a:solidFill>
                <a:latin typeface="微软雅黑"/>
              </a:rPr>
              <a:t>研讨背景：</a:t>
            </a:r>
            <a:r>
              <a:rPr sz="1300">
                <a:solidFill>
                  <a:srgbClr val="1E293B"/>
                </a:solidFill>
                <a:latin typeface="宋体"/>
              </a:rPr>
              <a:t>构建现代化产业体系需要发挥链主企业的带头与协调作用。</a:t>
            </a:r>
          </a:p>
          <a:p>
            <a:pPr>
              <a:spcAft>
                <a:spcPts val="800"/>
              </a:spcAft>
            </a:pPr>
            <a:r>
              <a:rPr b="1" sz="1300">
                <a:solidFill>
                  <a:srgbClr val="1E293B"/>
                </a:solidFill>
                <a:latin typeface="微软雅黑"/>
              </a:rPr>
              <a:t>思考问题：</a:t>
            </a:r>
            <a:r>
              <a:rPr sz="1300">
                <a:solidFill>
                  <a:srgbClr val="1E293B"/>
                </a:solidFill>
                <a:latin typeface="宋体"/>
              </a:rPr>
              <a:t>如何平衡链主企业强市场势力的产业竞争优势与防范其滥用市场支配地位之间的关系？</a:t>
            </a:r>
          </a:p>
          <a:p>
            <a:pPr>
              <a:spcAft>
                <a:spcPts val="800"/>
              </a:spcAft>
            </a:pPr>
            <a:r>
              <a:rPr b="1" sz="1300">
                <a:solidFill>
                  <a:srgbClr val="1E293B"/>
                </a:solidFill>
                <a:latin typeface="微软雅黑"/>
              </a:rPr>
              <a:t>政策含义：</a:t>
            </a:r>
            <a:r>
              <a:rPr sz="1300">
                <a:solidFill>
                  <a:srgbClr val="1E293B"/>
                </a:solidFill>
                <a:latin typeface="宋体"/>
              </a:rPr>
              <a:t>选择性产业政策向功能性产业政策转型中，微观组织治理应如何创新？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